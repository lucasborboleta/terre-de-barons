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81" r:id="rId2"/>
    <p:sldId id="282" r:id="rId3"/>
    <p:sldId id="283" r:id="rId4"/>
    <p:sldId id="284" r:id="rId5"/>
    <p:sldId id="287" r:id="rId6"/>
    <p:sldId id="286" r:id="rId7"/>
    <p:sldId id="289" r:id="rId8"/>
    <p:sldId id="290" r:id="rId9"/>
    <p:sldId id="288" r:id="rId10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EFC9"/>
    <a:srgbClr val="DDBD95"/>
    <a:srgbClr val="E8A5ED"/>
    <a:srgbClr val="E7D5B1"/>
    <a:srgbClr val="F0DEB6"/>
    <a:srgbClr val="FFF7BF"/>
    <a:srgbClr val="E9D3AE"/>
    <a:srgbClr val="E9D7B3"/>
    <a:srgbClr val="F6E0BB"/>
    <a:srgbClr val="B18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310" autoAdjust="0"/>
  </p:normalViewPr>
  <p:slideViewPr>
    <p:cSldViewPr snapToGrid="0">
      <p:cViewPr>
        <p:scale>
          <a:sx n="200" d="100"/>
          <a:sy n="200" d="100"/>
        </p:scale>
        <p:origin x="-3732" y="-20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0118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62372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microsoft.com/office/2007/relationships/hdphoto" Target="../media/hdphoto5.wdp"/><Relationship Id="rId5" Type="http://schemas.openxmlformats.org/officeDocument/2006/relationships/image" Target="../media/image5.jpeg"/><Relationship Id="rId10" Type="http://schemas.openxmlformats.org/officeDocument/2006/relationships/image" Target="../media/image12.png"/><Relationship Id="rId4" Type="http://schemas.microsoft.com/office/2007/relationships/hdphoto" Target="../media/hdphoto4.wdp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12.png"/><Relationship Id="rId3" Type="http://schemas.openxmlformats.org/officeDocument/2006/relationships/image" Target="../media/image8.jpe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microsoft.com/office/2007/relationships/hdphoto" Target="../media/hdphoto1.wdp"/><Relationship Id="rId5" Type="http://schemas.microsoft.com/office/2007/relationships/hdphoto" Target="../media/hdphoto4.wdp"/><Relationship Id="rId15" Type="http://schemas.openxmlformats.org/officeDocument/2006/relationships/image" Target="../media/image13.svg"/><Relationship Id="rId10" Type="http://schemas.openxmlformats.org/officeDocument/2006/relationships/image" Target="../media/image1.png"/><Relationship Id="rId4" Type="http://schemas.openxmlformats.org/officeDocument/2006/relationships/image" Target="../media/image9.png"/><Relationship Id="rId9" Type="http://schemas.openxmlformats.org/officeDocument/2006/relationships/image" Target="../media/image10.jpeg"/><Relationship Id="rId14" Type="http://schemas.microsoft.com/office/2007/relationships/hdphoto" Target="../media/hdphoto5.wdp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13" Type="http://schemas.openxmlformats.org/officeDocument/2006/relationships/image" Target="../media/image6.png"/><Relationship Id="rId3" Type="http://schemas.openxmlformats.org/officeDocument/2006/relationships/image" Target="../media/image4.png"/><Relationship Id="rId7" Type="http://schemas.openxmlformats.org/officeDocument/2006/relationships/image" Target="../media/image15.png"/><Relationship Id="rId12" Type="http://schemas.microsoft.com/office/2007/relationships/hdphoto" Target="../media/hdphoto8.wdp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5.jpeg"/><Relationship Id="rId10" Type="http://schemas.microsoft.com/office/2007/relationships/hdphoto" Target="../media/hdphoto7.wdp"/><Relationship Id="rId4" Type="http://schemas.microsoft.com/office/2007/relationships/hdphoto" Target="../media/hdphoto2.wdp"/><Relationship Id="rId9" Type="http://schemas.openxmlformats.org/officeDocument/2006/relationships/image" Target="../media/image16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18.jpeg"/><Relationship Id="rId7" Type="http://schemas.microsoft.com/office/2007/relationships/hdphoto" Target="../media/hdphoto3.wd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microsoft.com/office/2007/relationships/hdphoto" Target="../media/hdphoto9.wdp"/><Relationship Id="rId4" Type="http://schemas.openxmlformats.org/officeDocument/2006/relationships/image" Target="../media/image19.png"/><Relationship Id="rId9" Type="http://schemas.openxmlformats.org/officeDocument/2006/relationships/image" Target="../media/image20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8.png"/><Relationship Id="rId3" Type="http://schemas.openxmlformats.org/officeDocument/2006/relationships/image" Target="../media/image22.png"/><Relationship Id="rId7" Type="http://schemas.microsoft.com/office/2007/relationships/hdphoto" Target="../media/hdphoto11.wdp"/><Relationship Id="rId12" Type="http://schemas.microsoft.com/office/2007/relationships/hdphoto" Target="../media/hdphoto12.wdp"/><Relationship Id="rId2" Type="http://schemas.openxmlformats.org/officeDocument/2006/relationships/image" Target="../media/image21.jpeg"/><Relationship Id="rId16" Type="http://schemas.microsoft.com/office/2007/relationships/hdphoto" Target="../media/hdphoto13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7.png"/><Relationship Id="rId5" Type="http://schemas.openxmlformats.org/officeDocument/2006/relationships/image" Target="../media/image23.svg"/><Relationship Id="rId15" Type="http://schemas.openxmlformats.org/officeDocument/2006/relationships/image" Target="../media/image30.png"/><Relationship Id="rId10" Type="http://schemas.openxmlformats.org/officeDocument/2006/relationships/image" Target="../media/image5.jpeg"/><Relationship Id="rId4" Type="http://schemas.microsoft.com/office/2007/relationships/hdphoto" Target="../media/hdphoto10.wdp"/><Relationship Id="rId9" Type="http://schemas.openxmlformats.org/officeDocument/2006/relationships/image" Target="../media/image26.png"/><Relationship Id="rId1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13" Type="http://schemas.microsoft.com/office/2007/relationships/hdphoto" Target="../media/hdphoto14.wdp"/><Relationship Id="rId3" Type="http://schemas.openxmlformats.org/officeDocument/2006/relationships/image" Target="../media/image6.png"/><Relationship Id="rId7" Type="http://schemas.microsoft.com/office/2007/relationships/hdphoto" Target="../media/hdphoto10.wdp"/><Relationship Id="rId12" Type="http://schemas.openxmlformats.org/officeDocument/2006/relationships/image" Target="../media/image3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microsoft.com/office/2007/relationships/hdphoto" Target="../media/hdphoto5.wdp"/><Relationship Id="rId5" Type="http://schemas.openxmlformats.org/officeDocument/2006/relationships/image" Target="../media/image7.png"/><Relationship Id="rId15" Type="http://schemas.openxmlformats.org/officeDocument/2006/relationships/image" Target="../media/image29.png"/><Relationship Id="rId10" Type="http://schemas.openxmlformats.org/officeDocument/2006/relationships/image" Target="../media/image12.png"/><Relationship Id="rId4" Type="http://schemas.microsoft.com/office/2007/relationships/hdphoto" Target="../media/hdphoto3.wdp"/><Relationship Id="rId9" Type="http://schemas.openxmlformats.org/officeDocument/2006/relationships/image" Target="../media/image10.jpeg"/><Relationship Id="rId14" Type="http://schemas.openxmlformats.org/officeDocument/2006/relationships/image" Target="../media/image5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8A31D2A7-0931-C6F5-43C9-4C7E7CA75397}"/>
              </a:ext>
            </a:extLst>
          </p:cNvPr>
          <p:cNvGrpSpPr/>
          <p:nvPr/>
        </p:nvGrpSpPr>
        <p:grpSpPr>
          <a:xfrm>
            <a:off x="1662234" y="846176"/>
            <a:ext cx="2124000" cy="3312000"/>
            <a:chOff x="1662234" y="846176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662234" y="846176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2094234" y="846176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Move Lord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750320" y="368757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131339" y="311397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722064" y="311397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312789" y="3123908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899286" y="3123908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835831" y="1390705"/>
              <a:ext cx="1787130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up to 3 tiles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787034" y="1845483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3010819" y="1872568"/>
              <a:ext cx="705079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+1 tile if starting from a "Tile 2"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2059230" y="3022279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897A0-98D5-C76E-AFC4-70105D280DD0}"/>
                </a:ext>
              </a:extLst>
            </p:cNvPr>
            <p:cNvSpPr/>
            <p:nvPr/>
          </p:nvSpPr>
          <p:spPr>
            <a:xfrm>
              <a:off x="1662234" y="84617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M3</a:t>
              </a:r>
              <a:endParaRPr lang="fr-FR" sz="16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60590-A8FD-18F9-2848-CB05A9D4652E}"/>
                </a:ext>
              </a:extLst>
            </p:cNvPr>
            <p:cNvSpPr/>
            <p:nvPr/>
          </p:nvSpPr>
          <p:spPr>
            <a:xfrm>
              <a:off x="3354234" y="84617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M3</a:t>
              </a:r>
              <a:endParaRPr lang="fr-FR" sz="1600" dirty="0"/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309444BD-D480-F5EE-956E-822004A9883D}"/>
              </a:ext>
            </a:extLst>
          </p:cNvPr>
          <p:cNvGrpSpPr/>
          <p:nvPr/>
        </p:nvGrpSpPr>
        <p:grpSpPr>
          <a:xfrm>
            <a:off x="4193876" y="846176"/>
            <a:ext cx="2125698" cy="3312000"/>
            <a:chOff x="4350090" y="851601"/>
            <a:chExt cx="2125698" cy="3312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351104" y="85160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421576" y="368235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5608831" y="309189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199556" y="309189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4790281" y="3090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494971" y="1390522"/>
              <a:ext cx="188271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up to 2 tiles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471920" y="1843750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725766" y="1843750"/>
              <a:ext cx="626631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+1 tile if starting from a "Tile 2"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4983894" y="3053993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C5B4CB-D302-BDFD-9B4D-16817B099155}"/>
                </a:ext>
              </a:extLst>
            </p:cNvPr>
            <p:cNvSpPr/>
            <p:nvPr/>
          </p:nvSpPr>
          <p:spPr>
            <a:xfrm>
              <a:off x="4350090" y="85166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M2</a:t>
              </a:r>
              <a:endParaRPr lang="fr-FR" sz="16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30AA59-EFA8-99F8-2FA0-0D0FCB540025}"/>
                </a:ext>
              </a:extLst>
            </p:cNvPr>
            <p:cNvSpPr/>
            <p:nvPr/>
          </p:nvSpPr>
          <p:spPr>
            <a:xfrm>
              <a:off x="6043788" y="85166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M2</a:t>
              </a:r>
              <a:endParaRPr lang="fr-FR" sz="16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8D5D29-1FBE-E5BA-4735-56204946ADC7}"/>
                </a:ext>
              </a:extLst>
            </p:cNvPr>
            <p:cNvSpPr/>
            <p:nvPr/>
          </p:nvSpPr>
          <p:spPr>
            <a:xfrm>
              <a:off x="4783788" y="851666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Move Lord</a:t>
              </a: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03089565-D921-A13C-5E53-2043696ED554}"/>
              </a:ext>
            </a:extLst>
          </p:cNvPr>
          <p:cNvGrpSpPr/>
          <p:nvPr/>
        </p:nvGrpSpPr>
        <p:grpSpPr>
          <a:xfrm>
            <a:off x="6727546" y="846176"/>
            <a:ext cx="2124000" cy="3312000"/>
            <a:chOff x="6727546" y="846176"/>
            <a:chExt cx="2124000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6727546" y="846176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6808288" y="3676934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7867083" y="308494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7444442" y="308333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7640818" y="3256231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6913417" y="1389077"/>
              <a:ext cx="181804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1 tile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6895927" y="1825443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8108085" y="1841910"/>
              <a:ext cx="622921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+1 tile if starting from a "Tile 2"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D2222C-3306-887B-4DA0-1D1B643890DD}"/>
                </a:ext>
              </a:extLst>
            </p:cNvPr>
            <p:cNvSpPr/>
            <p:nvPr/>
          </p:nvSpPr>
          <p:spPr>
            <a:xfrm>
              <a:off x="6727546" y="84617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M1</a:t>
              </a:r>
              <a:endParaRPr lang="fr-FR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8C494F-EFAA-CD56-94E0-5852766A18BB}"/>
                </a:ext>
              </a:extLst>
            </p:cNvPr>
            <p:cNvSpPr/>
            <p:nvPr/>
          </p:nvSpPr>
          <p:spPr>
            <a:xfrm>
              <a:off x="7159546" y="846176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Move Lord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72F79D-E1C3-8B2F-9564-10644851791B}"/>
                </a:ext>
              </a:extLst>
            </p:cNvPr>
            <p:cNvSpPr/>
            <p:nvPr/>
          </p:nvSpPr>
          <p:spPr>
            <a:xfrm>
              <a:off x="8419546" y="84617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M1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6D01CDA7-31D3-189B-9672-74E273BE0D64}"/>
              </a:ext>
            </a:extLst>
          </p:cNvPr>
          <p:cNvGrpSpPr/>
          <p:nvPr/>
        </p:nvGrpSpPr>
        <p:grpSpPr>
          <a:xfrm>
            <a:off x="1550802" y="1195955"/>
            <a:ext cx="2124000" cy="3312000"/>
            <a:chOff x="1960940" y="1298764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60940" y="129876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2392940" y="1301145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Troops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69103" y="4166267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39723" y="358386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20886" y="358386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87212" y="358386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50032" y="358386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52293" y="3763869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131254" y="1835097"/>
              <a:ext cx="126000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3 troops to your Command Tile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131254" y="2667110"/>
              <a:ext cx="1834935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 troop if it is a "Tile 1”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180299" y="3065920"/>
              <a:ext cx="1421185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sp>
          <p:nvSpPr>
            <p:cNvPr id="92" name="Hexagone 91">
              <a:extLst>
                <a:ext uri="{FF2B5EF4-FFF2-40B4-BE49-F238E27FC236}">
                  <a16:creationId xmlns:a16="http://schemas.microsoft.com/office/drawing/2014/main" id="{F27BB98F-4C2D-78F4-B839-E502D40653A3}"/>
                </a:ext>
              </a:extLst>
            </p:cNvPr>
            <p:cNvSpPr/>
            <p:nvPr/>
          </p:nvSpPr>
          <p:spPr>
            <a:xfrm rot="5400000">
              <a:off x="2526141" y="4161832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78A6C2-12DD-049B-44C8-885CA3B1D9C9}"/>
                </a:ext>
              </a:extLst>
            </p:cNvPr>
            <p:cNvSpPr/>
            <p:nvPr/>
          </p:nvSpPr>
          <p:spPr>
            <a:xfrm>
              <a:off x="2675919" y="4326486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27EA58E8-660B-B24B-3374-2852A8020D7E}"/>
                </a:ext>
              </a:extLst>
            </p:cNvPr>
            <p:cNvSpPr/>
            <p:nvPr/>
          </p:nvSpPr>
          <p:spPr>
            <a:xfrm>
              <a:off x="2673878" y="4232894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113CD995-D5E0-6539-45F0-DAF096BD4459}"/>
                </a:ext>
              </a:extLst>
            </p:cNvPr>
            <p:cNvSpPr/>
            <p:nvPr/>
          </p:nvSpPr>
          <p:spPr>
            <a:xfrm rot="5400000">
              <a:off x="3002656" y="4156550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6A7383-2994-1E8B-B4AF-B6392D7EEBF5}"/>
                </a:ext>
              </a:extLst>
            </p:cNvPr>
            <p:cNvSpPr/>
            <p:nvPr/>
          </p:nvSpPr>
          <p:spPr>
            <a:xfrm>
              <a:off x="3074308" y="425481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1" name="Graphique 90" descr="Pion avec un remplissage uni">
              <a:extLst>
                <a:ext uri="{FF2B5EF4-FFF2-40B4-BE49-F238E27FC236}">
                  <a16:creationId xmlns:a16="http://schemas.microsoft.com/office/drawing/2014/main" id="{FD62F45C-B89D-1480-6FA5-A0CB84CD0F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205262" y="4242717"/>
              <a:ext cx="120894" cy="18956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30A2E0-4053-8194-8324-1F443FA04AA5}"/>
                </a:ext>
              </a:extLst>
            </p:cNvPr>
            <p:cNvSpPr/>
            <p:nvPr/>
          </p:nvSpPr>
          <p:spPr>
            <a:xfrm>
              <a:off x="1960940" y="1301145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323E24-1A5F-B73F-28D1-177ECC0F7019}"/>
                </a:ext>
              </a:extLst>
            </p:cNvPr>
            <p:cNvSpPr/>
            <p:nvPr/>
          </p:nvSpPr>
          <p:spPr>
            <a:xfrm>
              <a:off x="3652940" y="129946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C3307C20-48DC-2878-A1A3-21A62FB2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77724" y="1846676"/>
              <a:ext cx="540000" cy="540000"/>
            </a:xfrm>
            <a:prstGeom prst="rect">
              <a:avLst/>
            </a:prstGeom>
          </p:spPr>
        </p:pic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0B0678DB-38EE-D9A1-4D9A-9A2D1C876699}"/>
              </a:ext>
            </a:extLst>
          </p:cNvPr>
          <p:cNvGrpSpPr/>
          <p:nvPr/>
        </p:nvGrpSpPr>
        <p:grpSpPr>
          <a:xfrm>
            <a:off x="4082553" y="1195271"/>
            <a:ext cx="2124000" cy="3312684"/>
            <a:chOff x="4539212" y="1298764"/>
            <a:chExt cx="2124000" cy="331268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39212" y="1299448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51592" y="4147287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13939" y="35646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61428" y="356465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24248" y="356465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26509" y="3744659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717470" y="1842780"/>
              <a:ext cx="126000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2 troops to your Command Tile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51592" y="2649758"/>
              <a:ext cx="1820347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 troop if it is a "Tile 1”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731399" y="3061402"/>
              <a:ext cx="1407668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19459" y="4128092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596125" y="4122659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6DAA2C-CD83-E755-30AB-55FBAECB7B23}"/>
                </a:ext>
              </a:extLst>
            </p:cNvPr>
            <p:cNvSpPr/>
            <p:nvPr/>
          </p:nvSpPr>
          <p:spPr>
            <a:xfrm>
              <a:off x="4539212" y="129944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4B22CD-3EF7-EA99-E821-5D11E675CDCE}"/>
                </a:ext>
              </a:extLst>
            </p:cNvPr>
            <p:cNvSpPr/>
            <p:nvPr/>
          </p:nvSpPr>
          <p:spPr>
            <a:xfrm>
              <a:off x="6231212" y="129944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F88823-F299-BF8F-F3CD-A7F502DA0718}"/>
                </a:ext>
              </a:extLst>
            </p:cNvPr>
            <p:cNvSpPr/>
            <p:nvPr/>
          </p:nvSpPr>
          <p:spPr>
            <a:xfrm>
              <a:off x="4971212" y="1298764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Troops</a:t>
              </a:r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C8DF5F09-670C-BD26-1DE3-2563D8D9A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68958" y="1837304"/>
              <a:ext cx="540000" cy="540000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E2DB6CB4-1B3A-0049-7F5C-80BD8446F5C1}"/>
              </a:ext>
            </a:extLst>
          </p:cNvPr>
          <p:cNvGrpSpPr/>
          <p:nvPr/>
        </p:nvGrpSpPr>
        <p:grpSpPr>
          <a:xfrm>
            <a:off x="6614304" y="1204301"/>
            <a:ext cx="2124000" cy="3312684"/>
            <a:chOff x="7160621" y="1298080"/>
            <a:chExt cx="2124000" cy="331268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0621" y="129876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73001" y="413742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36175" y="352762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46484" y="3527625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48745" y="3707625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376484" y="1842780"/>
              <a:ext cx="126000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1 troop to your Command Tile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1817" y="2608545"/>
              <a:ext cx="1786804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 troop if it is a "Tile 1”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364868" y="3061402"/>
              <a:ext cx="1441174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45381" y="4127408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22047" y="4121975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979AB5-D9AF-3E85-B46B-3BD42E68CA1A}"/>
                </a:ext>
              </a:extLst>
            </p:cNvPr>
            <p:cNvSpPr/>
            <p:nvPr/>
          </p:nvSpPr>
          <p:spPr>
            <a:xfrm>
              <a:off x="7160621" y="1298080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939236-3019-10D1-8103-880F5BB0912A}"/>
                </a:ext>
              </a:extLst>
            </p:cNvPr>
            <p:cNvSpPr/>
            <p:nvPr/>
          </p:nvSpPr>
          <p:spPr>
            <a:xfrm>
              <a:off x="8852621" y="1298080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2BE3-3926-4B3A-D009-78F709479498}"/>
                </a:ext>
              </a:extLst>
            </p:cNvPr>
            <p:cNvSpPr/>
            <p:nvPr/>
          </p:nvSpPr>
          <p:spPr>
            <a:xfrm>
              <a:off x="7592621" y="1298080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Troops</a:t>
              </a:r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C847F9CC-315B-83F8-B39E-140A000B4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2621" y="1849095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e 13">
            <a:extLst>
              <a:ext uri="{FF2B5EF4-FFF2-40B4-BE49-F238E27FC236}">
                <a16:creationId xmlns:a16="http://schemas.microsoft.com/office/drawing/2014/main" id="{52A7337C-67AE-5B3F-13EC-5F4D8A79BE57}"/>
              </a:ext>
            </a:extLst>
          </p:cNvPr>
          <p:cNvGrpSpPr/>
          <p:nvPr/>
        </p:nvGrpSpPr>
        <p:grpSpPr>
          <a:xfrm>
            <a:off x="6247564" y="1445132"/>
            <a:ext cx="2124000" cy="3312600"/>
            <a:chOff x="6690056" y="1421374"/>
            <a:chExt cx="2124000" cy="33126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6690056" y="142197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7122056" y="1421592"/>
              <a:ext cx="1260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 Troops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6860724" y="1990995"/>
              <a:ext cx="1332768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 troops in a straight line from the Command Tile</a:t>
              </a:r>
              <a:endParaRPr lang="fr-FR" sz="1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6752566" y="428495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8175492" y="349925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7766217" y="349925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7356942" y="3509188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6943439" y="3509188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7161339" y="3683229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7163261" y="3686315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7163261" y="3686315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7051439" y="3602315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6860724" y="3048911"/>
              <a:ext cx="1498030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7170312" y="4275982"/>
              <a:ext cx="390567" cy="368869"/>
            </a:xfrm>
            <a:prstGeom prst="hexagon">
              <a:avLst/>
            </a:prstGeom>
            <a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7320090" y="4440636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7318049" y="4347044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7616339" y="4270224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10">
                  <a:extLst>
                    <a:ext uri="{BEBA8EAE-BF5A-486C-A8C5-ECC9F3942E4B}">
                      <a14:imgProps xmlns:a14="http://schemas.microsoft.com/office/drawing/2010/main">
                        <a14:imgLayer r:embed="rId11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8045648" y="4276133"/>
              <a:ext cx="396000" cy="374000"/>
            </a:xfrm>
            <a:prstGeom prst="hexagon">
              <a:avLst/>
            </a:prstGeom>
            <a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8117300" y="4374400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8248254" y="4362300"/>
              <a:ext cx="120894" cy="18956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437FFF-9FC5-0FFB-1C94-C15A8E9FB696}"/>
                </a:ext>
              </a:extLst>
            </p:cNvPr>
            <p:cNvSpPr/>
            <p:nvPr/>
          </p:nvSpPr>
          <p:spPr>
            <a:xfrm>
              <a:off x="6690056" y="1421374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7E75A87-FDB4-8719-D252-6A2882319B1A}"/>
                </a:ext>
              </a:extLst>
            </p:cNvPr>
            <p:cNvSpPr/>
            <p:nvPr/>
          </p:nvSpPr>
          <p:spPr>
            <a:xfrm>
              <a:off x="8382056" y="1422592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B7CB790-A06D-1B7A-B2B7-D32D6EA61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88754" y="2226080"/>
              <a:ext cx="540000" cy="540000"/>
            </a:xfrm>
            <a:prstGeom prst="rect">
              <a:avLst/>
            </a:prstGeom>
          </p:spPr>
        </p:pic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EC309F8B-7C90-63DD-51D0-8B40565C3202}"/>
              </a:ext>
            </a:extLst>
          </p:cNvPr>
          <p:cNvGrpSpPr/>
          <p:nvPr/>
        </p:nvGrpSpPr>
        <p:grpSpPr>
          <a:xfrm>
            <a:off x="3637601" y="1445132"/>
            <a:ext cx="2124000" cy="3312643"/>
            <a:chOff x="3927214" y="1421031"/>
            <a:chExt cx="2124000" cy="331264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3927214" y="142167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4359214" y="1421031"/>
              <a:ext cx="1260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Concentrate Troops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4019515" y="420024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5369063" y="3437871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4959788" y="3437871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4550513" y="3447804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4137010" y="3447804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54338" y="3621845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4658513" y="3537804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5067399" y="3537804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5476880" y="3527871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4082288" y="2019556"/>
              <a:ext cx="1404315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Concentrate troops in a straight line toward the Command Tile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4110397" y="3009914"/>
              <a:ext cx="1453998" cy="257369"/>
            </a:xfrm>
            <a:prstGeom prst="rect">
              <a:avLst/>
            </a:prstGeom>
            <a:noFill/>
          </p:spPr>
          <p:txBody>
            <a:bodyPr wrap="square" lIns="0" tIns="0" rIns="0" bIns="7200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4467413" y="4184633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10">
                  <a:extLst>
                    <a:ext uri="{BEBA8EAE-BF5A-486C-A8C5-ECC9F3942E4B}">
                      <a14:imgProps xmlns:a14="http://schemas.microsoft.com/office/drawing/2010/main">
                        <a14:imgLayer r:embed="rId11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4919844" y="4186904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10">
                  <a:extLst>
                    <a:ext uri="{BEBA8EAE-BF5A-486C-A8C5-ECC9F3942E4B}">
                      <a14:imgProps xmlns:a14="http://schemas.microsoft.com/office/drawing/2010/main">
                        <a14:imgLayer r:embed="rId11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5372789" y="4189879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10">
                  <a:extLst>
                    <a:ext uri="{BEBA8EAE-BF5A-486C-A8C5-ECC9F3942E4B}">
                      <a14:imgProps xmlns:a14="http://schemas.microsoft.com/office/drawing/2010/main">
                        <a14:imgLayer r:embed="rId11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CF0FEA-E43F-CCA5-8560-621BF7909398}"/>
                </a:ext>
              </a:extLst>
            </p:cNvPr>
            <p:cNvSpPr/>
            <p:nvPr/>
          </p:nvSpPr>
          <p:spPr>
            <a:xfrm>
              <a:off x="3927214" y="1422265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EBFAF13-BD55-6A03-E8D3-133B2EFC26E3}"/>
                </a:ext>
              </a:extLst>
            </p:cNvPr>
            <p:cNvSpPr/>
            <p:nvPr/>
          </p:nvSpPr>
          <p:spPr>
            <a:xfrm>
              <a:off x="5619214" y="1421031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344278A-54FC-6AFF-E07E-49030D4ED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49214" y="2226080"/>
              <a:ext cx="540000" cy="540000"/>
            </a:xfrm>
            <a:prstGeom prst="rect">
              <a:avLst/>
            </a:prstGeom>
          </p:spPr>
        </p:pic>
      </p:grpSp>
      <p:grpSp>
        <p:nvGrpSpPr>
          <p:cNvPr id="7" name="Groupe 6">
            <a:extLst>
              <a:ext uri="{FF2B5EF4-FFF2-40B4-BE49-F238E27FC236}">
                <a16:creationId xmlns:a16="http://schemas.microsoft.com/office/drawing/2014/main" id="{5929E30B-3DC9-F9DB-1587-181EC6E47A01}"/>
              </a:ext>
            </a:extLst>
          </p:cNvPr>
          <p:cNvGrpSpPr/>
          <p:nvPr/>
        </p:nvGrpSpPr>
        <p:grpSpPr>
          <a:xfrm>
            <a:off x="1040256" y="1446501"/>
            <a:ext cx="2124887" cy="3312766"/>
            <a:chOff x="1040256" y="1446501"/>
            <a:chExt cx="2124887" cy="331276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4E5B47C-2EF9-89AC-F731-DD6CB8B619DF}"/>
                </a:ext>
              </a:extLst>
            </p:cNvPr>
            <p:cNvSpPr/>
            <p:nvPr/>
          </p:nvSpPr>
          <p:spPr>
            <a:xfrm>
              <a:off x="1040256" y="1447267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71948D6-45CF-6980-CCC9-79FC16314AE7}"/>
                </a:ext>
              </a:extLst>
            </p:cNvPr>
            <p:cNvSpPr/>
            <p:nvPr/>
          </p:nvSpPr>
          <p:spPr>
            <a:xfrm>
              <a:off x="1472257" y="1446501"/>
              <a:ext cx="1259999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Build Keep</a:t>
              </a:r>
            </a:p>
          </p:txBody>
        </p:sp>
        <p:sp>
          <p:nvSpPr>
            <p:cNvPr id="88" name="Cercle : creux 87">
              <a:extLst>
                <a:ext uri="{FF2B5EF4-FFF2-40B4-BE49-F238E27FC236}">
                  <a16:creationId xmlns:a16="http://schemas.microsoft.com/office/drawing/2014/main" id="{083AAB54-2D50-7886-D049-84B2430A33A2}"/>
                </a:ext>
              </a:extLst>
            </p:cNvPr>
            <p:cNvSpPr/>
            <p:nvPr/>
          </p:nvSpPr>
          <p:spPr>
            <a:xfrm>
              <a:off x="1143147" y="4279294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64DD3239-986E-50CD-B1CF-21E5A6A8394C}"/>
                </a:ext>
              </a:extLst>
            </p:cNvPr>
            <p:cNvSpPr/>
            <p:nvPr/>
          </p:nvSpPr>
          <p:spPr>
            <a:xfrm rot="5400000">
              <a:off x="1258218" y="3302268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92AD6DEC-A3F1-4FA6-CA5A-2E9C8BCBFBE3}"/>
                </a:ext>
              </a:extLst>
            </p:cNvPr>
            <p:cNvSpPr/>
            <p:nvPr/>
          </p:nvSpPr>
          <p:spPr>
            <a:xfrm>
              <a:off x="1492218" y="3373189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5C68161E-7F59-9AC8-44AA-374BE2A11AEF}"/>
                </a:ext>
              </a:extLst>
            </p:cNvPr>
            <p:cNvSpPr/>
            <p:nvPr/>
          </p:nvSpPr>
          <p:spPr>
            <a:xfrm>
              <a:off x="1621735" y="3592715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A4E33891-1EE5-37D8-B485-109AA56F6B98}"/>
                </a:ext>
              </a:extLst>
            </p:cNvPr>
            <p:cNvSpPr/>
            <p:nvPr/>
          </p:nvSpPr>
          <p:spPr>
            <a:xfrm>
              <a:off x="1351088" y="3587211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919BB814-7094-E3A0-B787-C9F98EFC1CCB}"/>
                </a:ext>
              </a:extLst>
            </p:cNvPr>
            <p:cNvSpPr/>
            <p:nvPr/>
          </p:nvSpPr>
          <p:spPr>
            <a:xfrm rot="5400000">
              <a:off x="2317331" y="3303101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3D6D6F8-EDD7-5FBF-5A28-7D7A39D31B49}"/>
                </a:ext>
              </a:extLst>
            </p:cNvPr>
            <p:cNvSpPr/>
            <p:nvPr/>
          </p:nvSpPr>
          <p:spPr>
            <a:xfrm>
              <a:off x="2561944" y="3415240"/>
              <a:ext cx="180000" cy="360000"/>
            </a:xfrm>
            <a:prstGeom prst="rect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AA03724E-9EEB-1F4F-5B83-18D8579C4464}"/>
                </a:ext>
              </a:extLst>
            </p:cNvPr>
            <p:cNvSpPr txBox="1"/>
            <p:nvPr/>
          </p:nvSpPr>
          <p:spPr>
            <a:xfrm>
              <a:off x="1261184" y="2131241"/>
              <a:ext cx="1301855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Discard 3 troops from Command Tile to Cemetery to place a Keep</a:t>
              </a:r>
              <a:endParaRPr lang="fr-FR" sz="1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BC19A915-4C84-F4C5-79D2-DA15D82A8611}"/>
                </a:ext>
              </a:extLst>
            </p:cNvPr>
            <p:cNvCxnSpPr>
              <a:cxnSpLocks/>
            </p:cNvCxnSpPr>
            <p:nvPr/>
          </p:nvCxnSpPr>
          <p:spPr>
            <a:xfrm>
              <a:off x="1978607" y="3598020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Hexagone 25">
              <a:extLst>
                <a:ext uri="{FF2B5EF4-FFF2-40B4-BE49-F238E27FC236}">
                  <a16:creationId xmlns:a16="http://schemas.microsoft.com/office/drawing/2014/main" id="{BEE7A43E-DF8C-67CD-23BF-397C38BE7D71}"/>
                </a:ext>
              </a:extLst>
            </p:cNvPr>
            <p:cNvSpPr/>
            <p:nvPr/>
          </p:nvSpPr>
          <p:spPr>
            <a:xfrm rot="5400000">
              <a:off x="1595189" y="4279105"/>
              <a:ext cx="390567" cy="368869"/>
            </a:xfrm>
            <a:prstGeom prst="hexagon">
              <a:avLst/>
            </a:prstGeom>
            <a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1B0FF7F-8BD8-7B6E-110F-87D4BEE35245}"/>
                </a:ext>
              </a:extLst>
            </p:cNvPr>
            <p:cNvSpPr/>
            <p:nvPr/>
          </p:nvSpPr>
          <p:spPr>
            <a:xfrm>
              <a:off x="1744967" y="4443759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3F470448-C8CC-0973-726C-7FE5B9ECB8F4}"/>
                </a:ext>
              </a:extLst>
            </p:cNvPr>
            <p:cNvSpPr/>
            <p:nvPr/>
          </p:nvSpPr>
          <p:spPr>
            <a:xfrm>
              <a:off x="1742926" y="4350167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F13C88-23D0-B025-E00D-0918033799D3}"/>
                </a:ext>
              </a:extLst>
            </p:cNvPr>
            <p:cNvSpPr/>
            <p:nvPr/>
          </p:nvSpPr>
          <p:spPr>
            <a:xfrm>
              <a:off x="1040256" y="1449702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4DABCD-652C-070F-AA41-FD10465ED510}"/>
                </a:ext>
              </a:extLst>
            </p:cNvPr>
            <p:cNvSpPr/>
            <p:nvPr/>
          </p:nvSpPr>
          <p:spPr>
            <a:xfrm>
              <a:off x="1179466" y="1542837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C1549E-A4DE-ECB0-F43D-4DAE3A06BEA9}"/>
                </a:ext>
              </a:extLst>
            </p:cNvPr>
            <p:cNvSpPr/>
            <p:nvPr/>
          </p:nvSpPr>
          <p:spPr>
            <a:xfrm>
              <a:off x="2733143" y="1447267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5F6F79-317F-D0DA-0B02-6804F02BF9F0}"/>
                </a:ext>
              </a:extLst>
            </p:cNvPr>
            <p:cNvSpPr/>
            <p:nvPr/>
          </p:nvSpPr>
          <p:spPr>
            <a:xfrm>
              <a:off x="2872353" y="1540402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Graphique 10" descr="Tour médiévale avec un remplissage uni">
              <a:extLst>
                <a:ext uri="{FF2B5EF4-FFF2-40B4-BE49-F238E27FC236}">
                  <a16:creationId xmlns:a16="http://schemas.microsoft.com/office/drawing/2014/main" id="{97EEF5D4-69A4-050B-551A-1FB83D514C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 l="24636" r="26487"/>
            <a:stretch>
              <a:fillRect/>
            </a:stretch>
          </p:blipFill>
          <p:spPr>
            <a:xfrm>
              <a:off x="2593617" y="2135647"/>
              <a:ext cx="375375" cy="8376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74A0EA3A-EDBC-233A-A279-8C1ACD675AD6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1308374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Knight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0056" y="2695272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112793"/>
              <a:ext cx="173551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Recruit a Knight to a tile with a Baron or Keep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67622C-9544-5469-1638-BF37ADFFA562}"/>
                </a:ext>
              </a:extLst>
            </p:cNvPr>
            <p:cNvSpPr/>
            <p:nvPr/>
          </p:nvSpPr>
          <p:spPr>
            <a:xfrm>
              <a:off x="876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6C108D-4C47-07DF-2898-9F762E1B2B4C}"/>
                </a:ext>
              </a:extLst>
            </p:cNvPr>
            <p:cNvSpPr/>
            <p:nvPr/>
          </p:nvSpPr>
          <p:spPr>
            <a:xfrm>
              <a:off x="2568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</p:grpSp>
      <p:grpSp>
        <p:nvGrpSpPr>
          <p:cNvPr id="4" name="Groupe 3">
            <a:extLst>
              <a:ext uri="{FF2B5EF4-FFF2-40B4-BE49-F238E27FC236}">
                <a16:creationId xmlns:a16="http://schemas.microsoft.com/office/drawing/2014/main" id="{927EEFA3-FB63-9234-0E10-C8C0644B3EAC}"/>
              </a:ext>
            </a:extLst>
          </p:cNvPr>
          <p:cNvGrpSpPr/>
          <p:nvPr/>
        </p:nvGrpSpPr>
        <p:grpSpPr>
          <a:xfrm>
            <a:off x="3348453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852208" y="1543946"/>
              <a:ext cx="1258135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 Knight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556831" y="2118277"/>
              <a:ext cx="1847026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 an opponent's Knight from the Baron’s tile to their supply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23516" y="2695272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591448" y="3085541"/>
              <a:ext cx="664136" cy="499225"/>
            </a:xfrm>
            <a:prstGeom prst="rect">
              <a:avLst/>
            </a:prstGeom>
            <a:ln>
              <a:noFill/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F569DFE-26BC-38A7-7105-4E04548ADB9D}"/>
                </a:ext>
              </a:extLst>
            </p:cNvPr>
            <p:cNvSpPr/>
            <p:nvPr/>
          </p:nvSpPr>
          <p:spPr>
            <a:xfrm>
              <a:off x="34220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BA36B3-A5A1-C87C-4701-01F19739B98C}"/>
                </a:ext>
              </a:extLst>
            </p:cNvPr>
            <p:cNvSpPr/>
            <p:nvPr/>
          </p:nvSpPr>
          <p:spPr>
            <a:xfrm>
              <a:off x="511034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</p:grpSp>
      <p:grpSp>
        <p:nvGrpSpPr>
          <p:cNvPr id="5" name="Groupe 4">
            <a:extLst>
              <a:ext uri="{FF2B5EF4-FFF2-40B4-BE49-F238E27FC236}">
                <a16:creationId xmlns:a16="http://schemas.microsoft.com/office/drawing/2014/main" id="{0AB842E0-589D-0604-B3C3-E3C07D3A66BD}"/>
              </a:ext>
            </a:extLst>
          </p:cNvPr>
          <p:cNvGrpSpPr/>
          <p:nvPr/>
        </p:nvGrpSpPr>
        <p:grpSpPr>
          <a:xfrm>
            <a:off x="5815888" y="1543946"/>
            <a:ext cx="2124001" cy="3312000"/>
            <a:chOff x="5995831" y="1543946"/>
            <a:chExt cx="2124001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5995832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6427831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Long Ride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6071562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6179071" y="2112793"/>
              <a:ext cx="1745664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any number of tiles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11798" b="49602"/>
            <a:stretch>
              <a:fillRect/>
            </a:stretch>
          </p:blipFill>
          <p:spPr>
            <a:xfrm flipH="1">
              <a:off x="6300855" y="2760698"/>
              <a:ext cx="1502095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7394304" y="4309559"/>
              <a:ext cx="396000" cy="360000"/>
            </a:xfrm>
            <a:prstGeom prst="hexagon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6575754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6762691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933C5B-3255-3C36-6AE4-0DA5A87E2E95}"/>
                </a:ext>
              </a:extLst>
            </p:cNvPr>
            <p:cNvSpPr/>
            <p:nvPr/>
          </p:nvSpPr>
          <p:spPr>
            <a:xfrm>
              <a:off x="5995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F442C9-F33F-A6D6-DC47-666CC8CCAF78}"/>
                </a:ext>
              </a:extLst>
            </p:cNvPr>
            <p:cNvSpPr/>
            <p:nvPr/>
          </p:nvSpPr>
          <p:spPr>
            <a:xfrm>
              <a:off x="7687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FBF5C08E-1FB2-7569-130F-92817E4F98BE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Earth’s Wrath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645389" y="2359594"/>
              <a:ext cx="1573296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Draw 3 Position cards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645389" y="2772718"/>
              <a:ext cx="1522814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At these Positions, </a:t>
              </a:r>
              <a:r>
                <a:rPr lang="en-US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destroy</a:t>
              </a:r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all opponent and allied Keeps</a:t>
              </a:r>
              <a:endParaRPr lang="fr-FR" sz="1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30110118-0562-9E3A-FE3A-EFD6E0D72534}"/>
              </a:ext>
            </a:extLst>
          </p:cNvPr>
          <p:cNvGrpSpPr/>
          <p:nvPr/>
        </p:nvGrpSpPr>
        <p:grpSpPr>
          <a:xfrm>
            <a:off x="3972000" y="177435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The Black Curse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801666" y="2767835"/>
              <a:ext cx="1719383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At these Positions, send all opponent and allied troops to the </a:t>
              </a:r>
              <a:r>
                <a:rPr lang="en-US" sz="12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cemetery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880106" y="2357032"/>
              <a:ext cx="1546460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Draw 3 Position cards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AAF56D5C-4F49-7BD4-ED0D-F967839F0E2A}"/>
              </a:ext>
            </a:extLst>
          </p:cNvPr>
          <p:cNvGrpSpPr/>
          <p:nvPr/>
        </p:nvGrpSpPr>
        <p:grpSpPr>
          <a:xfrm>
            <a:off x="6607390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 of Sedition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159745" y="2767835"/>
              <a:ext cx="1836761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At these Positions, return all opponent and allied troops to the </a:t>
              </a:r>
              <a:r>
                <a:rPr lang="en-US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supply</a:t>
              </a:r>
              <a:endParaRPr lang="fr-FR" sz="1200" b="1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289989" y="2357032"/>
              <a:ext cx="1559648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Draw 3 Position cards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CB609-B3D0-4F79-6197-920C0E752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F7CAA1F2-F451-C1D4-066B-A6C7080EFD4E}"/>
              </a:ext>
            </a:extLst>
          </p:cNvPr>
          <p:cNvGrpSpPr/>
          <p:nvPr/>
        </p:nvGrpSpPr>
        <p:grpSpPr>
          <a:xfrm>
            <a:off x="1193610" y="1313006"/>
            <a:ext cx="2124000" cy="3312000"/>
            <a:chOff x="4086162" y="1398350"/>
            <a:chExt cx="2124000" cy="3312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C455802-E663-4D52-CF8E-3838E0B4A0B9}"/>
                </a:ext>
              </a:extLst>
            </p:cNvPr>
            <p:cNvSpPr/>
            <p:nvPr/>
          </p:nvSpPr>
          <p:spPr>
            <a:xfrm>
              <a:off x="4086162" y="139835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86E8137-EC62-E67B-3B48-D4C95301D014}"/>
                </a:ext>
              </a:extLst>
            </p:cNvPr>
            <p:cNvSpPr/>
            <p:nvPr/>
          </p:nvSpPr>
          <p:spPr>
            <a:xfrm>
              <a:off x="4086162" y="139835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Parley Herald</a:t>
              </a:r>
            </a:p>
          </p:txBody>
        </p:sp>
        <p:sp>
          <p:nvSpPr>
            <p:cNvPr id="37" name="ZoneTexte 36">
              <a:extLst>
                <a:ext uri="{FF2B5EF4-FFF2-40B4-BE49-F238E27FC236}">
                  <a16:creationId xmlns:a16="http://schemas.microsoft.com/office/drawing/2014/main" id="{F5A6C071-959B-5DCE-636F-121EAE5C52D7}"/>
                </a:ext>
              </a:extLst>
            </p:cNvPr>
            <p:cNvSpPr txBox="1"/>
            <p:nvPr/>
          </p:nvSpPr>
          <p:spPr>
            <a:xfrm>
              <a:off x="4375837" y="1896619"/>
              <a:ext cx="1555750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Place this Herald in the </a:t>
              </a:r>
              <a:r>
                <a:rPr lang="en-US" sz="1200" b="1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Council</a:t>
              </a:r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 zone</a:t>
              </a:r>
              <a:endParaRPr lang="en-US" sz="12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9" name="Graphique 38" descr="Haute tension avec un remplissage uni">
              <a:extLst>
                <a:ext uri="{FF2B5EF4-FFF2-40B4-BE49-F238E27FC236}">
                  <a16:creationId xmlns:a16="http://schemas.microsoft.com/office/drawing/2014/main" id="{6AAF990C-5557-949A-CA5E-4B488C150D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15407" y="4129117"/>
              <a:ext cx="504000" cy="504000"/>
            </a:xfrm>
            <a:prstGeom prst="rect">
              <a:avLst/>
            </a:prstGeom>
            <a:effectLst/>
          </p:spPr>
        </p:pic>
        <p:pic>
          <p:nvPicPr>
            <p:cNvPr id="41" name="Image 40">
              <a:extLst>
                <a:ext uri="{FF2B5EF4-FFF2-40B4-BE49-F238E27FC236}">
                  <a16:creationId xmlns:a16="http://schemas.microsoft.com/office/drawing/2014/main" id="{A0EA5357-F4F4-BB30-FEE9-57A1651218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6E6BB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rcRect l="11291" t="9516" r="9677"/>
            <a:stretch>
              <a:fillRect/>
            </a:stretch>
          </p:blipFill>
          <p:spPr>
            <a:xfrm>
              <a:off x="4302558" y="2272016"/>
              <a:ext cx="1691207" cy="1936259"/>
            </a:xfrm>
            <a:prstGeom prst="rect">
              <a:avLst/>
            </a:prstGeom>
          </p:spPr>
        </p:pic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2BA62EB9-67FD-6356-8C72-D21E1E9CF0F9}"/>
                </a:ext>
              </a:extLst>
            </p:cNvPr>
            <p:cNvSpPr txBox="1"/>
            <p:nvPr/>
          </p:nvSpPr>
          <p:spPr>
            <a:xfrm>
              <a:off x="4958804" y="4291212"/>
              <a:ext cx="855979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Full Council ➔ </a:t>
              </a:r>
              <a:r>
                <a:rPr lang="en-US" sz="10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End of game</a:t>
              </a:r>
              <a:endParaRPr lang="fr-FR" sz="10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9" name="Groupe 48">
            <a:extLst>
              <a:ext uri="{FF2B5EF4-FFF2-40B4-BE49-F238E27FC236}">
                <a16:creationId xmlns:a16="http://schemas.microsoft.com/office/drawing/2014/main" id="{DFEDBAB6-BB19-A758-C365-323C72A32AFE}"/>
              </a:ext>
            </a:extLst>
          </p:cNvPr>
          <p:cNvGrpSpPr/>
          <p:nvPr/>
        </p:nvGrpSpPr>
        <p:grpSpPr>
          <a:xfrm>
            <a:off x="7212550" y="1313006"/>
            <a:ext cx="2125204" cy="3312000"/>
            <a:chOff x="7212550" y="1313006"/>
            <a:chExt cx="2125204" cy="3312000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E30B2A0B-E253-70BA-02D4-DF90CEB15DA7}"/>
                </a:ext>
              </a:extLst>
            </p:cNvPr>
            <p:cNvSpPr/>
            <p:nvPr/>
          </p:nvSpPr>
          <p:spPr>
            <a:xfrm>
              <a:off x="7213754" y="1313006"/>
              <a:ext cx="2124000" cy="3312000"/>
            </a:xfrm>
            <a:prstGeom prst="rect">
              <a:avLst/>
            </a:prstGeom>
            <a:blipFill dpi="0" rotWithShape="1"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99FF784-45C3-0A0B-9345-89A0E4FAC1C6}"/>
                </a:ext>
              </a:extLst>
            </p:cNvPr>
            <p:cNvSpPr/>
            <p:nvPr/>
          </p:nvSpPr>
          <p:spPr>
            <a:xfrm>
              <a:off x="7644550" y="1313006"/>
              <a:ext cx="12571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Court Intrigue</a:t>
              </a:r>
            </a:p>
          </p:txBody>
        </p:sp>
        <p:sp>
          <p:nvSpPr>
            <p:cNvPr id="54" name="Cercle : creux 53">
              <a:extLst>
                <a:ext uri="{FF2B5EF4-FFF2-40B4-BE49-F238E27FC236}">
                  <a16:creationId xmlns:a16="http://schemas.microsoft.com/office/drawing/2014/main" id="{4B9D2FBD-CC31-8DB3-939D-9E05D791AFCB}"/>
                </a:ext>
              </a:extLst>
            </p:cNvPr>
            <p:cNvSpPr/>
            <p:nvPr/>
          </p:nvSpPr>
          <p:spPr>
            <a:xfrm>
              <a:off x="7316645" y="414259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10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8AAC457B-8115-48CB-C47C-E9B17CA62111}"/>
                </a:ext>
              </a:extLst>
            </p:cNvPr>
            <p:cNvSpPr txBox="1"/>
            <p:nvPr/>
          </p:nvSpPr>
          <p:spPr>
            <a:xfrm>
              <a:off x="7316645" y="1835497"/>
              <a:ext cx="195001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Draw </a:t>
              </a:r>
              <a:r>
                <a:rPr lang="en-US" sz="1200" b="1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cards</a:t>
              </a:r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, then discard down to </a:t>
              </a:r>
              <a:r>
                <a:rPr lang="en-US" sz="1200" b="1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cards </a:t>
              </a:r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in hand</a:t>
              </a:r>
              <a:endParaRPr lang="en-US" sz="12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56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E630ED28-31FD-2B78-C47C-C6CAD2957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7428550" y="2572319"/>
              <a:ext cx="1689100" cy="1028897"/>
            </a:xfrm>
            <a:prstGeom prst="rect">
              <a:avLst/>
            </a:prstGeom>
          </p:spPr>
        </p:pic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0B23C08D-8C55-F642-9F2D-B61BCB3CE8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61617" y="3798900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ADFA12F-7666-1FC7-9E14-273186F76D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9827" y="3798900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60614D8-A40A-3F97-FAF8-1A635E478C6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58037" y="3798900"/>
              <a:ext cx="335556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7D49AF9-AB59-31D6-375F-F6B3098E0E6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75754" y="3928900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C1847B7-AB68-AEFE-1A6D-0C8220AA8A9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80159" y="3928900"/>
              <a:ext cx="346301" cy="540000"/>
            </a:xfrm>
            <a:prstGeom prst="rect">
              <a:avLst/>
            </a:prstGeom>
            <a:blipFill dpi="0" rotWithShape="1">
              <a:blip r:embed="rId14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4398AF1F-574A-6145-8828-8069A4E02C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71349" y="3928900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252C7F8A-D44B-B615-C28E-F7B599861467}"/>
                </a:ext>
              </a:extLst>
            </p:cNvPr>
            <p:cNvSpPr/>
            <p:nvPr/>
          </p:nvSpPr>
          <p:spPr>
            <a:xfrm>
              <a:off x="7212550" y="1313006"/>
              <a:ext cx="4320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8A87D4D-CEF5-6F56-D069-48726F877422}"/>
                </a:ext>
              </a:extLst>
            </p:cNvPr>
            <p:cNvSpPr/>
            <p:nvPr/>
          </p:nvSpPr>
          <p:spPr>
            <a:xfrm>
              <a:off x="8901650" y="1313006"/>
              <a:ext cx="4320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  <p:grpSp>
        <p:nvGrpSpPr>
          <p:cNvPr id="65" name="Groupe 64">
            <a:extLst>
              <a:ext uri="{FF2B5EF4-FFF2-40B4-BE49-F238E27FC236}">
                <a16:creationId xmlns:a16="http://schemas.microsoft.com/office/drawing/2014/main" id="{D82E655A-321F-4E9F-1046-65270A55B228}"/>
              </a:ext>
            </a:extLst>
          </p:cNvPr>
          <p:cNvGrpSpPr/>
          <p:nvPr/>
        </p:nvGrpSpPr>
        <p:grpSpPr>
          <a:xfrm>
            <a:off x="4266350" y="1313006"/>
            <a:ext cx="2125204" cy="3312000"/>
            <a:chOff x="4266350" y="1313006"/>
            <a:chExt cx="2125204" cy="331200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1A16F52A-7D69-D4A3-DF79-9B082B33A34A}"/>
                </a:ext>
              </a:extLst>
            </p:cNvPr>
            <p:cNvSpPr/>
            <p:nvPr/>
          </p:nvSpPr>
          <p:spPr>
            <a:xfrm>
              <a:off x="4267554" y="1313006"/>
              <a:ext cx="2124000" cy="3312000"/>
            </a:xfrm>
            <a:prstGeom prst="rect">
              <a:avLst/>
            </a:prstGeom>
            <a:blipFill dpi="0" rotWithShape="1"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7" name="Image 66">
              <a:extLst>
                <a:ext uri="{FF2B5EF4-FFF2-40B4-BE49-F238E27FC236}">
                  <a16:creationId xmlns:a16="http://schemas.microsoft.com/office/drawing/2014/main" id="{79E6DFF9-C633-B259-3885-E75E0B57F0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duotone>
                <a:prstClr val="black"/>
                <a:srgbClr val="FFFFCB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rightnessContrast bright="2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4400" r="11258" b="34958"/>
            <a:stretch>
              <a:fillRect/>
            </a:stretch>
          </p:blipFill>
          <p:spPr>
            <a:xfrm>
              <a:off x="4599039" y="2429005"/>
              <a:ext cx="1455721" cy="1791076"/>
            </a:xfrm>
            <a:prstGeom prst="rect">
              <a:avLst/>
            </a:prstGeom>
          </p:spPr>
        </p:pic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5DAE1C6-DE5A-8B17-15FE-91B80EEF41AF}"/>
                </a:ext>
              </a:extLst>
            </p:cNvPr>
            <p:cNvSpPr/>
            <p:nvPr/>
          </p:nvSpPr>
          <p:spPr>
            <a:xfrm>
              <a:off x="4698350" y="1313006"/>
              <a:ext cx="12571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4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Spy</a:t>
              </a:r>
              <a:endParaRPr lang="fr-FR" sz="14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Cercle : creux 68">
              <a:extLst>
                <a:ext uri="{FF2B5EF4-FFF2-40B4-BE49-F238E27FC236}">
                  <a16:creationId xmlns:a16="http://schemas.microsoft.com/office/drawing/2014/main" id="{345ACAE2-6F9D-BEF9-01D5-C075F2624280}"/>
                </a:ext>
              </a:extLst>
            </p:cNvPr>
            <p:cNvSpPr/>
            <p:nvPr/>
          </p:nvSpPr>
          <p:spPr>
            <a:xfrm>
              <a:off x="4370445" y="414259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10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D6A1929-B8BA-2EA3-CAA5-D302F2325543}"/>
                </a:ext>
              </a:extLst>
            </p:cNvPr>
            <p:cNvSpPr txBox="1"/>
            <p:nvPr/>
          </p:nvSpPr>
          <p:spPr>
            <a:xfrm>
              <a:off x="4443500" y="1875006"/>
              <a:ext cx="1766797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Draw </a:t>
              </a:r>
              <a:r>
                <a:rPr lang="en-US" sz="1200" b="1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 cards </a:t>
              </a:r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from an </a:t>
              </a:r>
              <a:r>
                <a:rPr lang="en-US" sz="1200" b="1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opponent's hand </a:t>
              </a:r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and discard them</a:t>
              </a:r>
              <a:endParaRPr lang="en-US" sz="12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DF8E560-DAD8-44EA-135F-E0127F2A639A}"/>
                </a:ext>
              </a:extLst>
            </p:cNvPr>
            <p:cNvSpPr/>
            <p:nvPr/>
          </p:nvSpPr>
          <p:spPr>
            <a:xfrm>
              <a:off x="4266350" y="1313006"/>
              <a:ext cx="4320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</a:t>
              </a: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9B2DF613-D163-177F-22C3-286F1A946744}"/>
                </a:ext>
              </a:extLst>
            </p:cNvPr>
            <p:cNvSpPr/>
            <p:nvPr/>
          </p:nvSpPr>
          <p:spPr>
            <a:xfrm>
              <a:off x="5955450" y="1313006"/>
              <a:ext cx="4320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9334737-11CF-F2B9-936B-E189C6A7C5E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25663" y="3819757"/>
              <a:ext cx="335556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C0F173F5-9C0A-158C-4B01-8E4E411852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38975" y="3949757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479780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9B98F-2603-F5C4-BC2D-174B13CF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e 10">
            <a:extLst>
              <a:ext uri="{FF2B5EF4-FFF2-40B4-BE49-F238E27FC236}">
                <a16:creationId xmlns:a16="http://schemas.microsoft.com/office/drawing/2014/main" id="{81190586-EC58-92A7-66AB-C79563340C25}"/>
              </a:ext>
            </a:extLst>
          </p:cNvPr>
          <p:cNvGrpSpPr/>
          <p:nvPr/>
        </p:nvGrpSpPr>
        <p:grpSpPr>
          <a:xfrm>
            <a:off x="3607285" y="1313006"/>
            <a:ext cx="2124000" cy="3312000"/>
            <a:chOff x="3607285" y="1313006"/>
            <a:chExt cx="2124000" cy="331200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4F236D3-973E-C9DD-6CBD-E079D9D0D488}"/>
                </a:ext>
              </a:extLst>
            </p:cNvPr>
            <p:cNvSpPr/>
            <p:nvPr/>
          </p:nvSpPr>
          <p:spPr>
            <a:xfrm>
              <a:off x="3607285" y="1313006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Hexagone 23">
              <a:extLst>
                <a:ext uri="{FF2B5EF4-FFF2-40B4-BE49-F238E27FC236}">
                  <a16:creationId xmlns:a16="http://schemas.microsoft.com/office/drawing/2014/main" id="{E1A0D662-392F-7F98-2B3D-C65910747E70}"/>
                </a:ext>
              </a:extLst>
            </p:cNvPr>
            <p:cNvSpPr/>
            <p:nvPr/>
          </p:nvSpPr>
          <p:spPr>
            <a:xfrm rot="5400000">
              <a:off x="4941851" y="4091698"/>
              <a:ext cx="396000" cy="360000"/>
            </a:xfrm>
            <a:prstGeom prst="hexagon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Hexagone 24">
              <a:extLst>
                <a:ext uri="{FF2B5EF4-FFF2-40B4-BE49-F238E27FC236}">
                  <a16:creationId xmlns:a16="http://schemas.microsoft.com/office/drawing/2014/main" id="{E85860D5-0B59-1682-B44B-A978E0CDDB35}"/>
                </a:ext>
              </a:extLst>
            </p:cNvPr>
            <p:cNvSpPr/>
            <p:nvPr/>
          </p:nvSpPr>
          <p:spPr>
            <a:xfrm rot="5400000">
              <a:off x="4519210" y="40900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8E37F6E6-940D-EC2F-98A0-08BA276E3621}"/>
                </a:ext>
              </a:extLst>
            </p:cNvPr>
            <p:cNvCxnSpPr>
              <a:cxnSpLocks/>
            </p:cNvCxnSpPr>
            <p:nvPr/>
          </p:nvCxnSpPr>
          <p:spPr>
            <a:xfrm>
              <a:off x="4715586" y="4262989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627C6940-CF1E-FF93-0AD6-460F057899CF}"/>
                </a:ext>
              </a:extLst>
            </p:cNvPr>
            <p:cNvSpPr txBox="1"/>
            <p:nvPr/>
          </p:nvSpPr>
          <p:spPr>
            <a:xfrm>
              <a:off x="3967811" y="1833905"/>
              <a:ext cx="1402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from</a:t>
              </a:r>
              <a:b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US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 more </a:t>
              </a: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tile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7" name="Image 3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2DE67E33-BD42-DBFB-7464-F7DB9BBD6C2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039285" y="2426143"/>
              <a:ext cx="1471982" cy="1275721"/>
            </a:xfrm>
            <a:prstGeom prst="rect">
              <a:avLst/>
            </a:prstGeom>
          </p:spPr>
        </p:pic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3C7C2B1-EA96-1D3E-1692-8F353FA004DD}"/>
                </a:ext>
              </a:extLst>
            </p:cNvPr>
            <p:cNvSpPr/>
            <p:nvPr/>
          </p:nvSpPr>
          <p:spPr>
            <a:xfrm>
              <a:off x="3607285" y="1313006"/>
              <a:ext cx="432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M+</a:t>
              </a:r>
              <a:endParaRPr lang="fr-FR" sz="1600" dirty="0">
                <a:solidFill>
                  <a:schemeClr val="bg1"/>
                </a:solidFill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AEF34D85-278B-D48D-960F-EA8C9DC76CD7}"/>
                </a:ext>
              </a:extLst>
            </p:cNvPr>
            <p:cNvSpPr/>
            <p:nvPr/>
          </p:nvSpPr>
          <p:spPr>
            <a:xfrm>
              <a:off x="4039285" y="1313006"/>
              <a:ext cx="1260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Move Lord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A4760A1-A469-8EFD-D481-CD8691E10E10}"/>
                </a:ext>
              </a:extLst>
            </p:cNvPr>
            <p:cNvSpPr/>
            <p:nvPr/>
          </p:nvSpPr>
          <p:spPr>
            <a:xfrm>
              <a:off x="5299285" y="1313006"/>
              <a:ext cx="432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M+</a:t>
              </a:r>
              <a:endParaRPr lang="fr-FR" sz="1600" dirty="0">
                <a:solidFill>
                  <a:schemeClr val="bg1"/>
                </a:solidFill>
              </a:endParaRPr>
            </a:p>
          </p:txBody>
        </p:sp>
        <p:pic>
          <p:nvPicPr>
            <p:cNvPr id="75" name="Graphique 74" descr="Haute tension avec un remplissage uni">
              <a:extLst>
                <a:ext uri="{FF2B5EF4-FFF2-40B4-BE49-F238E27FC236}">
                  <a16:creationId xmlns:a16="http://schemas.microsoft.com/office/drawing/2014/main" id="{C05AFB6D-9CFD-101E-DA42-4774F31AA2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682325" y="402385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E8203636-D947-7312-EFFD-88A38CD38E60}"/>
              </a:ext>
            </a:extLst>
          </p:cNvPr>
          <p:cNvGrpSpPr/>
          <p:nvPr/>
        </p:nvGrpSpPr>
        <p:grpSpPr>
          <a:xfrm>
            <a:off x="6096000" y="1327564"/>
            <a:ext cx="2124000" cy="3312684"/>
            <a:chOff x="6096000" y="1327564"/>
            <a:chExt cx="2124000" cy="3312684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6651EBF-EEC3-F3EC-1A60-570A2743BEFF}"/>
                </a:ext>
              </a:extLst>
            </p:cNvPr>
            <p:cNvSpPr/>
            <p:nvPr/>
          </p:nvSpPr>
          <p:spPr>
            <a:xfrm>
              <a:off x="6096000" y="1328248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Hexagone 55">
              <a:extLst>
                <a:ext uri="{FF2B5EF4-FFF2-40B4-BE49-F238E27FC236}">
                  <a16:creationId xmlns:a16="http://schemas.microsoft.com/office/drawing/2014/main" id="{0C0EA316-63D2-CD90-D399-D35C58155B66}"/>
                </a:ext>
              </a:extLst>
            </p:cNvPr>
            <p:cNvSpPr/>
            <p:nvPr/>
          </p:nvSpPr>
          <p:spPr>
            <a:xfrm rot="5400000">
              <a:off x="7612573" y="4091698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Ellipse 56">
              <a:extLst>
                <a:ext uri="{FF2B5EF4-FFF2-40B4-BE49-F238E27FC236}">
                  <a16:creationId xmlns:a16="http://schemas.microsoft.com/office/drawing/2014/main" id="{CA2E5B65-0A89-9D29-BFAF-64040CFABD5F}"/>
                </a:ext>
              </a:extLst>
            </p:cNvPr>
            <p:cNvSpPr/>
            <p:nvPr/>
          </p:nvSpPr>
          <p:spPr>
            <a:xfrm>
              <a:off x="6922882" y="4091698"/>
              <a:ext cx="360000" cy="36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DF4547EF-3856-B1A4-1F62-57A8BFD5A5E1}"/>
                </a:ext>
              </a:extLst>
            </p:cNvPr>
            <p:cNvCxnSpPr>
              <a:cxnSpLocks/>
            </p:cNvCxnSpPr>
            <p:nvPr/>
          </p:nvCxnSpPr>
          <p:spPr>
            <a:xfrm>
              <a:off x="7325143" y="4271698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2968165E-6F9D-C637-5BAE-E2DDB693A744}"/>
                </a:ext>
              </a:extLst>
            </p:cNvPr>
            <p:cNvSpPr txBox="1"/>
            <p:nvPr/>
          </p:nvSpPr>
          <p:spPr>
            <a:xfrm>
              <a:off x="6325787" y="1843995"/>
              <a:ext cx="155418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Recruit</a:t>
              </a:r>
              <a:b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en-US" sz="1200" b="1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 more </a:t>
              </a:r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troop</a:t>
              </a:r>
              <a:endParaRPr lang="en-US" sz="12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5459530B-E085-E301-3133-0B12BCBE5E9E}"/>
                </a:ext>
              </a:extLst>
            </p:cNvPr>
            <p:cNvSpPr/>
            <p:nvPr/>
          </p:nvSpPr>
          <p:spPr>
            <a:xfrm>
              <a:off x="6096000" y="1327564"/>
              <a:ext cx="432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R+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842D770-B721-37FA-7AF8-C8CA166ACA7F}"/>
                </a:ext>
              </a:extLst>
            </p:cNvPr>
            <p:cNvSpPr/>
            <p:nvPr/>
          </p:nvSpPr>
          <p:spPr>
            <a:xfrm>
              <a:off x="7788000" y="1327564"/>
              <a:ext cx="432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R+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BDC14FC-7074-8D03-80EF-A0CE4E0784B0}"/>
                </a:ext>
              </a:extLst>
            </p:cNvPr>
            <p:cNvSpPr/>
            <p:nvPr/>
          </p:nvSpPr>
          <p:spPr>
            <a:xfrm>
              <a:off x="6528000" y="1327564"/>
              <a:ext cx="1260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Troops</a:t>
              </a:r>
            </a:p>
          </p:txBody>
        </p:sp>
        <p:pic>
          <p:nvPicPr>
            <p:cNvPr id="67" name="Image 66">
              <a:extLst>
                <a:ext uri="{FF2B5EF4-FFF2-40B4-BE49-F238E27FC236}">
                  <a16:creationId xmlns:a16="http://schemas.microsoft.com/office/drawing/2014/main" id="{289F7BD6-C891-F20B-0ED7-92A1A746D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duotone>
                <a:prstClr val="black"/>
                <a:srgbClr val="D7D7AE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87937" y="2699011"/>
              <a:ext cx="729989" cy="729989"/>
            </a:xfrm>
            <a:prstGeom prst="rect">
              <a:avLst/>
            </a:prstGeom>
          </p:spPr>
        </p:pic>
        <p:pic>
          <p:nvPicPr>
            <p:cNvPr id="77" name="Graphique 76" descr="Haute tension avec un remplissage uni">
              <a:extLst>
                <a:ext uri="{FF2B5EF4-FFF2-40B4-BE49-F238E27FC236}">
                  <a16:creationId xmlns:a16="http://schemas.microsoft.com/office/drawing/2014/main" id="{940083A2-558D-5C9D-DDF4-6E4F3A4761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206753" y="4043773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CE027443-20AA-8EEE-DE3C-19632FDDD5FD}"/>
              </a:ext>
            </a:extLst>
          </p:cNvPr>
          <p:cNvGrpSpPr/>
          <p:nvPr/>
        </p:nvGrpSpPr>
        <p:grpSpPr>
          <a:xfrm>
            <a:off x="1145628" y="1313006"/>
            <a:ext cx="2124000" cy="3312000"/>
            <a:chOff x="1145628" y="1313006"/>
            <a:chExt cx="2124000" cy="33120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285B248D-06E8-F9F5-C366-357752D7D7E6}"/>
                </a:ext>
              </a:extLst>
            </p:cNvPr>
            <p:cNvSpPr/>
            <p:nvPr/>
          </p:nvSpPr>
          <p:spPr>
            <a:xfrm>
              <a:off x="1145628" y="1313006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F57885E9-A687-1FE3-1193-654558895D80}"/>
                </a:ext>
              </a:extLst>
            </p:cNvPr>
            <p:cNvSpPr/>
            <p:nvPr/>
          </p:nvSpPr>
          <p:spPr>
            <a:xfrm rot="5400000">
              <a:off x="2492612" y="4087724"/>
              <a:ext cx="396000" cy="360000"/>
            </a:xfrm>
            <a:prstGeom prst="hexagon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Hexagone 93">
              <a:extLst>
                <a:ext uri="{FF2B5EF4-FFF2-40B4-BE49-F238E27FC236}">
                  <a16:creationId xmlns:a16="http://schemas.microsoft.com/office/drawing/2014/main" id="{801846D4-2BBA-C02A-1127-3E10C50FE868}"/>
                </a:ext>
              </a:extLst>
            </p:cNvPr>
            <p:cNvSpPr/>
            <p:nvPr/>
          </p:nvSpPr>
          <p:spPr>
            <a:xfrm rot="5400000">
              <a:off x="2069971" y="408611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D558E2DF-E373-260B-CFB9-127EB3B81087}"/>
                </a:ext>
              </a:extLst>
            </p:cNvPr>
            <p:cNvCxnSpPr>
              <a:cxnSpLocks/>
            </p:cNvCxnSpPr>
            <p:nvPr/>
          </p:nvCxnSpPr>
          <p:spPr>
            <a:xfrm>
              <a:off x="2266347" y="4259015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6" name="ZoneTexte 95">
              <a:extLst>
                <a:ext uri="{FF2B5EF4-FFF2-40B4-BE49-F238E27FC236}">
                  <a16:creationId xmlns:a16="http://schemas.microsoft.com/office/drawing/2014/main" id="{8567F412-8613-4253-F2A4-F8018CB34066}"/>
                </a:ext>
              </a:extLst>
            </p:cNvPr>
            <p:cNvSpPr txBox="1"/>
            <p:nvPr/>
          </p:nvSpPr>
          <p:spPr>
            <a:xfrm>
              <a:off x="1333099" y="1826509"/>
              <a:ext cx="178521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Cross</a:t>
              </a: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tiles with </a:t>
              </a:r>
              <a:r>
                <a:rPr lang="en-US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enemy</a:t>
              </a: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baron or dungeon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CADE5D47-043A-B6F9-8813-AD5CF3435892}"/>
                </a:ext>
              </a:extLst>
            </p:cNvPr>
            <p:cNvSpPr/>
            <p:nvPr/>
          </p:nvSpPr>
          <p:spPr>
            <a:xfrm>
              <a:off x="1145628" y="1313006"/>
              <a:ext cx="432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Bi</a:t>
              </a:r>
              <a:endParaRPr lang="fr-FR" sz="1600" dirty="0">
                <a:solidFill>
                  <a:schemeClr val="bg1"/>
                </a:solidFill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4FE0F3C-AAD2-7FE7-BD12-8CBB12781B3A}"/>
                </a:ext>
              </a:extLst>
            </p:cNvPr>
            <p:cNvSpPr/>
            <p:nvPr/>
          </p:nvSpPr>
          <p:spPr>
            <a:xfrm>
              <a:off x="1577628" y="1313006"/>
              <a:ext cx="1260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Baron
incognito</a:t>
              </a: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BBC8BE0A-51EF-F1C1-7535-0FF3470F45FA}"/>
                </a:ext>
              </a:extLst>
            </p:cNvPr>
            <p:cNvSpPr/>
            <p:nvPr/>
          </p:nvSpPr>
          <p:spPr>
            <a:xfrm>
              <a:off x="2837628" y="1313006"/>
              <a:ext cx="432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Bi</a:t>
              </a:r>
              <a:endParaRPr lang="fr-FR" sz="1600" dirty="0">
                <a:solidFill>
                  <a:schemeClr val="bg1"/>
                </a:solidFill>
              </a:endParaRPr>
            </a:p>
          </p:txBody>
        </p:sp>
        <p:pic>
          <p:nvPicPr>
            <p:cNvPr id="101" name="Graphique 100" descr="Haute tension avec un remplissage uni">
              <a:extLst>
                <a:ext uri="{FF2B5EF4-FFF2-40B4-BE49-F238E27FC236}">
                  <a16:creationId xmlns:a16="http://schemas.microsoft.com/office/drawing/2014/main" id="{7E079457-342B-EC49-40A4-541D3878AD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20668" y="4023857"/>
              <a:ext cx="504000" cy="504000"/>
            </a:xfrm>
            <a:prstGeom prst="rect">
              <a:avLst/>
            </a:prstGeom>
            <a:effectLst/>
          </p:spPr>
        </p:pic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932741A1-B97E-1956-0505-DC9172941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duotone>
                <a:prstClr val="black"/>
                <a:srgbClr val="D7D7AE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" b="30021"/>
            <a:stretch>
              <a:fillRect/>
            </a:stretch>
          </p:blipFill>
          <p:spPr>
            <a:xfrm>
              <a:off x="1414827" y="2245688"/>
              <a:ext cx="1591055" cy="1636633"/>
            </a:xfrm>
            <a:prstGeom prst="rect">
              <a:avLst/>
            </a:prstGeom>
          </p:spPr>
        </p:pic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F868D214-8351-F329-5F50-BD738F2FADD6}"/>
              </a:ext>
            </a:extLst>
          </p:cNvPr>
          <p:cNvGrpSpPr/>
          <p:nvPr/>
        </p:nvGrpSpPr>
        <p:grpSpPr>
          <a:xfrm>
            <a:off x="8557657" y="1312322"/>
            <a:ext cx="2124000" cy="3312684"/>
            <a:chOff x="8557657" y="1312322"/>
            <a:chExt cx="2124000" cy="331268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D0C62AB-C24E-CF9F-904C-23C31AA5B4C6}"/>
                </a:ext>
              </a:extLst>
            </p:cNvPr>
            <p:cNvSpPr/>
            <p:nvPr/>
          </p:nvSpPr>
          <p:spPr>
            <a:xfrm>
              <a:off x="8557657" y="1313006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3925222-F422-C91D-5680-0ED2F1568579}"/>
                </a:ext>
              </a:extLst>
            </p:cNvPr>
            <p:cNvSpPr txBox="1"/>
            <p:nvPr/>
          </p:nvSpPr>
          <p:spPr>
            <a:xfrm>
              <a:off x="8867954" y="1842045"/>
              <a:ext cx="1503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Spend</a:t>
              </a:r>
              <a:b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en-US" sz="1200" b="1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 more </a:t>
              </a:r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credit</a:t>
              </a:r>
              <a:endParaRPr lang="en-US" sz="12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81BDE9E-B32F-E001-9E91-62634A562D50}"/>
                </a:ext>
              </a:extLst>
            </p:cNvPr>
            <p:cNvSpPr/>
            <p:nvPr/>
          </p:nvSpPr>
          <p:spPr>
            <a:xfrm>
              <a:off x="8557657" y="1312322"/>
              <a:ext cx="432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1D5C02-1B1E-7B00-5BC4-B7D5675FE748}"/>
                </a:ext>
              </a:extLst>
            </p:cNvPr>
            <p:cNvSpPr/>
            <p:nvPr/>
          </p:nvSpPr>
          <p:spPr>
            <a:xfrm>
              <a:off x="10249657" y="1312322"/>
              <a:ext cx="432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57E21ED-ADB8-6985-3492-B3753890FBCB}"/>
                </a:ext>
              </a:extLst>
            </p:cNvPr>
            <p:cNvSpPr/>
            <p:nvPr/>
          </p:nvSpPr>
          <p:spPr>
            <a:xfrm>
              <a:off x="8989657" y="1312322"/>
              <a:ext cx="1260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Credit</a:t>
              </a:r>
              <a:endParaRPr lang="fr-FR" sz="1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" name="Graphique 11" descr="Haute tension avec un remplissage uni">
              <a:extLst>
                <a:ext uri="{FF2B5EF4-FFF2-40B4-BE49-F238E27FC236}">
                  <a16:creationId xmlns:a16="http://schemas.microsoft.com/office/drawing/2014/main" id="{387E0321-F211-989D-5E0F-2A0A43C9D9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668410" y="4028531"/>
              <a:ext cx="504000" cy="504000"/>
            </a:xfrm>
            <a:prstGeom prst="rect">
              <a:avLst/>
            </a:prstGeom>
            <a:effectLst/>
          </p:spPr>
        </p:pic>
        <p:sp>
          <p:nvSpPr>
            <p:cNvPr id="14" name="Cercle : creux 13">
              <a:extLst>
                <a:ext uri="{FF2B5EF4-FFF2-40B4-BE49-F238E27FC236}">
                  <a16:creationId xmlns:a16="http://schemas.microsoft.com/office/drawing/2014/main" id="{0A439C1A-B540-ECCB-DFBF-B250B72DB6FD}"/>
                </a:ext>
              </a:extLst>
            </p:cNvPr>
            <p:cNvSpPr/>
            <p:nvPr/>
          </p:nvSpPr>
          <p:spPr>
            <a:xfrm>
              <a:off x="9298673" y="2699006"/>
              <a:ext cx="641968" cy="678103"/>
            </a:xfrm>
            <a:prstGeom prst="donut">
              <a:avLst>
                <a:gd name="adj" fmla="val 15271"/>
              </a:avLst>
            </a:prstGeom>
            <a:blipFill>
              <a:blip r:embed="rId14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8F2630C-D260-FB03-04A5-EF5CC88C38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25059" y="3924119"/>
              <a:ext cx="346301" cy="540000"/>
            </a:xfrm>
            <a:prstGeom prst="rect">
              <a:avLst/>
            </a:prstGeom>
            <a:blipFill dpi="0"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21552302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1831</TotalTime>
  <Words>404</Words>
  <Application>Microsoft Office PowerPoint</Application>
  <PresentationFormat>Grand écran</PresentationFormat>
  <Paragraphs>112</Paragraphs>
  <Slides>9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124</cp:revision>
  <cp:lastPrinted>2026-03-31T18:36:09Z</cp:lastPrinted>
  <dcterms:created xsi:type="dcterms:W3CDTF">2026-02-07T18:04:07Z</dcterms:created>
  <dcterms:modified xsi:type="dcterms:W3CDTF">2026-07-05T08:43:35Z</dcterms:modified>
</cp:coreProperties>
</file>