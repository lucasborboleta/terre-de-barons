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1" r:id="rId2"/>
    <p:sldId id="282" r:id="rId3"/>
    <p:sldId id="283" r:id="rId4"/>
    <p:sldId id="284" r:id="rId5"/>
    <p:sldId id="287" r:id="rId6"/>
    <p:sldId id="286" r:id="rId7"/>
    <p:sldId id="289" r:id="rId8"/>
    <p:sldId id="288" r:id="rId9"/>
  </p:sldIdLst>
  <p:sldSz cx="12192000" cy="6858000"/>
  <p:notesSz cx="6888163" cy="100203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B"/>
    <a:srgbClr val="E6E6BB"/>
    <a:srgbClr val="E5EFC9"/>
    <a:srgbClr val="DDBD95"/>
    <a:srgbClr val="E8A5ED"/>
    <a:srgbClr val="E7D5B1"/>
    <a:srgbClr val="F0DEB6"/>
    <a:srgbClr val="FFF7BF"/>
    <a:srgbClr val="E9D3AE"/>
    <a:srgbClr val="E9D7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B0988-6DB9-4E3D-B7FD-EFF3BCABE954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8975" y="4822825"/>
            <a:ext cx="5510213" cy="3944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02075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0DD9D-2173-49B3-B084-704F33D21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057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0DD9D-2173-49B3-B084-704F33D2170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880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326CA0-4995-0C08-7797-F33521EAB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6BD9EB-4496-9D4D-620C-28FC4AD79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4783DB-349C-DC47-3F19-9F6FE3457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ABB338-D7AB-BECB-8825-35FDCDD6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788C04-DF9E-18E1-1C78-22223CDA3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142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1FF5E-723A-5769-9875-ECCB71F4C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92A3EA-8D65-250B-B84B-578097665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62E3F1-B56B-4677-DB7F-0770A136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9FF79B-1134-344A-160B-04517ABB9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5E0855-2925-24BA-4822-237CCA71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047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AFA286-8472-0A00-CA07-5AB3EA8C8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A7A315-DAAD-22AB-720D-55C5A1DA5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8AD03D-2FD2-B95E-8065-676BECF96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40879B-D231-E255-0E5B-4131FA83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DE6B84-78E3-0FC3-68AC-D31BC1D2C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657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C2695C-1CC2-F9D9-3360-F59408FDB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137B99-3F1C-8A85-292A-278C20593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C38B07-3438-3854-9B4B-8054F12BB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7EBEAD-3BD9-AC63-4288-5F9399A4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3FB668-E751-6B60-E0ED-733D5B044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9B6ABF-9EDC-475B-1756-9E0FECE7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32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9B28A2-1252-79F6-DFDF-365A2E3A8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C0C046-101B-25B6-7229-E9C92EECE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13D23B0-7578-BB6C-5A16-5784B6833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6EE2B08-AEC7-1D82-5EA4-228A6E1C0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E637B45-13A0-9658-B807-4DF5AAEFC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17756EC-C374-A970-CDDC-6A0966E7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C71EE66-3555-7D59-1983-06022B4E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7FFA3AF-E5BB-43A6-B569-5735AAE7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7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697B1-3031-9D4D-0491-A3E757A8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F64A07F-6830-7533-467D-6333F310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9B0866-463C-85FE-9C80-B8CB97F9E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70557D-F4C9-27B2-BA7E-EA628AD2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30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2F3D329-2193-6B0C-8918-89402DEC6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B4BAB6-2233-62BD-8D79-686AA777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547BC2-476A-1A4A-6C5B-95D915D6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61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4D4F34-513B-892E-BF30-65DD3902B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D49C84-7B01-C7C9-B429-5256B74B6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193FD1-03C4-B1F3-4B28-235B957D8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E52021-544B-F5CC-CE20-26C632A90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A1C446-E50F-3006-D363-7341F55F0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3A7F131-5969-6B91-92CC-7DFDB8CB4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438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0448E9-A8A5-DEAE-069A-F882822AE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7DEF628-9230-1879-72E8-B49C3367B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4CBB16-91AD-3D08-EE54-4CAE12B5E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F3E57A-900B-E0F9-DE3D-9F758CCF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2574B3-834C-2CD5-5C55-DAEEB4E2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A995DD-EA0B-FCF8-DC3A-E8A2E3D1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1191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C91528-514F-C50E-F5A3-8E21B724F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CB2835-C493-BF73-0B0F-B7A9A96E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792B13-004A-BED3-A051-A1D33016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0F2FD7-F792-2E18-0A08-403693D9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91404F-9201-3795-E4AF-59A0F302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310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8D6F5A-DA3A-C69A-4DBA-9A5D1A26E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A59EF5B-C47F-FF3D-332C-2D8B81C0F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9D9841-3EA5-E28D-4437-BC02BF32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EAC8F6-2A17-E43A-A427-C845F717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82677B-B16E-55E3-8452-9857089B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35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B60EE35-8DAE-FD87-CCF9-28E349904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BDAF75-9C9F-AD9A-FDEE-C6A8C83F8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B1D349-64DD-1A17-5958-3D16E2971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505E2-0C4C-443F-8F57-41958F504CA2}" type="datetimeFigureOut">
              <a:rPr lang="fr-FR" smtClean="0"/>
              <a:t>25/05/2026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ADEE84-75CE-9A62-8BE9-CE6EEBC78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023943-28BF-0B7E-6F46-B515E22DC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436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3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microsoft.com/office/2007/relationships/hdphoto" Target="../media/hdphoto2.wdp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microsoft.com/office/2007/relationships/hdphoto" Target="../media/hdphoto5.wdp"/><Relationship Id="rId5" Type="http://schemas.openxmlformats.org/officeDocument/2006/relationships/image" Target="../media/image5.jpeg"/><Relationship Id="rId10" Type="http://schemas.openxmlformats.org/officeDocument/2006/relationships/image" Target="../media/image12.png"/><Relationship Id="rId4" Type="http://schemas.microsoft.com/office/2007/relationships/hdphoto" Target="../media/hdphoto4.wdp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microsoft.com/office/2007/relationships/hdphoto" Target="../media/hdphoto5.wdp"/><Relationship Id="rId3" Type="http://schemas.openxmlformats.org/officeDocument/2006/relationships/image" Target="../media/image9.png"/><Relationship Id="rId7" Type="http://schemas.microsoft.com/office/2007/relationships/hdphoto" Target="../media/hdphoto3.wdp"/><Relationship Id="rId12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jpeg"/><Relationship Id="rId10" Type="http://schemas.microsoft.com/office/2007/relationships/hdphoto" Target="../media/hdphoto1.wdp"/><Relationship Id="rId4" Type="http://schemas.microsoft.com/office/2007/relationships/hdphoto" Target="../media/hdphoto4.wdp"/><Relationship Id="rId9" Type="http://schemas.openxmlformats.org/officeDocument/2006/relationships/image" Target="../media/image1.png"/><Relationship Id="rId1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13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12" Type="http://schemas.microsoft.com/office/2007/relationships/hdphoto" Target="../media/hdphoto8.wd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openxmlformats.org/officeDocument/2006/relationships/image" Target="../media/image5.jpeg"/><Relationship Id="rId10" Type="http://schemas.microsoft.com/office/2007/relationships/hdphoto" Target="../media/hdphoto7.wdp"/><Relationship Id="rId4" Type="http://schemas.microsoft.com/office/2007/relationships/hdphoto" Target="../media/hdphoto2.wdp"/><Relationship Id="rId9" Type="http://schemas.openxmlformats.org/officeDocument/2006/relationships/image" Target="../media/image16.png"/><Relationship Id="rId1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9.png"/><Relationship Id="rId7" Type="http://schemas.openxmlformats.org/officeDocument/2006/relationships/image" Target="../media/image10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6.png"/><Relationship Id="rId4" Type="http://schemas.microsoft.com/office/2007/relationships/hdphoto" Target="../media/hdphoto9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8.png"/><Relationship Id="rId3" Type="http://schemas.openxmlformats.org/officeDocument/2006/relationships/image" Target="../media/image22.png"/><Relationship Id="rId7" Type="http://schemas.microsoft.com/office/2007/relationships/hdphoto" Target="../media/hdphoto11.wdp"/><Relationship Id="rId12" Type="http://schemas.microsoft.com/office/2007/relationships/hdphoto" Target="../media/hdphoto12.wdp"/><Relationship Id="rId2" Type="http://schemas.openxmlformats.org/officeDocument/2006/relationships/image" Target="../media/image21.jpeg"/><Relationship Id="rId16" Type="http://schemas.microsoft.com/office/2007/relationships/hdphoto" Target="../media/hdphoto13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7.png"/><Relationship Id="rId5" Type="http://schemas.openxmlformats.org/officeDocument/2006/relationships/image" Target="../media/image23.svg"/><Relationship Id="rId15" Type="http://schemas.openxmlformats.org/officeDocument/2006/relationships/image" Target="../media/image30.png"/><Relationship Id="rId10" Type="http://schemas.openxmlformats.org/officeDocument/2006/relationships/image" Target="../media/image5.jpeg"/><Relationship Id="rId4" Type="http://schemas.microsoft.com/office/2007/relationships/hdphoto" Target="../media/hdphoto10.wdp"/><Relationship Id="rId9" Type="http://schemas.openxmlformats.org/officeDocument/2006/relationships/image" Target="../media/image26.png"/><Relationship Id="rId1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6B733-7E90-BC87-4C1A-5C96C7CAA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71E490-BA8B-E540-0579-27EC66453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055" y="2766218"/>
            <a:ext cx="5955890" cy="1325563"/>
          </a:xfrm>
        </p:spPr>
        <p:txBody>
          <a:bodyPr>
            <a:noAutofit/>
          </a:bodyPr>
          <a:lstStyle/>
          <a:p>
            <a:r>
              <a:rPr lang="fr-FR" sz="3200" dirty="0"/>
              <a:t>Icônes tuile de commandement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4E7B0960-50DE-AC2F-0937-E2ACE3938286}"/>
              </a:ext>
            </a:extLst>
          </p:cNvPr>
          <p:cNvGrpSpPr/>
          <p:nvPr/>
        </p:nvGrpSpPr>
        <p:grpSpPr>
          <a:xfrm>
            <a:off x="4500491" y="4698556"/>
            <a:ext cx="722925" cy="765450"/>
            <a:chOff x="1576316" y="4917631"/>
            <a:chExt cx="722925" cy="765450"/>
          </a:xfrm>
        </p:grpSpPr>
        <p:sp>
          <p:nvSpPr>
            <p:cNvPr id="7" name="Hexagone 6">
              <a:extLst>
                <a:ext uri="{FF2B5EF4-FFF2-40B4-BE49-F238E27FC236}">
                  <a16:creationId xmlns:a16="http://schemas.microsoft.com/office/drawing/2014/main" id="{E1240A6C-DEEE-3272-F6DF-147F91114B0C}"/>
                </a:ext>
              </a:extLst>
            </p:cNvPr>
            <p:cNvSpPr/>
            <p:nvPr/>
          </p:nvSpPr>
          <p:spPr>
            <a:xfrm rot="5400000">
              <a:off x="1555054" y="4938893"/>
              <a:ext cx="765450" cy="722925"/>
            </a:xfrm>
            <a:prstGeom prst="hexagon">
              <a:avLst/>
            </a:prstGeom>
            <a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285A97C-26D1-E072-72AB-FC6565640300}"/>
                </a:ext>
              </a:extLst>
            </p:cNvPr>
            <p:cNvSpPr/>
            <p:nvPr/>
          </p:nvSpPr>
          <p:spPr>
            <a:xfrm>
              <a:off x="1848595" y="5261590"/>
              <a:ext cx="180000" cy="24494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70F9CCF1-72F1-20BD-ACD7-3B2FBC81E0E2}"/>
                </a:ext>
              </a:extLst>
            </p:cNvPr>
            <p:cNvSpPr/>
            <p:nvPr/>
          </p:nvSpPr>
          <p:spPr>
            <a:xfrm>
              <a:off x="1844594" y="5078163"/>
              <a:ext cx="180000" cy="180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D5AB763D-1676-5BEE-2518-093FD474F585}"/>
              </a:ext>
            </a:extLst>
          </p:cNvPr>
          <p:cNvGrpSpPr/>
          <p:nvPr/>
        </p:nvGrpSpPr>
        <p:grpSpPr>
          <a:xfrm>
            <a:off x="5415842" y="4698556"/>
            <a:ext cx="722925" cy="765450"/>
            <a:chOff x="2491667" y="4917631"/>
            <a:chExt cx="722925" cy="765450"/>
          </a:xfrm>
        </p:grpSpPr>
        <p:sp>
          <p:nvSpPr>
            <p:cNvPr id="20" name="Hexagone 19">
              <a:extLst>
                <a:ext uri="{FF2B5EF4-FFF2-40B4-BE49-F238E27FC236}">
                  <a16:creationId xmlns:a16="http://schemas.microsoft.com/office/drawing/2014/main" id="{F47EA70B-5C35-49EB-DC1B-8FFD1FD33EF9}"/>
                </a:ext>
              </a:extLst>
            </p:cNvPr>
            <p:cNvSpPr/>
            <p:nvPr/>
          </p:nvSpPr>
          <p:spPr>
            <a:xfrm rot="5400000">
              <a:off x="2470405" y="4938893"/>
              <a:ext cx="765450" cy="722925"/>
            </a:xfrm>
            <a:prstGeom prst="hexagon">
              <a:avLst/>
            </a:prstGeom>
            <a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788DC15-033A-B1C9-91B5-A9A7256E8447}"/>
                </a:ext>
              </a:extLst>
            </p:cNvPr>
            <p:cNvSpPr/>
            <p:nvPr/>
          </p:nvSpPr>
          <p:spPr>
            <a:xfrm>
              <a:off x="2742838" y="5128839"/>
              <a:ext cx="180000" cy="343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D6132C41-EB88-0668-4BD4-E7C6BBF36A76}"/>
              </a:ext>
            </a:extLst>
          </p:cNvPr>
          <p:cNvGrpSpPr/>
          <p:nvPr/>
        </p:nvGrpSpPr>
        <p:grpSpPr>
          <a:xfrm>
            <a:off x="6330202" y="4698556"/>
            <a:ext cx="722925" cy="765450"/>
            <a:chOff x="3406027" y="4917631"/>
            <a:chExt cx="722925" cy="765450"/>
          </a:xfrm>
        </p:grpSpPr>
        <p:sp>
          <p:nvSpPr>
            <p:cNvPr id="21" name="Hexagone 20">
              <a:extLst>
                <a:ext uri="{FF2B5EF4-FFF2-40B4-BE49-F238E27FC236}">
                  <a16:creationId xmlns:a16="http://schemas.microsoft.com/office/drawing/2014/main" id="{6E8813E3-9224-BE80-BAA7-B8C1B6B190C6}"/>
                </a:ext>
              </a:extLst>
            </p:cNvPr>
            <p:cNvSpPr/>
            <p:nvPr/>
          </p:nvSpPr>
          <p:spPr>
            <a:xfrm rot="5400000">
              <a:off x="3384765" y="4938893"/>
              <a:ext cx="765450" cy="722925"/>
            </a:xfrm>
            <a:prstGeom prst="hexagon">
              <a:avLst/>
            </a:prstGeom>
            <a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88AF79C-23F4-3C33-2A9C-2736B2D1FB70}"/>
                </a:ext>
              </a:extLst>
            </p:cNvPr>
            <p:cNvSpPr/>
            <p:nvPr/>
          </p:nvSpPr>
          <p:spPr>
            <a:xfrm>
              <a:off x="3523264" y="5128839"/>
              <a:ext cx="180000" cy="343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3" name="Graphique 12" descr="Pion avec un remplissage uni">
              <a:extLst>
                <a:ext uri="{FF2B5EF4-FFF2-40B4-BE49-F238E27FC236}">
                  <a16:creationId xmlns:a16="http://schemas.microsoft.com/office/drawing/2014/main" id="{306C5D16-9D41-E0FE-7BF6-1CEE967255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8037" t="14617" r="27500" b="15665"/>
            <a:stretch>
              <a:fillRect/>
            </a:stretch>
          </p:blipFill>
          <p:spPr>
            <a:xfrm>
              <a:off x="3776392" y="5105451"/>
              <a:ext cx="233683" cy="3664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283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08439-68E5-9887-8E29-CE6C781B7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8750ED07-E860-B188-9520-BF4EC262CCE3}"/>
              </a:ext>
            </a:extLst>
          </p:cNvPr>
          <p:cNvGrpSpPr/>
          <p:nvPr/>
        </p:nvGrpSpPr>
        <p:grpSpPr>
          <a:xfrm>
            <a:off x="1546939" y="962184"/>
            <a:ext cx="2124000" cy="3312000"/>
            <a:chOff x="1546939" y="962184"/>
            <a:chExt cx="2124000" cy="3312000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4360611-0876-F981-EEC1-7D1D112A4F13}"/>
                </a:ext>
              </a:extLst>
            </p:cNvPr>
            <p:cNvSpPr/>
            <p:nvPr/>
          </p:nvSpPr>
          <p:spPr>
            <a:xfrm>
              <a:off x="1546939" y="962184"/>
              <a:ext cx="2124000" cy="3312000"/>
            </a:xfrm>
            <a:prstGeom prst="rect">
              <a:avLst/>
            </a:prstGeom>
            <a:blipFill dpi="0" rotWithShape="1">
              <a:blip r:embed="rId3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573A36B-AEB6-0E29-63FF-061B7214589B}"/>
                </a:ext>
              </a:extLst>
            </p:cNvPr>
            <p:cNvSpPr/>
            <p:nvPr/>
          </p:nvSpPr>
          <p:spPr>
            <a:xfrm>
              <a:off x="1978939" y="962184"/>
              <a:ext cx="1260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Déplacer</a:t>
              </a:r>
            </a:p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Seigneur</a:t>
              </a:r>
            </a:p>
          </p:txBody>
        </p:sp>
        <p:sp>
          <p:nvSpPr>
            <p:cNvPr id="136" name="Cercle : creux 135">
              <a:extLst>
                <a:ext uri="{FF2B5EF4-FFF2-40B4-BE49-F238E27FC236}">
                  <a16:creationId xmlns:a16="http://schemas.microsoft.com/office/drawing/2014/main" id="{5D442044-ED0E-411F-9E34-3679A24CFE61}"/>
                </a:ext>
              </a:extLst>
            </p:cNvPr>
            <p:cNvSpPr/>
            <p:nvPr/>
          </p:nvSpPr>
          <p:spPr>
            <a:xfrm>
              <a:off x="1635025" y="3803579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6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140" name="Hexagone 139">
              <a:extLst>
                <a:ext uri="{FF2B5EF4-FFF2-40B4-BE49-F238E27FC236}">
                  <a16:creationId xmlns:a16="http://schemas.microsoft.com/office/drawing/2014/main" id="{3BF57923-835F-44EF-BB5C-EF1CB03DCBC5}"/>
                </a:ext>
              </a:extLst>
            </p:cNvPr>
            <p:cNvSpPr/>
            <p:nvPr/>
          </p:nvSpPr>
          <p:spPr>
            <a:xfrm rot="5400000">
              <a:off x="3016044" y="3229983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1" name="Hexagone 140">
              <a:extLst>
                <a:ext uri="{FF2B5EF4-FFF2-40B4-BE49-F238E27FC236}">
                  <a16:creationId xmlns:a16="http://schemas.microsoft.com/office/drawing/2014/main" id="{3536AF6C-2759-457D-7A35-7908798CCFF9}"/>
                </a:ext>
              </a:extLst>
            </p:cNvPr>
            <p:cNvSpPr/>
            <p:nvPr/>
          </p:nvSpPr>
          <p:spPr>
            <a:xfrm rot="5400000">
              <a:off x="2606769" y="3229983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2" name="Hexagone 141">
              <a:extLst>
                <a:ext uri="{FF2B5EF4-FFF2-40B4-BE49-F238E27FC236}">
                  <a16:creationId xmlns:a16="http://schemas.microsoft.com/office/drawing/2014/main" id="{F98C3038-006F-43AA-2525-C7AF462DE2E6}"/>
                </a:ext>
              </a:extLst>
            </p:cNvPr>
            <p:cNvSpPr/>
            <p:nvPr/>
          </p:nvSpPr>
          <p:spPr>
            <a:xfrm rot="5400000">
              <a:off x="2197494" y="3239916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3" name="Hexagone 142">
              <a:extLst>
                <a:ext uri="{FF2B5EF4-FFF2-40B4-BE49-F238E27FC236}">
                  <a16:creationId xmlns:a16="http://schemas.microsoft.com/office/drawing/2014/main" id="{01374FA9-D667-3516-AB58-781856D051FC}"/>
                </a:ext>
              </a:extLst>
            </p:cNvPr>
            <p:cNvSpPr/>
            <p:nvPr/>
          </p:nvSpPr>
          <p:spPr>
            <a:xfrm rot="5400000">
              <a:off x="1783991" y="3239916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F9737447-6BDB-034A-D2CE-5E3EC8EBE502}"/>
                </a:ext>
              </a:extLst>
            </p:cNvPr>
            <p:cNvSpPr txBox="1"/>
            <p:nvPr/>
          </p:nvSpPr>
          <p:spPr>
            <a:xfrm>
              <a:off x="1606914" y="1488710"/>
              <a:ext cx="2007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Déplacer un baron ou un chevalier de 3 tuiles</a:t>
              </a:r>
            </a:p>
          </p:txBody>
        </p:sp>
        <p:pic>
          <p:nvPicPr>
            <p:cNvPr id="27" name="Image 26" descr="Une image contenant cheval, croquis, dessin, jument&#10;&#10;Le contenu généré par l’IA peut être incorrect.">
              <a:extLst>
                <a:ext uri="{FF2B5EF4-FFF2-40B4-BE49-F238E27FC236}">
                  <a16:creationId xmlns:a16="http://schemas.microsoft.com/office/drawing/2014/main" id="{C86BAE45-C4D2-4C3B-7B44-7AF3ECBF0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25" t="15464" r="18993" b="44773"/>
            <a:stretch>
              <a:fillRect/>
            </a:stretch>
          </p:blipFill>
          <p:spPr>
            <a:xfrm>
              <a:off x="1635025" y="2008763"/>
              <a:ext cx="1133030" cy="981962"/>
            </a:xfrm>
            <a:prstGeom prst="rect">
              <a:avLst/>
            </a:prstGeom>
          </p:spPr>
        </p:pic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6E1F4A51-1E84-4FE6-E0BD-AB5801BF6480}"/>
                </a:ext>
              </a:extLst>
            </p:cNvPr>
            <p:cNvSpPr txBox="1"/>
            <p:nvPr/>
          </p:nvSpPr>
          <p:spPr>
            <a:xfrm>
              <a:off x="2718223" y="2010094"/>
              <a:ext cx="92811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Plus 1 tuile en partant d’une « tuile 2 »</a:t>
              </a:r>
            </a:p>
          </p:txBody>
        </p:sp>
        <p:sp>
          <p:nvSpPr>
            <p:cNvPr id="50" name="Forme libre : forme 49">
              <a:extLst>
                <a:ext uri="{FF2B5EF4-FFF2-40B4-BE49-F238E27FC236}">
                  <a16:creationId xmlns:a16="http://schemas.microsoft.com/office/drawing/2014/main" id="{ECBC7277-4EA8-C992-C040-91D8DC99BBF5}"/>
                </a:ext>
              </a:extLst>
            </p:cNvPr>
            <p:cNvSpPr/>
            <p:nvPr/>
          </p:nvSpPr>
          <p:spPr>
            <a:xfrm>
              <a:off x="1943935" y="3138287"/>
              <a:ext cx="1324503" cy="284795"/>
            </a:xfrm>
            <a:custGeom>
              <a:avLst/>
              <a:gdLst>
                <a:gd name="csX0" fmla="*/ 0 w 1231106"/>
                <a:gd name="csY0" fmla="*/ 261996 h 284795"/>
                <a:gd name="csX1" fmla="*/ 188119 w 1231106"/>
                <a:gd name="csY1" fmla="*/ 259615 h 284795"/>
                <a:gd name="csX2" fmla="*/ 238125 w 1231106"/>
                <a:gd name="csY2" fmla="*/ 259615 h 284795"/>
                <a:gd name="csX3" fmla="*/ 333375 w 1231106"/>
                <a:gd name="csY3" fmla="*/ 257233 h 284795"/>
                <a:gd name="csX4" fmla="*/ 400050 w 1231106"/>
                <a:gd name="csY4" fmla="*/ 231040 h 284795"/>
                <a:gd name="csX5" fmla="*/ 447675 w 1231106"/>
                <a:gd name="csY5" fmla="*/ 178652 h 284795"/>
                <a:gd name="csX6" fmla="*/ 500063 w 1231106"/>
                <a:gd name="csY6" fmla="*/ 109596 h 284795"/>
                <a:gd name="csX7" fmla="*/ 526256 w 1231106"/>
                <a:gd name="csY7" fmla="*/ 66733 h 284795"/>
                <a:gd name="csX8" fmla="*/ 600075 w 1231106"/>
                <a:gd name="csY8" fmla="*/ 2440 h 284795"/>
                <a:gd name="csX9" fmla="*/ 669131 w 1231106"/>
                <a:gd name="csY9" fmla="*/ 16727 h 284795"/>
                <a:gd name="csX10" fmla="*/ 707231 w 1231106"/>
                <a:gd name="csY10" fmla="*/ 47683 h 284795"/>
                <a:gd name="csX11" fmla="*/ 750094 w 1231106"/>
                <a:gd name="csY11" fmla="*/ 92927 h 284795"/>
                <a:gd name="csX12" fmla="*/ 790575 w 1231106"/>
                <a:gd name="csY12" fmla="*/ 142933 h 284795"/>
                <a:gd name="csX13" fmla="*/ 847725 w 1231106"/>
                <a:gd name="csY13" fmla="*/ 216752 h 284795"/>
                <a:gd name="csX14" fmla="*/ 888206 w 1231106"/>
                <a:gd name="csY14" fmla="*/ 259615 h 284795"/>
                <a:gd name="csX15" fmla="*/ 935831 w 1231106"/>
                <a:gd name="csY15" fmla="*/ 283427 h 284795"/>
                <a:gd name="csX16" fmla="*/ 1007269 w 1231106"/>
                <a:gd name="csY16" fmla="*/ 281046 h 284795"/>
                <a:gd name="csX17" fmla="*/ 1066800 w 1231106"/>
                <a:gd name="csY17" fmla="*/ 273902 h 284795"/>
                <a:gd name="csX18" fmla="*/ 1231106 w 1231106"/>
                <a:gd name="csY18" fmla="*/ 238183 h 284795"/>
                <a:gd name="csX19" fmla="*/ 1231106 w 1231106"/>
                <a:gd name="csY19" fmla="*/ 238183 h 284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231106" h="284795">
                  <a:moveTo>
                    <a:pt x="0" y="261996"/>
                  </a:moveTo>
                  <a:lnTo>
                    <a:pt x="188119" y="259615"/>
                  </a:lnTo>
                  <a:cubicBezTo>
                    <a:pt x="227806" y="259218"/>
                    <a:pt x="238125" y="259615"/>
                    <a:pt x="238125" y="259615"/>
                  </a:cubicBezTo>
                  <a:lnTo>
                    <a:pt x="333375" y="257233"/>
                  </a:lnTo>
                  <a:cubicBezTo>
                    <a:pt x="360362" y="252471"/>
                    <a:pt x="381000" y="244137"/>
                    <a:pt x="400050" y="231040"/>
                  </a:cubicBezTo>
                  <a:cubicBezTo>
                    <a:pt x="419100" y="217943"/>
                    <a:pt x="431006" y="198893"/>
                    <a:pt x="447675" y="178652"/>
                  </a:cubicBezTo>
                  <a:cubicBezTo>
                    <a:pt x="464344" y="158411"/>
                    <a:pt x="486966" y="128249"/>
                    <a:pt x="500063" y="109596"/>
                  </a:cubicBezTo>
                  <a:cubicBezTo>
                    <a:pt x="513160" y="90943"/>
                    <a:pt x="509587" y="84592"/>
                    <a:pt x="526256" y="66733"/>
                  </a:cubicBezTo>
                  <a:cubicBezTo>
                    <a:pt x="542925" y="48874"/>
                    <a:pt x="576263" y="10774"/>
                    <a:pt x="600075" y="2440"/>
                  </a:cubicBezTo>
                  <a:cubicBezTo>
                    <a:pt x="623887" y="-5894"/>
                    <a:pt x="651272" y="9187"/>
                    <a:pt x="669131" y="16727"/>
                  </a:cubicBezTo>
                  <a:cubicBezTo>
                    <a:pt x="686990" y="24267"/>
                    <a:pt x="693737" y="34983"/>
                    <a:pt x="707231" y="47683"/>
                  </a:cubicBezTo>
                  <a:cubicBezTo>
                    <a:pt x="720725" y="60383"/>
                    <a:pt x="736203" y="77052"/>
                    <a:pt x="750094" y="92927"/>
                  </a:cubicBezTo>
                  <a:cubicBezTo>
                    <a:pt x="763985" y="108802"/>
                    <a:pt x="774303" y="122296"/>
                    <a:pt x="790575" y="142933"/>
                  </a:cubicBezTo>
                  <a:cubicBezTo>
                    <a:pt x="806847" y="163570"/>
                    <a:pt x="831453" y="197305"/>
                    <a:pt x="847725" y="216752"/>
                  </a:cubicBezTo>
                  <a:cubicBezTo>
                    <a:pt x="863997" y="236199"/>
                    <a:pt x="873522" y="248502"/>
                    <a:pt x="888206" y="259615"/>
                  </a:cubicBezTo>
                  <a:cubicBezTo>
                    <a:pt x="902890" y="270728"/>
                    <a:pt x="915987" y="279855"/>
                    <a:pt x="935831" y="283427"/>
                  </a:cubicBezTo>
                  <a:cubicBezTo>
                    <a:pt x="955675" y="286999"/>
                    <a:pt x="985441" y="282633"/>
                    <a:pt x="1007269" y="281046"/>
                  </a:cubicBezTo>
                  <a:cubicBezTo>
                    <a:pt x="1029097" y="279459"/>
                    <a:pt x="1029494" y="281046"/>
                    <a:pt x="1066800" y="273902"/>
                  </a:cubicBezTo>
                  <a:cubicBezTo>
                    <a:pt x="1104106" y="266758"/>
                    <a:pt x="1231106" y="238183"/>
                    <a:pt x="1231106" y="238183"/>
                  </a:cubicBezTo>
                  <a:lnTo>
                    <a:pt x="1231106" y="238183"/>
                  </a:lnTo>
                </a:path>
              </a:pathLst>
            </a:custGeom>
            <a:noFill/>
            <a:ln w="50800"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9B897A0-98D5-C76E-AFC4-70105D280DD0}"/>
                </a:ext>
              </a:extLst>
            </p:cNvPr>
            <p:cNvSpPr/>
            <p:nvPr/>
          </p:nvSpPr>
          <p:spPr>
            <a:xfrm>
              <a:off x="1546939" y="962184"/>
              <a:ext cx="432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D3</a:t>
              </a:r>
              <a:endParaRPr lang="fr-FR" sz="16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5B60590-A8FD-18F9-2848-CB05A9D4652E}"/>
                </a:ext>
              </a:extLst>
            </p:cNvPr>
            <p:cNvSpPr/>
            <p:nvPr/>
          </p:nvSpPr>
          <p:spPr>
            <a:xfrm>
              <a:off x="3238939" y="962184"/>
              <a:ext cx="432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D3</a:t>
              </a:r>
              <a:endParaRPr lang="fr-FR" sz="1600" dirty="0"/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30552921-2C6A-F56F-3E7D-F3AB285B67A9}"/>
              </a:ext>
            </a:extLst>
          </p:cNvPr>
          <p:cNvGrpSpPr/>
          <p:nvPr/>
        </p:nvGrpSpPr>
        <p:grpSpPr>
          <a:xfrm>
            <a:off x="4734800" y="969777"/>
            <a:ext cx="2124000" cy="3315044"/>
            <a:chOff x="4734800" y="969777"/>
            <a:chExt cx="2124000" cy="331504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7BFB1CD-BC51-9163-AAAD-2257E1712922}"/>
                </a:ext>
              </a:extLst>
            </p:cNvPr>
            <p:cNvSpPr/>
            <p:nvPr/>
          </p:nvSpPr>
          <p:spPr>
            <a:xfrm>
              <a:off x="4734800" y="972821"/>
              <a:ext cx="2124000" cy="3312000"/>
            </a:xfrm>
            <a:prstGeom prst="rect">
              <a:avLst/>
            </a:prstGeom>
            <a:blipFill dpi="0" rotWithShape="1">
              <a:blip r:embed="rId3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Cercle : creux 31">
              <a:extLst>
                <a:ext uri="{FF2B5EF4-FFF2-40B4-BE49-F238E27FC236}">
                  <a16:creationId xmlns:a16="http://schemas.microsoft.com/office/drawing/2014/main" id="{895D816B-704D-32E6-3CB8-2C5459C2AA4F}"/>
                </a:ext>
              </a:extLst>
            </p:cNvPr>
            <p:cNvSpPr/>
            <p:nvPr/>
          </p:nvSpPr>
          <p:spPr>
            <a:xfrm>
              <a:off x="4805272" y="3803579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6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35" name="Hexagone 34">
              <a:extLst>
                <a:ext uri="{FF2B5EF4-FFF2-40B4-BE49-F238E27FC236}">
                  <a16:creationId xmlns:a16="http://schemas.microsoft.com/office/drawing/2014/main" id="{ED43B6BA-60A8-2D42-DAC1-FE13DF927976}"/>
                </a:ext>
              </a:extLst>
            </p:cNvPr>
            <p:cNvSpPr/>
            <p:nvPr/>
          </p:nvSpPr>
          <p:spPr>
            <a:xfrm rot="5400000">
              <a:off x="5992527" y="3213110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Hexagone 35">
              <a:extLst>
                <a:ext uri="{FF2B5EF4-FFF2-40B4-BE49-F238E27FC236}">
                  <a16:creationId xmlns:a16="http://schemas.microsoft.com/office/drawing/2014/main" id="{422A9CE2-21B4-067C-483E-04FF626F0025}"/>
                </a:ext>
              </a:extLst>
            </p:cNvPr>
            <p:cNvSpPr/>
            <p:nvPr/>
          </p:nvSpPr>
          <p:spPr>
            <a:xfrm rot="5400000">
              <a:off x="5583252" y="3213110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Hexagone 38">
              <a:extLst>
                <a:ext uri="{FF2B5EF4-FFF2-40B4-BE49-F238E27FC236}">
                  <a16:creationId xmlns:a16="http://schemas.microsoft.com/office/drawing/2014/main" id="{9D68BA81-5B1E-2295-3412-B1C229B584EC}"/>
                </a:ext>
              </a:extLst>
            </p:cNvPr>
            <p:cNvSpPr/>
            <p:nvPr/>
          </p:nvSpPr>
          <p:spPr>
            <a:xfrm rot="5400000">
              <a:off x="5173977" y="3211585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643E51B0-E37C-D06A-BE14-F3CECAD12C9D}"/>
                </a:ext>
              </a:extLst>
            </p:cNvPr>
            <p:cNvSpPr txBox="1"/>
            <p:nvPr/>
          </p:nvSpPr>
          <p:spPr>
            <a:xfrm>
              <a:off x="4777161" y="1488710"/>
              <a:ext cx="2007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Déplacer un baron ou un chevalier de 2 tuiles</a:t>
              </a:r>
            </a:p>
          </p:txBody>
        </p:sp>
        <p:pic>
          <p:nvPicPr>
            <p:cNvPr id="47" name="Image 46" descr="Une image contenant cheval, croquis, dessin, jument&#10;&#10;Le contenu généré par l’IA peut être incorrect.">
              <a:extLst>
                <a:ext uri="{FF2B5EF4-FFF2-40B4-BE49-F238E27FC236}">
                  <a16:creationId xmlns:a16="http://schemas.microsoft.com/office/drawing/2014/main" id="{B082009F-902E-B091-2985-CB3408ED8A5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25" t="15464" r="18993" b="44773"/>
            <a:stretch>
              <a:fillRect/>
            </a:stretch>
          </p:blipFill>
          <p:spPr>
            <a:xfrm>
              <a:off x="4805272" y="2008763"/>
              <a:ext cx="1133030" cy="981962"/>
            </a:xfrm>
            <a:prstGeom prst="rect">
              <a:avLst/>
            </a:prstGeom>
          </p:spPr>
        </p:pic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DA1DB5FC-DFAF-A8A8-5A60-2E2843B780CC}"/>
                </a:ext>
              </a:extLst>
            </p:cNvPr>
            <p:cNvSpPr txBox="1"/>
            <p:nvPr/>
          </p:nvSpPr>
          <p:spPr>
            <a:xfrm>
              <a:off x="5880849" y="2010094"/>
              <a:ext cx="96243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Plus 1 tuile en partant d’une « tuile 2 »</a:t>
              </a:r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00489193-8730-FD02-4809-7046101B87D8}"/>
                </a:ext>
              </a:extLst>
            </p:cNvPr>
            <p:cNvSpPr/>
            <p:nvPr/>
          </p:nvSpPr>
          <p:spPr>
            <a:xfrm>
              <a:off x="5367590" y="3175213"/>
              <a:ext cx="904875" cy="290522"/>
            </a:xfrm>
            <a:custGeom>
              <a:avLst/>
              <a:gdLst>
                <a:gd name="csX0" fmla="*/ 0 w 904875"/>
                <a:gd name="csY0" fmla="*/ 216703 h 290522"/>
                <a:gd name="csX1" fmla="*/ 338137 w 904875"/>
                <a:gd name="csY1" fmla="*/ 214322 h 290522"/>
                <a:gd name="csX2" fmla="*/ 502443 w 904875"/>
                <a:gd name="csY2" fmla="*/ 61922 h 290522"/>
                <a:gd name="csX3" fmla="*/ 614362 w 904875"/>
                <a:gd name="csY3" fmla="*/ 9 h 290522"/>
                <a:gd name="csX4" fmla="*/ 733425 w 904875"/>
                <a:gd name="csY4" fmla="*/ 59540 h 290522"/>
                <a:gd name="csX5" fmla="*/ 904875 w 904875"/>
                <a:gd name="csY5" fmla="*/ 290522 h 290522"/>
                <a:gd name="csX6" fmla="*/ 904875 w 904875"/>
                <a:gd name="csY6" fmla="*/ 290522 h 2905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04875" h="290522">
                  <a:moveTo>
                    <a:pt x="0" y="216703"/>
                  </a:moveTo>
                  <a:cubicBezTo>
                    <a:pt x="127198" y="228411"/>
                    <a:pt x="254396" y="240119"/>
                    <a:pt x="338137" y="214322"/>
                  </a:cubicBezTo>
                  <a:cubicBezTo>
                    <a:pt x="421878" y="188525"/>
                    <a:pt x="456406" y="97641"/>
                    <a:pt x="502443" y="61922"/>
                  </a:cubicBezTo>
                  <a:cubicBezTo>
                    <a:pt x="548481" y="26203"/>
                    <a:pt x="575865" y="406"/>
                    <a:pt x="614362" y="9"/>
                  </a:cubicBezTo>
                  <a:cubicBezTo>
                    <a:pt x="652859" y="-388"/>
                    <a:pt x="685006" y="11121"/>
                    <a:pt x="733425" y="59540"/>
                  </a:cubicBezTo>
                  <a:cubicBezTo>
                    <a:pt x="781844" y="107959"/>
                    <a:pt x="904875" y="290522"/>
                    <a:pt x="904875" y="290522"/>
                  </a:cubicBezTo>
                  <a:lnTo>
                    <a:pt x="904875" y="290522"/>
                  </a:lnTo>
                </a:path>
              </a:pathLst>
            </a:custGeom>
            <a:noFill/>
            <a:ln w="50800"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C5B4CB-D302-BDFD-9B4D-16817B099155}"/>
                </a:ext>
              </a:extLst>
            </p:cNvPr>
            <p:cNvSpPr/>
            <p:nvPr/>
          </p:nvSpPr>
          <p:spPr>
            <a:xfrm>
              <a:off x="4734800" y="969777"/>
              <a:ext cx="432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D2</a:t>
              </a:r>
              <a:endParaRPr lang="fr-FR" sz="16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30AA59-EFA8-99F8-2FA0-0D0FCB540025}"/>
                </a:ext>
              </a:extLst>
            </p:cNvPr>
            <p:cNvSpPr/>
            <p:nvPr/>
          </p:nvSpPr>
          <p:spPr>
            <a:xfrm>
              <a:off x="6426800" y="971415"/>
              <a:ext cx="432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D2</a:t>
              </a:r>
              <a:endParaRPr lang="fr-FR" sz="16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8D5D29-1FBE-E5BA-4735-56204946ADC7}"/>
                </a:ext>
              </a:extLst>
            </p:cNvPr>
            <p:cNvSpPr/>
            <p:nvPr/>
          </p:nvSpPr>
          <p:spPr>
            <a:xfrm>
              <a:off x="5166800" y="971415"/>
              <a:ext cx="1260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Déplacer</a:t>
              </a:r>
            </a:p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Seigneur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22BBF95C-D5A1-150A-3F94-062BFC33A19B}"/>
              </a:ext>
            </a:extLst>
          </p:cNvPr>
          <p:cNvGrpSpPr/>
          <p:nvPr/>
        </p:nvGrpSpPr>
        <p:grpSpPr>
          <a:xfrm>
            <a:off x="8058180" y="972821"/>
            <a:ext cx="2124000" cy="3312000"/>
            <a:chOff x="8058180" y="972821"/>
            <a:chExt cx="2124000" cy="3312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5054D2C-4E27-667E-ECE9-0060392BC333}"/>
                </a:ext>
              </a:extLst>
            </p:cNvPr>
            <p:cNvSpPr/>
            <p:nvPr/>
          </p:nvSpPr>
          <p:spPr>
            <a:xfrm>
              <a:off x="8058180" y="972821"/>
              <a:ext cx="2124000" cy="3312000"/>
            </a:xfrm>
            <a:prstGeom prst="rect">
              <a:avLst/>
            </a:prstGeom>
            <a:blipFill dpi="0" rotWithShape="1">
              <a:blip r:embed="rId3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Cercle : creux 56">
              <a:extLst>
                <a:ext uri="{FF2B5EF4-FFF2-40B4-BE49-F238E27FC236}">
                  <a16:creationId xmlns:a16="http://schemas.microsoft.com/office/drawing/2014/main" id="{88013F12-EC1E-A594-9025-7CB5A30A420F}"/>
                </a:ext>
              </a:extLst>
            </p:cNvPr>
            <p:cNvSpPr/>
            <p:nvPr/>
          </p:nvSpPr>
          <p:spPr>
            <a:xfrm>
              <a:off x="8138922" y="3803579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6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60" name="Hexagone 59">
              <a:extLst>
                <a:ext uri="{FF2B5EF4-FFF2-40B4-BE49-F238E27FC236}">
                  <a16:creationId xmlns:a16="http://schemas.microsoft.com/office/drawing/2014/main" id="{E50D7AE9-7FC9-0F0E-063C-15A64B880A16}"/>
                </a:ext>
              </a:extLst>
            </p:cNvPr>
            <p:cNvSpPr/>
            <p:nvPr/>
          </p:nvSpPr>
          <p:spPr>
            <a:xfrm rot="5400000">
              <a:off x="9197717" y="3211585"/>
              <a:ext cx="396000" cy="360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2" name="Hexagone 61">
              <a:extLst>
                <a:ext uri="{FF2B5EF4-FFF2-40B4-BE49-F238E27FC236}">
                  <a16:creationId xmlns:a16="http://schemas.microsoft.com/office/drawing/2014/main" id="{D263FA61-5F49-F9F7-1169-1226A7A8D9F6}"/>
                </a:ext>
              </a:extLst>
            </p:cNvPr>
            <p:cNvSpPr/>
            <p:nvPr/>
          </p:nvSpPr>
          <p:spPr>
            <a:xfrm rot="5400000">
              <a:off x="8775076" y="3209980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31" name="Connecteur droit avec flèche 130">
              <a:extLst>
                <a:ext uri="{FF2B5EF4-FFF2-40B4-BE49-F238E27FC236}">
                  <a16:creationId xmlns:a16="http://schemas.microsoft.com/office/drawing/2014/main" id="{7D02E805-996A-FCC8-5C1F-624ED12B2EA0}"/>
                </a:ext>
              </a:extLst>
            </p:cNvPr>
            <p:cNvCxnSpPr>
              <a:cxnSpLocks/>
            </p:cNvCxnSpPr>
            <p:nvPr/>
          </p:nvCxnSpPr>
          <p:spPr>
            <a:xfrm>
              <a:off x="8971452" y="3382876"/>
              <a:ext cx="481421" cy="1268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2" name="ZoneTexte 131">
              <a:extLst>
                <a:ext uri="{FF2B5EF4-FFF2-40B4-BE49-F238E27FC236}">
                  <a16:creationId xmlns:a16="http://schemas.microsoft.com/office/drawing/2014/main" id="{E7369915-0DF9-093A-A937-BF418C37D5E1}"/>
                </a:ext>
              </a:extLst>
            </p:cNvPr>
            <p:cNvSpPr txBox="1"/>
            <p:nvPr/>
          </p:nvSpPr>
          <p:spPr>
            <a:xfrm>
              <a:off x="8110811" y="1488710"/>
              <a:ext cx="2007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Déplacer un baron ou un chevalier de 1 tuile</a:t>
              </a:r>
            </a:p>
          </p:txBody>
        </p:sp>
        <p:pic>
          <p:nvPicPr>
            <p:cNvPr id="133" name="Image 132" descr="Une image contenant cheval, croquis, dessin, jument&#10;&#10;Le contenu généré par l’IA peut être incorrect.">
              <a:extLst>
                <a:ext uri="{FF2B5EF4-FFF2-40B4-BE49-F238E27FC236}">
                  <a16:creationId xmlns:a16="http://schemas.microsoft.com/office/drawing/2014/main" id="{1C2C69AE-0A8F-6910-2076-382D97E89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25" t="15464" r="18993" b="44773"/>
            <a:stretch>
              <a:fillRect/>
            </a:stretch>
          </p:blipFill>
          <p:spPr>
            <a:xfrm>
              <a:off x="8138922" y="2008763"/>
              <a:ext cx="1133030" cy="981962"/>
            </a:xfrm>
            <a:prstGeom prst="rect">
              <a:avLst/>
            </a:prstGeom>
          </p:spPr>
        </p:pic>
        <p:sp>
          <p:nvSpPr>
            <p:cNvPr id="134" name="ZoneTexte 133">
              <a:extLst>
                <a:ext uri="{FF2B5EF4-FFF2-40B4-BE49-F238E27FC236}">
                  <a16:creationId xmlns:a16="http://schemas.microsoft.com/office/drawing/2014/main" id="{FF1A7948-4FC6-C713-7F9F-F94B04DF86E3}"/>
                </a:ext>
              </a:extLst>
            </p:cNvPr>
            <p:cNvSpPr txBox="1"/>
            <p:nvPr/>
          </p:nvSpPr>
          <p:spPr>
            <a:xfrm>
              <a:off x="9214499" y="2010094"/>
              <a:ext cx="94482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Plus 1 tuile en partant d’une « tuile 2 »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ED2222C-3306-887B-4DA0-1D1B643890DD}"/>
                </a:ext>
              </a:extLst>
            </p:cNvPr>
            <p:cNvSpPr/>
            <p:nvPr/>
          </p:nvSpPr>
          <p:spPr>
            <a:xfrm>
              <a:off x="8058180" y="972821"/>
              <a:ext cx="432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D1</a:t>
              </a:r>
              <a:endParaRPr lang="fr-FR" sz="16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8C494F-EFAA-CD56-94E0-5852766A18BB}"/>
                </a:ext>
              </a:extLst>
            </p:cNvPr>
            <p:cNvSpPr/>
            <p:nvPr/>
          </p:nvSpPr>
          <p:spPr>
            <a:xfrm>
              <a:off x="8490180" y="972821"/>
              <a:ext cx="1260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Déplacer</a:t>
              </a:r>
            </a:p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Seigneur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572F79D-E1C3-8B2F-9564-10644851791B}"/>
                </a:ext>
              </a:extLst>
            </p:cNvPr>
            <p:cNvSpPr/>
            <p:nvPr/>
          </p:nvSpPr>
          <p:spPr>
            <a:xfrm>
              <a:off x="9750180" y="972821"/>
              <a:ext cx="432000" cy="432000"/>
            </a:xfrm>
            <a:prstGeom prst="rect">
              <a:avLst/>
            </a:prstGeom>
            <a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D1</a:t>
              </a:r>
              <a:endParaRPr lang="fr-FR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17168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91EF5-DDB3-71E8-564B-C1124A5A8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e 16">
            <a:extLst>
              <a:ext uri="{FF2B5EF4-FFF2-40B4-BE49-F238E27FC236}">
                <a16:creationId xmlns:a16="http://schemas.microsoft.com/office/drawing/2014/main" id="{7C74C304-0CA8-6A42-3C56-5C1BC3567F3E}"/>
              </a:ext>
            </a:extLst>
          </p:cNvPr>
          <p:cNvGrpSpPr/>
          <p:nvPr/>
        </p:nvGrpSpPr>
        <p:grpSpPr>
          <a:xfrm>
            <a:off x="1950838" y="1304582"/>
            <a:ext cx="2124000" cy="3312000"/>
            <a:chOff x="1950838" y="1304582"/>
            <a:chExt cx="2124000" cy="3312000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E07C4F7-5339-8D77-73A7-6C50189B72DF}"/>
                </a:ext>
              </a:extLst>
            </p:cNvPr>
            <p:cNvSpPr/>
            <p:nvPr/>
          </p:nvSpPr>
          <p:spPr>
            <a:xfrm>
              <a:off x="1950838" y="1304582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2073997-EB3A-D2C6-0F3D-D4C3C72483EE}"/>
                </a:ext>
              </a:extLst>
            </p:cNvPr>
            <p:cNvSpPr/>
            <p:nvPr/>
          </p:nvSpPr>
          <p:spPr>
            <a:xfrm>
              <a:off x="2382838" y="1306963"/>
              <a:ext cx="1260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</a:t>
              </a:r>
              <a:b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Troupes</a:t>
              </a:r>
            </a:p>
          </p:txBody>
        </p:sp>
        <p:sp>
          <p:nvSpPr>
            <p:cNvPr id="78" name="Cercle : creux 77">
              <a:extLst>
                <a:ext uri="{FF2B5EF4-FFF2-40B4-BE49-F238E27FC236}">
                  <a16:creationId xmlns:a16="http://schemas.microsoft.com/office/drawing/2014/main" id="{1E25C49B-9C6E-0010-CA3E-D2E461FF4EB8}"/>
                </a:ext>
              </a:extLst>
            </p:cNvPr>
            <p:cNvSpPr/>
            <p:nvPr/>
          </p:nvSpPr>
          <p:spPr>
            <a:xfrm>
              <a:off x="2059001" y="4172085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79" name="Hexagone 78">
              <a:extLst>
                <a:ext uri="{FF2B5EF4-FFF2-40B4-BE49-F238E27FC236}">
                  <a16:creationId xmlns:a16="http://schemas.microsoft.com/office/drawing/2014/main" id="{B3AC753D-B331-68F1-C398-4E75E48BC9A2}"/>
                </a:ext>
              </a:extLst>
            </p:cNvPr>
            <p:cNvSpPr/>
            <p:nvPr/>
          </p:nvSpPr>
          <p:spPr>
            <a:xfrm rot="5400000">
              <a:off x="3529621" y="3589687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6B5C665F-AEDC-6787-3995-1056897F1590}"/>
                </a:ext>
              </a:extLst>
            </p:cNvPr>
            <p:cNvSpPr/>
            <p:nvPr/>
          </p:nvSpPr>
          <p:spPr>
            <a:xfrm>
              <a:off x="2110784" y="3589687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1" name="Ellipse 80">
              <a:extLst>
                <a:ext uri="{FF2B5EF4-FFF2-40B4-BE49-F238E27FC236}">
                  <a16:creationId xmlns:a16="http://schemas.microsoft.com/office/drawing/2014/main" id="{FD6FE342-CBDF-895A-1737-E4475D2BC67A}"/>
                </a:ext>
              </a:extLst>
            </p:cNvPr>
            <p:cNvSpPr/>
            <p:nvPr/>
          </p:nvSpPr>
          <p:spPr>
            <a:xfrm>
              <a:off x="2477110" y="3589687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2" name="Ellipse 81">
              <a:extLst>
                <a:ext uri="{FF2B5EF4-FFF2-40B4-BE49-F238E27FC236}">
                  <a16:creationId xmlns:a16="http://schemas.microsoft.com/office/drawing/2014/main" id="{DD1D374F-42FF-507D-3912-E8FA500C5F04}"/>
                </a:ext>
              </a:extLst>
            </p:cNvPr>
            <p:cNvSpPr/>
            <p:nvPr/>
          </p:nvSpPr>
          <p:spPr>
            <a:xfrm>
              <a:off x="2839930" y="3589687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83" name="Connecteur droit avec flèche 82">
              <a:extLst>
                <a:ext uri="{FF2B5EF4-FFF2-40B4-BE49-F238E27FC236}">
                  <a16:creationId xmlns:a16="http://schemas.microsoft.com/office/drawing/2014/main" id="{BFFC548C-730E-69D9-261A-DA05C8B4EB1E}"/>
                </a:ext>
              </a:extLst>
            </p:cNvPr>
            <p:cNvCxnSpPr>
              <a:cxnSpLocks/>
            </p:cNvCxnSpPr>
            <p:nvPr/>
          </p:nvCxnSpPr>
          <p:spPr>
            <a:xfrm>
              <a:off x="3242191" y="3769687"/>
              <a:ext cx="56863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ZoneTexte 83">
              <a:extLst>
                <a:ext uri="{FF2B5EF4-FFF2-40B4-BE49-F238E27FC236}">
                  <a16:creationId xmlns:a16="http://schemas.microsoft.com/office/drawing/2014/main" id="{B454EAE9-A882-5820-4FFA-B04A57B03694}"/>
                </a:ext>
              </a:extLst>
            </p:cNvPr>
            <p:cNvSpPr txBox="1"/>
            <p:nvPr/>
          </p:nvSpPr>
          <p:spPr>
            <a:xfrm>
              <a:off x="2031494" y="1832423"/>
              <a:ext cx="19441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 3 troupes vers la tuile de commandement</a:t>
              </a:r>
            </a:p>
          </p:txBody>
        </p:sp>
        <p:sp>
          <p:nvSpPr>
            <p:cNvPr id="85" name="ZoneTexte 84">
              <a:extLst>
                <a:ext uri="{FF2B5EF4-FFF2-40B4-BE49-F238E27FC236}">
                  <a16:creationId xmlns:a16="http://schemas.microsoft.com/office/drawing/2014/main" id="{99BFEE71-75AD-E7B0-4CDB-CFF0A66DEB50}"/>
                </a:ext>
              </a:extLst>
            </p:cNvPr>
            <p:cNvSpPr txBox="1"/>
            <p:nvPr/>
          </p:nvSpPr>
          <p:spPr>
            <a:xfrm>
              <a:off x="2059001" y="2509327"/>
              <a:ext cx="1944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Plus 1 troupe si c’est une « tuile 1 »</a:t>
              </a:r>
            </a:p>
          </p:txBody>
        </p:sp>
        <p:sp>
          <p:nvSpPr>
            <p:cNvPr id="86" name="ZoneTexte 85">
              <a:extLst>
                <a:ext uri="{FF2B5EF4-FFF2-40B4-BE49-F238E27FC236}">
                  <a16:creationId xmlns:a16="http://schemas.microsoft.com/office/drawing/2014/main" id="{71A47BDC-A5FE-DECA-2A27-FA4632591E78}"/>
                </a:ext>
              </a:extLst>
            </p:cNvPr>
            <p:cNvSpPr txBox="1"/>
            <p:nvPr/>
          </p:nvSpPr>
          <p:spPr>
            <a:xfrm>
              <a:off x="2045914" y="3005054"/>
              <a:ext cx="12969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Résoudre les affrontements</a:t>
              </a:r>
            </a:p>
          </p:txBody>
        </p:sp>
        <p:sp>
          <p:nvSpPr>
            <p:cNvPr id="92" name="Hexagone 91">
              <a:extLst>
                <a:ext uri="{FF2B5EF4-FFF2-40B4-BE49-F238E27FC236}">
                  <a16:creationId xmlns:a16="http://schemas.microsoft.com/office/drawing/2014/main" id="{F27BB98F-4C2D-78F4-B839-E502D40653A3}"/>
                </a:ext>
              </a:extLst>
            </p:cNvPr>
            <p:cNvSpPr/>
            <p:nvPr/>
          </p:nvSpPr>
          <p:spPr>
            <a:xfrm rot="5400000">
              <a:off x="2516039" y="4167650"/>
              <a:ext cx="390567" cy="368869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078A6C2-12DD-049B-44C8-885CA3B1D9C9}"/>
                </a:ext>
              </a:extLst>
            </p:cNvPr>
            <p:cNvSpPr/>
            <p:nvPr/>
          </p:nvSpPr>
          <p:spPr>
            <a:xfrm>
              <a:off x="2665817" y="4332304"/>
              <a:ext cx="91844" cy="12498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27EA58E8-660B-B24B-3374-2852A8020D7E}"/>
                </a:ext>
              </a:extLst>
            </p:cNvPr>
            <p:cNvSpPr/>
            <p:nvPr/>
          </p:nvSpPr>
          <p:spPr>
            <a:xfrm>
              <a:off x="2663776" y="4238712"/>
              <a:ext cx="91844" cy="9184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9" name="Hexagone 88">
              <a:extLst>
                <a:ext uri="{FF2B5EF4-FFF2-40B4-BE49-F238E27FC236}">
                  <a16:creationId xmlns:a16="http://schemas.microsoft.com/office/drawing/2014/main" id="{113CD995-D5E0-6539-45F0-DAF096BD4459}"/>
                </a:ext>
              </a:extLst>
            </p:cNvPr>
            <p:cNvSpPr/>
            <p:nvPr/>
          </p:nvSpPr>
          <p:spPr>
            <a:xfrm rot="5400000">
              <a:off x="2992554" y="4162368"/>
              <a:ext cx="396000" cy="374000"/>
            </a:xfrm>
            <a:prstGeom prst="hexagon">
              <a:avLst/>
            </a:prstGeom>
            <a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A6A7383-2994-1E8B-B4AF-B6392D7EEBF5}"/>
                </a:ext>
              </a:extLst>
            </p:cNvPr>
            <p:cNvSpPr/>
            <p:nvPr/>
          </p:nvSpPr>
          <p:spPr>
            <a:xfrm>
              <a:off x="3064206" y="4260635"/>
              <a:ext cx="93122" cy="17746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1" name="Graphique 90" descr="Pion avec un remplissage uni">
              <a:extLst>
                <a:ext uri="{FF2B5EF4-FFF2-40B4-BE49-F238E27FC236}">
                  <a16:creationId xmlns:a16="http://schemas.microsoft.com/office/drawing/2014/main" id="{FD62F45C-B89D-1480-6FA5-A0CB84CD0F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l="28037" t="14617" r="27500" b="15665"/>
            <a:stretch>
              <a:fillRect/>
            </a:stretch>
          </p:blipFill>
          <p:spPr>
            <a:xfrm>
              <a:off x="3195160" y="4248535"/>
              <a:ext cx="120894" cy="18956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30A2E0-4053-8194-8324-1F443FA04AA5}"/>
                </a:ext>
              </a:extLst>
            </p:cNvPr>
            <p:cNvSpPr/>
            <p:nvPr/>
          </p:nvSpPr>
          <p:spPr>
            <a:xfrm>
              <a:off x="1950838" y="1306963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R3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323E24-1A5F-B73F-28D1-177ECC0F7019}"/>
                </a:ext>
              </a:extLst>
            </p:cNvPr>
            <p:cNvSpPr/>
            <p:nvPr/>
          </p:nvSpPr>
          <p:spPr>
            <a:xfrm>
              <a:off x="3642838" y="1305286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R3</a:t>
              </a:r>
            </a:p>
          </p:txBody>
        </p:sp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C3307C20-48DC-2878-A1A3-21A62FB23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3936" y="2768847"/>
              <a:ext cx="540000" cy="540000"/>
            </a:xfrm>
            <a:prstGeom prst="rect">
              <a:avLst/>
            </a:prstGeom>
          </p:spPr>
        </p:pic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69263384-E41E-D53A-AD4B-3A40FC4D059F}"/>
              </a:ext>
            </a:extLst>
          </p:cNvPr>
          <p:cNvGrpSpPr/>
          <p:nvPr/>
        </p:nvGrpSpPr>
        <p:grpSpPr>
          <a:xfrm>
            <a:off x="4559727" y="1303898"/>
            <a:ext cx="2124000" cy="3312684"/>
            <a:chOff x="4559727" y="1303898"/>
            <a:chExt cx="2124000" cy="331268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FA7533E-98EB-478A-72CA-966EFD469D3C}"/>
                </a:ext>
              </a:extLst>
            </p:cNvPr>
            <p:cNvSpPr/>
            <p:nvPr/>
          </p:nvSpPr>
          <p:spPr>
            <a:xfrm>
              <a:off x="4559727" y="1304582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Cercle : creux 23">
              <a:extLst>
                <a:ext uri="{FF2B5EF4-FFF2-40B4-BE49-F238E27FC236}">
                  <a16:creationId xmlns:a16="http://schemas.microsoft.com/office/drawing/2014/main" id="{DE302184-A7FA-9225-BFCA-A89B0CA36EE4}"/>
                </a:ext>
              </a:extLst>
            </p:cNvPr>
            <p:cNvSpPr/>
            <p:nvPr/>
          </p:nvSpPr>
          <p:spPr>
            <a:xfrm>
              <a:off x="4672107" y="4152421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Hexagone 26">
              <a:extLst>
                <a:ext uri="{FF2B5EF4-FFF2-40B4-BE49-F238E27FC236}">
                  <a16:creationId xmlns:a16="http://schemas.microsoft.com/office/drawing/2014/main" id="{E9463E38-D247-7361-DD98-E73D11D55E88}"/>
                </a:ext>
              </a:extLst>
            </p:cNvPr>
            <p:cNvSpPr/>
            <p:nvPr/>
          </p:nvSpPr>
          <p:spPr>
            <a:xfrm rot="5400000">
              <a:off x="5934454" y="3569793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DD1EF241-4CE0-CC29-65A4-D0D7A807E925}"/>
                </a:ext>
              </a:extLst>
            </p:cNvPr>
            <p:cNvSpPr/>
            <p:nvPr/>
          </p:nvSpPr>
          <p:spPr>
            <a:xfrm>
              <a:off x="4881943" y="3569793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C817FB62-00BB-2AD3-D31F-A4950AD6F753}"/>
                </a:ext>
              </a:extLst>
            </p:cNvPr>
            <p:cNvSpPr/>
            <p:nvPr/>
          </p:nvSpPr>
          <p:spPr>
            <a:xfrm>
              <a:off x="5244763" y="3569793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1" name="Connecteur droit avec flèche 30">
              <a:extLst>
                <a:ext uri="{FF2B5EF4-FFF2-40B4-BE49-F238E27FC236}">
                  <a16:creationId xmlns:a16="http://schemas.microsoft.com/office/drawing/2014/main" id="{C855EB45-12B4-78B2-7CB7-D7B3170F773C}"/>
                </a:ext>
              </a:extLst>
            </p:cNvPr>
            <p:cNvCxnSpPr>
              <a:cxnSpLocks/>
            </p:cNvCxnSpPr>
            <p:nvPr/>
          </p:nvCxnSpPr>
          <p:spPr>
            <a:xfrm>
              <a:off x="5647024" y="3749793"/>
              <a:ext cx="56863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7503955D-C444-7097-305E-0A2E2267B2D3}"/>
                </a:ext>
              </a:extLst>
            </p:cNvPr>
            <p:cNvSpPr txBox="1"/>
            <p:nvPr/>
          </p:nvSpPr>
          <p:spPr>
            <a:xfrm>
              <a:off x="4644600" y="1812759"/>
              <a:ext cx="19441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 2 troupes vers la tuile de commandement</a:t>
              </a: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1091169B-D9A0-E8CE-D1AC-49148FB87F4E}"/>
                </a:ext>
              </a:extLst>
            </p:cNvPr>
            <p:cNvSpPr txBox="1"/>
            <p:nvPr/>
          </p:nvSpPr>
          <p:spPr>
            <a:xfrm>
              <a:off x="4672107" y="2489663"/>
              <a:ext cx="1944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Plus 1 troupe si c’est une « tuile 1 »</a:t>
              </a:r>
            </a:p>
          </p:txBody>
        </p:sp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9B0DDEE7-3945-4B13-DA51-8EA904D1425A}"/>
                </a:ext>
              </a:extLst>
            </p:cNvPr>
            <p:cNvSpPr txBox="1"/>
            <p:nvPr/>
          </p:nvSpPr>
          <p:spPr>
            <a:xfrm>
              <a:off x="4688332" y="3028886"/>
              <a:ext cx="12969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Résoudre les affrontements</a:t>
              </a:r>
            </a:p>
          </p:txBody>
        </p:sp>
        <p:grpSp>
          <p:nvGrpSpPr>
            <p:cNvPr id="56" name="Groupe 55">
              <a:extLst>
                <a:ext uri="{FF2B5EF4-FFF2-40B4-BE49-F238E27FC236}">
                  <a16:creationId xmlns:a16="http://schemas.microsoft.com/office/drawing/2014/main" id="{E52A12F8-E47E-F777-2CFA-005F63F6F493}"/>
                </a:ext>
              </a:extLst>
            </p:cNvPr>
            <p:cNvGrpSpPr/>
            <p:nvPr/>
          </p:nvGrpSpPr>
          <p:grpSpPr>
            <a:xfrm>
              <a:off x="5139974" y="4133226"/>
              <a:ext cx="368869" cy="390567"/>
              <a:chOff x="1576316" y="4917631"/>
              <a:chExt cx="722925" cy="765450"/>
            </a:xfrm>
          </p:grpSpPr>
          <p:sp>
            <p:nvSpPr>
              <p:cNvPr id="57" name="Hexagone 56">
                <a:extLst>
                  <a:ext uri="{FF2B5EF4-FFF2-40B4-BE49-F238E27FC236}">
                    <a16:creationId xmlns:a16="http://schemas.microsoft.com/office/drawing/2014/main" id="{5CB5B4A7-8BEF-ECB4-0BE4-758592A1FF89}"/>
                  </a:ext>
                </a:extLst>
              </p:cNvPr>
              <p:cNvSpPr/>
              <p:nvPr/>
            </p:nvSpPr>
            <p:spPr>
              <a:xfrm rot="5400000">
                <a:off x="1555054" y="4938893"/>
                <a:ext cx="765450" cy="722925"/>
              </a:xfrm>
              <a:prstGeom prst="hexagon">
                <a:avLst/>
              </a:prstGeom>
              <a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C9F1987B-7DC2-E7C3-FF7E-9181F00ACD8D}"/>
                  </a:ext>
                </a:extLst>
              </p:cNvPr>
              <p:cNvSpPr/>
              <p:nvPr/>
            </p:nvSpPr>
            <p:spPr>
              <a:xfrm>
                <a:off x="1848595" y="5261590"/>
                <a:ext cx="180000" cy="244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CE77DB77-28EF-B4F0-51A7-E81356B267AA}"/>
                  </a:ext>
                </a:extLst>
              </p:cNvPr>
              <p:cNvSpPr/>
              <p:nvPr/>
            </p:nvSpPr>
            <p:spPr>
              <a:xfrm>
                <a:off x="1844594" y="5078163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9340142E-2FF5-1D35-E10F-6D3C0AC98B1E}"/>
                </a:ext>
              </a:extLst>
            </p:cNvPr>
            <p:cNvGrpSpPr/>
            <p:nvPr/>
          </p:nvGrpSpPr>
          <p:grpSpPr>
            <a:xfrm>
              <a:off x="5616640" y="4127793"/>
              <a:ext cx="374000" cy="396000"/>
              <a:chOff x="3406027" y="4917631"/>
              <a:chExt cx="722925" cy="765450"/>
            </a:xfrm>
          </p:grpSpPr>
          <p:sp>
            <p:nvSpPr>
              <p:cNvPr id="61" name="Hexagone 60">
                <a:extLst>
                  <a:ext uri="{FF2B5EF4-FFF2-40B4-BE49-F238E27FC236}">
                    <a16:creationId xmlns:a16="http://schemas.microsoft.com/office/drawing/2014/main" id="{419AD93F-F968-4C56-2332-648F48A8E5C2}"/>
                  </a:ext>
                </a:extLst>
              </p:cNvPr>
              <p:cNvSpPr/>
              <p:nvPr/>
            </p:nvSpPr>
            <p:spPr>
              <a:xfrm rot="5400000">
                <a:off x="3384765" y="4938893"/>
                <a:ext cx="765450" cy="722925"/>
              </a:xfrm>
              <a:prstGeom prst="hexagon">
                <a:avLst/>
              </a:prstGeom>
              <a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F562136-2044-3F12-1755-2CF7B62FD4F2}"/>
                  </a:ext>
                </a:extLst>
              </p:cNvPr>
              <p:cNvSpPr/>
              <p:nvPr/>
            </p:nvSpPr>
            <p:spPr>
              <a:xfrm>
                <a:off x="3523264" y="5128839"/>
                <a:ext cx="180000" cy="34303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63" name="Graphique 62" descr="Pion avec un remplissage uni">
                <a:extLst>
                  <a:ext uri="{FF2B5EF4-FFF2-40B4-BE49-F238E27FC236}">
                    <a16:creationId xmlns:a16="http://schemas.microsoft.com/office/drawing/2014/main" id="{90ABDB38-0D8D-6C92-080D-BDAB9997DC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l="28037" t="14617" r="27500" b="15665"/>
              <a:stretch>
                <a:fillRect/>
              </a:stretch>
            </p:blipFill>
            <p:spPr>
              <a:xfrm>
                <a:off x="3776392" y="5105451"/>
                <a:ext cx="233683" cy="366420"/>
              </a:xfrm>
              <a:prstGeom prst="rect">
                <a:avLst/>
              </a:prstGeom>
            </p:spPr>
          </p:pic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16DAA2C-CD83-E755-30AB-55FBAECB7B23}"/>
                </a:ext>
              </a:extLst>
            </p:cNvPr>
            <p:cNvSpPr/>
            <p:nvPr/>
          </p:nvSpPr>
          <p:spPr>
            <a:xfrm>
              <a:off x="4559727" y="1304582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R2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4B22CD-3EF7-EA99-E821-5D11E675CDCE}"/>
                </a:ext>
              </a:extLst>
            </p:cNvPr>
            <p:cNvSpPr/>
            <p:nvPr/>
          </p:nvSpPr>
          <p:spPr>
            <a:xfrm>
              <a:off x="6251727" y="1304582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5F88823-F299-BF8F-F3CD-A7F502DA0718}"/>
                </a:ext>
              </a:extLst>
            </p:cNvPr>
            <p:cNvSpPr/>
            <p:nvPr/>
          </p:nvSpPr>
          <p:spPr>
            <a:xfrm>
              <a:off x="4991727" y="1303898"/>
              <a:ext cx="1260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</a:t>
              </a:r>
              <a:b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Troupes</a:t>
              </a:r>
            </a:p>
          </p:txBody>
        </p:sp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C8DF5F09-670C-BD26-1DE3-2563D8D9A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2454" y="2789636"/>
              <a:ext cx="540000" cy="540000"/>
            </a:xfrm>
            <a:prstGeom prst="rect">
              <a:avLst/>
            </a:prstGeom>
          </p:spPr>
        </p:pic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DAD352C7-A8F0-3ED6-78A8-D0A5EBF24402}"/>
              </a:ext>
            </a:extLst>
          </p:cNvPr>
          <p:cNvGrpSpPr/>
          <p:nvPr/>
        </p:nvGrpSpPr>
        <p:grpSpPr>
          <a:xfrm>
            <a:off x="7168616" y="1303898"/>
            <a:ext cx="2124000" cy="3312684"/>
            <a:chOff x="7168616" y="1303898"/>
            <a:chExt cx="2124000" cy="331268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A9F8B1C-A20E-542E-90CB-BEF0F402485C}"/>
                </a:ext>
              </a:extLst>
            </p:cNvPr>
            <p:cNvSpPr/>
            <p:nvPr/>
          </p:nvSpPr>
          <p:spPr>
            <a:xfrm>
              <a:off x="7168616" y="1304582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8" name="Cercle : creux 37">
              <a:extLst>
                <a:ext uri="{FF2B5EF4-FFF2-40B4-BE49-F238E27FC236}">
                  <a16:creationId xmlns:a16="http://schemas.microsoft.com/office/drawing/2014/main" id="{06916CA5-B8D4-9A47-C177-6806DA158CA0}"/>
                </a:ext>
              </a:extLst>
            </p:cNvPr>
            <p:cNvSpPr/>
            <p:nvPr/>
          </p:nvSpPr>
          <p:spPr>
            <a:xfrm>
              <a:off x="7280996" y="4143246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41" name="Hexagone 40">
              <a:extLst>
                <a:ext uri="{FF2B5EF4-FFF2-40B4-BE49-F238E27FC236}">
                  <a16:creationId xmlns:a16="http://schemas.microsoft.com/office/drawing/2014/main" id="{9E237A38-E74B-B9E9-4FB3-DAD15A4209F6}"/>
                </a:ext>
              </a:extLst>
            </p:cNvPr>
            <p:cNvSpPr/>
            <p:nvPr/>
          </p:nvSpPr>
          <p:spPr>
            <a:xfrm rot="5400000">
              <a:off x="8344170" y="3533443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FF88DA7F-4E32-F5C7-BC85-42A23FB940B0}"/>
                </a:ext>
              </a:extLst>
            </p:cNvPr>
            <p:cNvSpPr/>
            <p:nvPr/>
          </p:nvSpPr>
          <p:spPr>
            <a:xfrm>
              <a:off x="7654479" y="3533443"/>
              <a:ext cx="360000" cy="360000"/>
            </a:xfrm>
            <a:prstGeom prst="ellipse">
              <a:avLst/>
            </a:prstGeom>
            <a:blipFill>
              <a:blip r:embed="rId6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44" name="Connecteur droit avec flèche 43">
              <a:extLst>
                <a:ext uri="{FF2B5EF4-FFF2-40B4-BE49-F238E27FC236}">
                  <a16:creationId xmlns:a16="http://schemas.microsoft.com/office/drawing/2014/main" id="{30ACEF44-E39E-D138-7DA2-AA6296DA5628}"/>
                </a:ext>
              </a:extLst>
            </p:cNvPr>
            <p:cNvCxnSpPr>
              <a:cxnSpLocks/>
            </p:cNvCxnSpPr>
            <p:nvPr/>
          </p:nvCxnSpPr>
          <p:spPr>
            <a:xfrm>
              <a:off x="8056740" y="3713443"/>
              <a:ext cx="56863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657EE09D-D448-35F6-EE7B-4FEBFFCE0390}"/>
                </a:ext>
              </a:extLst>
            </p:cNvPr>
            <p:cNvSpPr txBox="1"/>
            <p:nvPr/>
          </p:nvSpPr>
          <p:spPr>
            <a:xfrm>
              <a:off x="7253489" y="1803584"/>
              <a:ext cx="1944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 1 troupe vers la tuile de commandement</a:t>
              </a:r>
            </a:p>
          </p:txBody>
        </p: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B615F9D0-788C-FD02-3C9B-C25A1BF530CD}"/>
                </a:ext>
              </a:extLst>
            </p:cNvPr>
            <p:cNvSpPr txBox="1"/>
            <p:nvPr/>
          </p:nvSpPr>
          <p:spPr>
            <a:xfrm>
              <a:off x="7280996" y="2480488"/>
              <a:ext cx="1944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Plus 1 troupe si c’est une « tuile 1 »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D51BDAAA-C84E-24EE-2344-660EED308BD1}"/>
                </a:ext>
              </a:extLst>
            </p:cNvPr>
            <p:cNvSpPr txBox="1"/>
            <p:nvPr/>
          </p:nvSpPr>
          <p:spPr>
            <a:xfrm>
              <a:off x="7280996" y="3034299"/>
              <a:ext cx="12969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Résoudre les affrontements</a:t>
              </a:r>
            </a:p>
          </p:txBody>
        </p:sp>
        <p:grpSp>
          <p:nvGrpSpPr>
            <p:cNvPr id="64" name="Groupe 63">
              <a:extLst>
                <a:ext uri="{FF2B5EF4-FFF2-40B4-BE49-F238E27FC236}">
                  <a16:creationId xmlns:a16="http://schemas.microsoft.com/office/drawing/2014/main" id="{107C3C1F-8253-2A3D-F4F1-1984362FA0B4}"/>
                </a:ext>
              </a:extLst>
            </p:cNvPr>
            <p:cNvGrpSpPr/>
            <p:nvPr/>
          </p:nvGrpSpPr>
          <p:grpSpPr>
            <a:xfrm>
              <a:off x="7753376" y="4133226"/>
              <a:ext cx="368869" cy="390567"/>
              <a:chOff x="1576316" y="4917631"/>
              <a:chExt cx="722925" cy="765450"/>
            </a:xfrm>
          </p:grpSpPr>
          <p:sp>
            <p:nvSpPr>
              <p:cNvPr id="65" name="Hexagone 64">
                <a:extLst>
                  <a:ext uri="{FF2B5EF4-FFF2-40B4-BE49-F238E27FC236}">
                    <a16:creationId xmlns:a16="http://schemas.microsoft.com/office/drawing/2014/main" id="{55B52D42-FFDC-D15F-DC4E-BD0532D6D10E}"/>
                  </a:ext>
                </a:extLst>
              </p:cNvPr>
              <p:cNvSpPr/>
              <p:nvPr/>
            </p:nvSpPr>
            <p:spPr>
              <a:xfrm rot="5400000">
                <a:off x="1555054" y="4938893"/>
                <a:ext cx="765450" cy="722925"/>
              </a:xfrm>
              <a:prstGeom prst="hexagon">
                <a:avLst/>
              </a:prstGeom>
              <a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C83D0FA3-C47D-C1D2-48A6-3A464D73538B}"/>
                  </a:ext>
                </a:extLst>
              </p:cNvPr>
              <p:cNvSpPr/>
              <p:nvPr/>
            </p:nvSpPr>
            <p:spPr>
              <a:xfrm>
                <a:off x="1848595" y="5261590"/>
                <a:ext cx="180000" cy="244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65390BDD-759C-8496-9925-9684BE9CEE12}"/>
                  </a:ext>
                </a:extLst>
              </p:cNvPr>
              <p:cNvSpPr/>
              <p:nvPr/>
            </p:nvSpPr>
            <p:spPr>
              <a:xfrm>
                <a:off x="1844594" y="5078163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68" name="Groupe 67">
              <a:extLst>
                <a:ext uri="{FF2B5EF4-FFF2-40B4-BE49-F238E27FC236}">
                  <a16:creationId xmlns:a16="http://schemas.microsoft.com/office/drawing/2014/main" id="{0CC465F8-2B6D-3176-54F0-F3F592751EC8}"/>
                </a:ext>
              </a:extLst>
            </p:cNvPr>
            <p:cNvGrpSpPr/>
            <p:nvPr/>
          </p:nvGrpSpPr>
          <p:grpSpPr>
            <a:xfrm>
              <a:off x="8230042" y="4127793"/>
              <a:ext cx="374000" cy="396000"/>
              <a:chOff x="3406027" y="4917631"/>
              <a:chExt cx="722925" cy="765450"/>
            </a:xfrm>
          </p:grpSpPr>
          <p:sp>
            <p:nvSpPr>
              <p:cNvPr id="69" name="Hexagone 68">
                <a:extLst>
                  <a:ext uri="{FF2B5EF4-FFF2-40B4-BE49-F238E27FC236}">
                    <a16:creationId xmlns:a16="http://schemas.microsoft.com/office/drawing/2014/main" id="{4A723AF5-DC67-CFA3-A01F-9E0C37BAF0C9}"/>
                  </a:ext>
                </a:extLst>
              </p:cNvPr>
              <p:cNvSpPr/>
              <p:nvPr/>
            </p:nvSpPr>
            <p:spPr>
              <a:xfrm rot="5400000">
                <a:off x="3384765" y="4938893"/>
                <a:ext cx="765450" cy="722925"/>
              </a:xfrm>
              <a:prstGeom prst="hexagon">
                <a:avLst/>
              </a:prstGeom>
              <a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534FF9F3-C36E-E973-CB5D-33DC259305B2}"/>
                  </a:ext>
                </a:extLst>
              </p:cNvPr>
              <p:cNvSpPr/>
              <p:nvPr/>
            </p:nvSpPr>
            <p:spPr>
              <a:xfrm>
                <a:off x="3523264" y="5128839"/>
                <a:ext cx="180000" cy="34303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71" name="Graphique 70" descr="Pion avec un remplissage uni">
                <a:extLst>
                  <a:ext uri="{FF2B5EF4-FFF2-40B4-BE49-F238E27FC236}">
                    <a16:creationId xmlns:a16="http://schemas.microsoft.com/office/drawing/2014/main" id="{5DFBF1D6-43FD-C491-E4B1-9AB250A55C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l="28037" t="14617" r="27500" b="15665"/>
              <a:stretch>
                <a:fillRect/>
              </a:stretch>
            </p:blipFill>
            <p:spPr>
              <a:xfrm>
                <a:off x="3776392" y="5105451"/>
                <a:ext cx="233683" cy="366420"/>
              </a:xfrm>
              <a:prstGeom prst="rect">
                <a:avLst/>
              </a:prstGeom>
            </p:spPr>
          </p:pic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F979AB5-D9AF-3E85-B46B-3BD42E68CA1A}"/>
                </a:ext>
              </a:extLst>
            </p:cNvPr>
            <p:cNvSpPr/>
            <p:nvPr/>
          </p:nvSpPr>
          <p:spPr>
            <a:xfrm>
              <a:off x="7168616" y="1303898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R1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B939236-3019-10D1-8103-880F5BB0912A}"/>
                </a:ext>
              </a:extLst>
            </p:cNvPr>
            <p:cNvSpPr/>
            <p:nvPr/>
          </p:nvSpPr>
          <p:spPr>
            <a:xfrm>
              <a:off x="8860616" y="1303898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R1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2BE3-3926-4B3A-D009-78F709479498}"/>
                </a:ext>
              </a:extLst>
            </p:cNvPr>
            <p:cNvSpPr/>
            <p:nvPr/>
          </p:nvSpPr>
          <p:spPr>
            <a:xfrm>
              <a:off x="7600616" y="1303898"/>
              <a:ext cx="1260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</a:t>
              </a:r>
              <a:b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Troupes</a:t>
              </a:r>
            </a:p>
          </p:txBody>
        </p:sp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C847F9CC-315B-83F8-B39E-140A000B4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04042" y="2754722"/>
              <a:ext cx="540000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597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FA150-B288-527E-EA9B-3E6C13560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>
            <a:extLst>
              <a:ext uri="{FF2B5EF4-FFF2-40B4-BE49-F238E27FC236}">
                <a16:creationId xmlns:a16="http://schemas.microsoft.com/office/drawing/2014/main" id="{26CB4421-58FE-89FB-402F-73CEAFF27C61}"/>
              </a:ext>
            </a:extLst>
          </p:cNvPr>
          <p:cNvGrpSpPr/>
          <p:nvPr/>
        </p:nvGrpSpPr>
        <p:grpSpPr>
          <a:xfrm>
            <a:off x="8284080" y="1428694"/>
            <a:ext cx="2124000" cy="3312600"/>
            <a:chOff x="4362394" y="1431551"/>
            <a:chExt cx="2124000" cy="33126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325A8D8-4011-8236-4757-3AD8260A9552}"/>
                </a:ext>
              </a:extLst>
            </p:cNvPr>
            <p:cNvSpPr/>
            <p:nvPr/>
          </p:nvSpPr>
          <p:spPr>
            <a:xfrm>
              <a:off x="4362394" y="1432151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8330C86-3525-0002-672B-49469C5CBEB6}"/>
                </a:ext>
              </a:extLst>
            </p:cNvPr>
            <p:cNvSpPr/>
            <p:nvPr/>
          </p:nvSpPr>
          <p:spPr>
            <a:xfrm>
              <a:off x="4794394" y="1431769"/>
              <a:ext cx="1260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Disperser Troupes</a:t>
              </a: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53251352-40F8-14E5-1B1B-4DD1CE6A699A}"/>
                </a:ext>
              </a:extLst>
            </p:cNvPr>
            <p:cNvSpPr txBox="1"/>
            <p:nvPr/>
          </p:nvSpPr>
          <p:spPr>
            <a:xfrm>
              <a:off x="4538247" y="1960994"/>
              <a:ext cx="184698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Disperser en ligne droite des troupes depuis la tuile de commandement</a:t>
              </a:r>
            </a:p>
          </p:txBody>
        </p:sp>
        <p:sp>
          <p:nvSpPr>
            <p:cNvPr id="48" name="Cercle : creux 47">
              <a:extLst>
                <a:ext uri="{FF2B5EF4-FFF2-40B4-BE49-F238E27FC236}">
                  <a16:creationId xmlns:a16="http://schemas.microsoft.com/office/drawing/2014/main" id="{F5B46887-41E9-93C6-3A4A-D733BC632515}"/>
                </a:ext>
              </a:extLst>
            </p:cNvPr>
            <p:cNvSpPr/>
            <p:nvPr/>
          </p:nvSpPr>
          <p:spPr>
            <a:xfrm>
              <a:off x="4424904" y="4295135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49" name="Hexagone 48">
              <a:extLst>
                <a:ext uri="{FF2B5EF4-FFF2-40B4-BE49-F238E27FC236}">
                  <a16:creationId xmlns:a16="http://schemas.microsoft.com/office/drawing/2014/main" id="{6AE4B8B7-4686-BC8B-745A-9B5495B24B27}"/>
                </a:ext>
              </a:extLst>
            </p:cNvPr>
            <p:cNvSpPr/>
            <p:nvPr/>
          </p:nvSpPr>
          <p:spPr>
            <a:xfrm rot="5400000">
              <a:off x="5847830" y="3509432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Hexagone 49">
              <a:extLst>
                <a:ext uri="{FF2B5EF4-FFF2-40B4-BE49-F238E27FC236}">
                  <a16:creationId xmlns:a16="http://schemas.microsoft.com/office/drawing/2014/main" id="{48D307BC-354D-25E4-09C3-2212251F5446}"/>
                </a:ext>
              </a:extLst>
            </p:cNvPr>
            <p:cNvSpPr/>
            <p:nvPr/>
          </p:nvSpPr>
          <p:spPr>
            <a:xfrm rot="5400000">
              <a:off x="5438555" y="3509432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Hexagone 50">
              <a:extLst>
                <a:ext uri="{FF2B5EF4-FFF2-40B4-BE49-F238E27FC236}">
                  <a16:creationId xmlns:a16="http://schemas.microsoft.com/office/drawing/2014/main" id="{4B667E88-3BA7-B2DD-8F9B-412AD42E1E30}"/>
                </a:ext>
              </a:extLst>
            </p:cNvPr>
            <p:cNvSpPr/>
            <p:nvPr/>
          </p:nvSpPr>
          <p:spPr>
            <a:xfrm rot="5400000">
              <a:off x="5029280" y="3519365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2" name="Hexagone 51">
              <a:extLst>
                <a:ext uri="{FF2B5EF4-FFF2-40B4-BE49-F238E27FC236}">
                  <a16:creationId xmlns:a16="http://schemas.microsoft.com/office/drawing/2014/main" id="{A38D3CD1-E5EF-8A0C-45ED-C28D61F8955C}"/>
                </a:ext>
              </a:extLst>
            </p:cNvPr>
            <p:cNvSpPr/>
            <p:nvPr/>
          </p:nvSpPr>
          <p:spPr>
            <a:xfrm rot="5400000">
              <a:off x="4615777" y="3519365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3" name="Connecteur droit avec flèche 52">
              <a:extLst>
                <a:ext uri="{FF2B5EF4-FFF2-40B4-BE49-F238E27FC236}">
                  <a16:creationId xmlns:a16="http://schemas.microsoft.com/office/drawing/2014/main" id="{8BC05BF7-B0A0-0FB0-15BA-97A497CA0932}"/>
                </a:ext>
              </a:extLst>
            </p:cNvPr>
            <p:cNvCxnSpPr>
              <a:cxnSpLocks/>
            </p:cNvCxnSpPr>
            <p:nvPr/>
          </p:nvCxnSpPr>
          <p:spPr>
            <a:xfrm>
              <a:off x="4833677" y="3693406"/>
              <a:ext cx="1269309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Connecteur droit avec flèche 53">
              <a:extLst>
                <a:ext uri="{FF2B5EF4-FFF2-40B4-BE49-F238E27FC236}">
                  <a16:creationId xmlns:a16="http://schemas.microsoft.com/office/drawing/2014/main" id="{EC524240-EF93-4B38-B86B-0994DC36CBB2}"/>
                </a:ext>
              </a:extLst>
            </p:cNvPr>
            <p:cNvCxnSpPr>
              <a:cxnSpLocks/>
            </p:cNvCxnSpPr>
            <p:nvPr/>
          </p:nvCxnSpPr>
          <p:spPr>
            <a:xfrm>
              <a:off x="4835599" y="3696492"/>
              <a:ext cx="898091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Connecteur droit avec flèche 54">
              <a:extLst>
                <a:ext uri="{FF2B5EF4-FFF2-40B4-BE49-F238E27FC236}">
                  <a16:creationId xmlns:a16="http://schemas.microsoft.com/office/drawing/2014/main" id="{A1C2A552-4B0E-A298-F11E-6E3DB04D974A}"/>
                </a:ext>
              </a:extLst>
            </p:cNvPr>
            <p:cNvCxnSpPr>
              <a:cxnSpLocks/>
            </p:cNvCxnSpPr>
            <p:nvPr/>
          </p:nvCxnSpPr>
          <p:spPr>
            <a:xfrm>
              <a:off x="4835599" y="3696492"/>
              <a:ext cx="498112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834CF479-1635-28B6-A4BF-45B7CABD5AB6}"/>
                </a:ext>
              </a:extLst>
            </p:cNvPr>
            <p:cNvSpPr/>
            <p:nvPr/>
          </p:nvSpPr>
          <p:spPr>
            <a:xfrm>
              <a:off x="4723777" y="3612492"/>
              <a:ext cx="180000" cy="180000"/>
            </a:xfrm>
            <a:prstGeom prst="ellipse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95A559DA-AF17-835F-6BE4-30698AC8DD4C}"/>
                </a:ext>
              </a:extLst>
            </p:cNvPr>
            <p:cNvSpPr txBox="1"/>
            <p:nvPr/>
          </p:nvSpPr>
          <p:spPr>
            <a:xfrm>
              <a:off x="4556364" y="2810665"/>
              <a:ext cx="12969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Résoudre les affrontements</a:t>
              </a:r>
            </a:p>
          </p:txBody>
        </p:sp>
        <p:sp>
          <p:nvSpPr>
            <p:cNvPr id="30" name="Hexagone 29">
              <a:extLst>
                <a:ext uri="{FF2B5EF4-FFF2-40B4-BE49-F238E27FC236}">
                  <a16:creationId xmlns:a16="http://schemas.microsoft.com/office/drawing/2014/main" id="{42F8024E-6901-AB49-4B25-F14A0BA800E4}"/>
                </a:ext>
              </a:extLst>
            </p:cNvPr>
            <p:cNvSpPr/>
            <p:nvPr/>
          </p:nvSpPr>
          <p:spPr>
            <a:xfrm rot="5400000">
              <a:off x="4842650" y="4286159"/>
              <a:ext cx="390567" cy="368869"/>
            </a:xfrm>
            <a:prstGeom prst="hexagon">
              <a:avLst/>
            </a:prstGeom>
            <a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53C0AAA-39C0-83F6-B5EF-B1A64000B3D6}"/>
                </a:ext>
              </a:extLst>
            </p:cNvPr>
            <p:cNvSpPr/>
            <p:nvPr/>
          </p:nvSpPr>
          <p:spPr>
            <a:xfrm>
              <a:off x="4992428" y="4450813"/>
              <a:ext cx="91844" cy="12498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D17F4652-374E-ABAE-7E4A-0C22DF72FE48}"/>
                </a:ext>
              </a:extLst>
            </p:cNvPr>
            <p:cNvSpPr/>
            <p:nvPr/>
          </p:nvSpPr>
          <p:spPr>
            <a:xfrm>
              <a:off x="4990387" y="4357221"/>
              <a:ext cx="91844" cy="9184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80" name="Groupe 79">
              <a:extLst>
                <a:ext uri="{FF2B5EF4-FFF2-40B4-BE49-F238E27FC236}">
                  <a16:creationId xmlns:a16="http://schemas.microsoft.com/office/drawing/2014/main" id="{0919D906-8720-A2B4-36E9-45100155B266}"/>
                </a:ext>
              </a:extLst>
            </p:cNvPr>
            <p:cNvGrpSpPr/>
            <p:nvPr/>
          </p:nvGrpSpPr>
          <p:grpSpPr>
            <a:xfrm>
              <a:off x="5288677" y="4280401"/>
              <a:ext cx="373999" cy="396000"/>
              <a:chOff x="5288677" y="4280401"/>
              <a:chExt cx="373999" cy="396000"/>
            </a:xfrm>
          </p:grpSpPr>
          <p:sp>
            <p:nvSpPr>
              <p:cNvPr id="34" name="Hexagone 33">
                <a:extLst>
                  <a:ext uri="{FF2B5EF4-FFF2-40B4-BE49-F238E27FC236}">
                    <a16:creationId xmlns:a16="http://schemas.microsoft.com/office/drawing/2014/main" id="{F51178B6-7656-7E78-65DD-FF56CA9F7AD1}"/>
                  </a:ext>
                </a:extLst>
              </p:cNvPr>
              <p:cNvSpPr/>
              <p:nvPr/>
            </p:nvSpPr>
            <p:spPr>
              <a:xfrm rot="5400000">
                <a:off x="5277677" y="4291401"/>
                <a:ext cx="396000" cy="373999"/>
              </a:xfrm>
              <a:prstGeom prst="hexagon">
                <a:avLst/>
              </a:prstGeom>
              <a:blipFill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B293594-60F7-498A-6DB4-56A43EE6D318}"/>
                  </a:ext>
                </a:extLst>
              </p:cNvPr>
              <p:cNvSpPr/>
              <p:nvPr/>
            </p:nvSpPr>
            <p:spPr>
              <a:xfrm>
                <a:off x="5418618" y="4389668"/>
                <a:ext cx="93121" cy="1774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7" name="Hexagone 36">
              <a:extLst>
                <a:ext uri="{FF2B5EF4-FFF2-40B4-BE49-F238E27FC236}">
                  <a16:creationId xmlns:a16="http://schemas.microsoft.com/office/drawing/2014/main" id="{59FDABE4-AA64-B27F-EBDC-86204FF99826}"/>
                </a:ext>
              </a:extLst>
            </p:cNvPr>
            <p:cNvSpPr/>
            <p:nvPr/>
          </p:nvSpPr>
          <p:spPr>
            <a:xfrm rot="5400000">
              <a:off x="5717986" y="4286310"/>
              <a:ext cx="396000" cy="374000"/>
            </a:xfrm>
            <a:prstGeom prst="hexagon">
              <a:avLst/>
            </a:prstGeom>
            <a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809EE03-A630-D067-3853-85819DDE1B06}"/>
                </a:ext>
              </a:extLst>
            </p:cNvPr>
            <p:cNvSpPr/>
            <p:nvPr/>
          </p:nvSpPr>
          <p:spPr>
            <a:xfrm>
              <a:off x="5789638" y="4384577"/>
              <a:ext cx="93122" cy="17746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9" name="Graphique 38" descr="Pion avec un remplissage uni">
              <a:extLst>
                <a:ext uri="{FF2B5EF4-FFF2-40B4-BE49-F238E27FC236}">
                  <a16:creationId xmlns:a16="http://schemas.microsoft.com/office/drawing/2014/main" id="{C5E19D46-1C7C-A9C8-F222-A9646E1B06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l="28037" t="14617" r="27500" b="15665"/>
            <a:stretch>
              <a:fillRect/>
            </a:stretch>
          </p:blipFill>
          <p:spPr>
            <a:xfrm>
              <a:off x="5920592" y="4372477"/>
              <a:ext cx="120894" cy="18956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D437FFF-9FC5-0FFB-1C94-C15A8E9FB696}"/>
                </a:ext>
              </a:extLst>
            </p:cNvPr>
            <p:cNvSpPr/>
            <p:nvPr/>
          </p:nvSpPr>
          <p:spPr>
            <a:xfrm>
              <a:off x="4362394" y="1431551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7E75A87-FDB4-8719-D252-6A2882319B1A}"/>
                </a:ext>
              </a:extLst>
            </p:cNvPr>
            <p:cNvSpPr/>
            <p:nvPr/>
          </p:nvSpPr>
          <p:spPr>
            <a:xfrm>
              <a:off x="6054394" y="1432769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</a:t>
              </a:r>
            </a:p>
          </p:txBody>
        </p:sp>
        <p:pic>
          <p:nvPicPr>
            <p:cNvPr id="2" name="Image 1">
              <a:extLst>
                <a:ext uri="{FF2B5EF4-FFF2-40B4-BE49-F238E27FC236}">
                  <a16:creationId xmlns:a16="http://schemas.microsoft.com/office/drawing/2014/main" id="{DB7CB790-A06D-1B7A-B2B7-D32D6EA61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6000" y="2601711"/>
              <a:ext cx="540000" cy="540000"/>
            </a:xfrm>
            <a:prstGeom prst="rect">
              <a:avLst/>
            </a:prstGeom>
          </p:spPr>
        </p:pic>
      </p:grp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00830897-E65E-2748-86FD-61EECF9763D9}"/>
              </a:ext>
            </a:extLst>
          </p:cNvPr>
          <p:cNvGrpSpPr/>
          <p:nvPr/>
        </p:nvGrpSpPr>
        <p:grpSpPr>
          <a:xfrm>
            <a:off x="5725584" y="1428972"/>
            <a:ext cx="2124000" cy="3312643"/>
            <a:chOff x="5724348" y="1377054"/>
            <a:chExt cx="2124000" cy="3312643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D014329-7318-8A4B-291A-0FE8B4FF3B42}"/>
                </a:ext>
              </a:extLst>
            </p:cNvPr>
            <p:cNvSpPr/>
            <p:nvPr/>
          </p:nvSpPr>
          <p:spPr>
            <a:xfrm>
              <a:off x="5724348" y="1377697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334E537-D0F4-69CA-B90F-A71EE9B1F3CB}"/>
                </a:ext>
              </a:extLst>
            </p:cNvPr>
            <p:cNvSpPr/>
            <p:nvPr/>
          </p:nvSpPr>
          <p:spPr>
            <a:xfrm>
              <a:off x="6156348" y="1377054"/>
              <a:ext cx="1260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Concentrer Troupes</a:t>
              </a:r>
            </a:p>
          </p:txBody>
        </p:sp>
        <p:sp>
          <p:nvSpPr>
            <p:cNvPr id="61" name="Cercle : creux 60">
              <a:extLst>
                <a:ext uri="{FF2B5EF4-FFF2-40B4-BE49-F238E27FC236}">
                  <a16:creationId xmlns:a16="http://schemas.microsoft.com/office/drawing/2014/main" id="{51C4A71E-67C1-2EB5-AACF-81CCD9BC4828}"/>
                </a:ext>
              </a:extLst>
            </p:cNvPr>
            <p:cNvSpPr/>
            <p:nvPr/>
          </p:nvSpPr>
          <p:spPr>
            <a:xfrm>
              <a:off x="5816649" y="4156265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62" name="Hexagone 61">
              <a:extLst>
                <a:ext uri="{FF2B5EF4-FFF2-40B4-BE49-F238E27FC236}">
                  <a16:creationId xmlns:a16="http://schemas.microsoft.com/office/drawing/2014/main" id="{60BD2CF4-B6BA-F87B-3C47-CB72D03D2338}"/>
                </a:ext>
              </a:extLst>
            </p:cNvPr>
            <p:cNvSpPr/>
            <p:nvPr/>
          </p:nvSpPr>
          <p:spPr>
            <a:xfrm rot="5400000">
              <a:off x="7166197" y="3393894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3" name="Hexagone 62">
              <a:extLst>
                <a:ext uri="{FF2B5EF4-FFF2-40B4-BE49-F238E27FC236}">
                  <a16:creationId xmlns:a16="http://schemas.microsoft.com/office/drawing/2014/main" id="{96784DF9-48D1-6F6A-3F90-018B253C7147}"/>
                </a:ext>
              </a:extLst>
            </p:cNvPr>
            <p:cNvSpPr/>
            <p:nvPr/>
          </p:nvSpPr>
          <p:spPr>
            <a:xfrm rot="5400000">
              <a:off x="6756922" y="3393894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4" name="Hexagone 63">
              <a:extLst>
                <a:ext uri="{FF2B5EF4-FFF2-40B4-BE49-F238E27FC236}">
                  <a16:creationId xmlns:a16="http://schemas.microsoft.com/office/drawing/2014/main" id="{7FDA7CD6-CD07-3C5A-3099-5CF75CDA7B25}"/>
                </a:ext>
              </a:extLst>
            </p:cNvPr>
            <p:cNvSpPr/>
            <p:nvPr/>
          </p:nvSpPr>
          <p:spPr>
            <a:xfrm rot="5400000">
              <a:off x="6347647" y="3403827"/>
              <a:ext cx="396000" cy="360000"/>
            </a:xfrm>
            <a:prstGeom prst="hexagon">
              <a:avLst/>
            </a:prstGeom>
            <a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5" name="Hexagone 64">
              <a:extLst>
                <a:ext uri="{FF2B5EF4-FFF2-40B4-BE49-F238E27FC236}">
                  <a16:creationId xmlns:a16="http://schemas.microsoft.com/office/drawing/2014/main" id="{75663EA3-A954-21DD-B683-803F20FD8A0F}"/>
                </a:ext>
              </a:extLst>
            </p:cNvPr>
            <p:cNvSpPr/>
            <p:nvPr/>
          </p:nvSpPr>
          <p:spPr>
            <a:xfrm rot="5400000">
              <a:off x="5934144" y="3403827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66" name="Connecteur droit avec flèche 65">
              <a:extLst>
                <a:ext uri="{FF2B5EF4-FFF2-40B4-BE49-F238E27FC236}">
                  <a16:creationId xmlns:a16="http://schemas.microsoft.com/office/drawing/2014/main" id="{31B5DD78-B6E1-1190-8FE9-BD9A1AC2F2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51472" y="3577868"/>
              <a:ext cx="130358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Ellipse 66">
              <a:extLst>
                <a:ext uri="{FF2B5EF4-FFF2-40B4-BE49-F238E27FC236}">
                  <a16:creationId xmlns:a16="http://schemas.microsoft.com/office/drawing/2014/main" id="{4D3D0DBB-DA4A-8EBC-B268-78E347388961}"/>
                </a:ext>
              </a:extLst>
            </p:cNvPr>
            <p:cNvSpPr/>
            <p:nvPr/>
          </p:nvSpPr>
          <p:spPr>
            <a:xfrm>
              <a:off x="6455647" y="3493827"/>
              <a:ext cx="180000" cy="180000"/>
            </a:xfrm>
            <a:prstGeom prst="ellipse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18B36D73-7D03-D5D1-A7E9-F9FB5F7C5906}"/>
                </a:ext>
              </a:extLst>
            </p:cNvPr>
            <p:cNvSpPr/>
            <p:nvPr/>
          </p:nvSpPr>
          <p:spPr>
            <a:xfrm>
              <a:off x="6864533" y="3493827"/>
              <a:ext cx="180000" cy="180000"/>
            </a:xfrm>
            <a:prstGeom prst="ellipse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AF327A05-7670-7D61-58E2-9F70D191F265}"/>
                </a:ext>
              </a:extLst>
            </p:cNvPr>
            <p:cNvSpPr/>
            <p:nvPr/>
          </p:nvSpPr>
          <p:spPr>
            <a:xfrm>
              <a:off x="7274014" y="3483894"/>
              <a:ext cx="180000" cy="180000"/>
            </a:xfrm>
            <a:prstGeom prst="ellipse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2ACE8A80-0F24-E46C-FD89-9DEA0F64B468}"/>
                </a:ext>
              </a:extLst>
            </p:cNvPr>
            <p:cNvSpPr txBox="1"/>
            <p:nvPr/>
          </p:nvSpPr>
          <p:spPr>
            <a:xfrm>
              <a:off x="5869699" y="1879795"/>
              <a:ext cx="184698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Concentrer en ligne droite des troupes vers la tuile de commandement</a:t>
              </a:r>
            </a:p>
          </p:txBody>
        </p:sp>
        <p:sp>
          <p:nvSpPr>
            <p:cNvPr id="71" name="ZoneTexte 70">
              <a:extLst>
                <a:ext uri="{FF2B5EF4-FFF2-40B4-BE49-F238E27FC236}">
                  <a16:creationId xmlns:a16="http://schemas.microsoft.com/office/drawing/2014/main" id="{1E9BBF6F-7651-A79A-0D5C-F3870F478FEA}"/>
                </a:ext>
              </a:extLst>
            </p:cNvPr>
            <p:cNvSpPr txBox="1"/>
            <p:nvPr/>
          </p:nvSpPr>
          <p:spPr>
            <a:xfrm>
              <a:off x="5869699" y="2747790"/>
              <a:ext cx="12605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Résoudre les affrontements</a:t>
              </a:r>
            </a:p>
          </p:txBody>
        </p:sp>
        <p:grpSp>
          <p:nvGrpSpPr>
            <p:cNvPr id="79" name="Groupe 78">
              <a:extLst>
                <a:ext uri="{FF2B5EF4-FFF2-40B4-BE49-F238E27FC236}">
                  <a16:creationId xmlns:a16="http://schemas.microsoft.com/office/drawing/2014/main" id="{AB7F8C8B-ED0F-00FC-13D0-F74072C22F01}"/>
                </a:ext>
              </a:extLst>
            </p:cNvPr>
            <p:cNvGrpSpPr/>
            <p:nvPr/>
          </p:nvGrpSpPr>
          <p:grpSpPr>
            <a:xfrm>
              <a:off x="6264547" y="4140656"/>
              <a:ext cx="368869" cy="390567"/>
              <a:chOff x="7775361" y="4195110"/>
              <a:chExt cx="368869" cy="390567"/>
            </a:xfrm>
          </p:grpSpPr>
          <p:sp>
            <p:nvSpPr>
              <p:cNvPr id="41" name="Hexagone 40">
                <a:extLst>
                  <a:ext uri="{FF2B5EF4-FFF2-40B4-BE49-F238E27FC236}">
                    <a16:creationId xmlns:a16="http://schemas.microsoft.com/office/drawing/2014/main" id="{776C087A-A84C-3F9B-B788-15C3F262BB2A}"/>
                  </a:ext>
                </a:extLst>
              </p:cNvPr>
              <p:cNvSpPr/>
              <p:nvPr/>
            </p:nvSpPr>
            <p:spPr>
              <a:xfrm rot="5400000">
                <a:off x="7764512" y="4205959"/>
                <a:ext cx="390567" cy="368869"/>
              </a:xfrm>
              <a:prstGeom prst="hexagon">
                <a:avLst/>
              </a:prstGeom>
              <a:blipFill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D3C72EF-870E-5CC3-FFA8-8B88623A4C99}"/>
                  </a:ext>
                </a:extLst>
              </p:cNvPr>
              <p:cNvSpPr/>
              <p:nvPr/>
            </p:nvSpPr>
            <p:spPr>
              <a:xfrm>
                <a:off x="7914290" y="4370613"/>
                <a:ext cx="91844" cy="12498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8F0FC0BD-AD2E-A812-BD40-12D010FE0AED}"/>
                  </a:ext>
                </a:extLst>
              </p:cNvPr>
              <p:cNvSpPr/>
              <p:nvPr/>
            </p:nvSpPr>
            <p:spPr>
              <a:xfrm>
                <a:off x="7912249" y="4277021"/>
                <a:ext cx="91844" cy="9184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78" name="Groupe 77">
              <a:extLst>
                <a:ext uri="{FF2B5EF4-FFF2-40B4-BE49-F238E27FC236}">
                  <a16:creationId xmlns:a16="http://schemas.microsoft.com/office/drawing/2014/main" id="{943F955C-997E-736D-31BF-02E5C3128DF7}"/>
                </a:ext>
              </a:extLst>
            </p:cNvPr>
            <p:cNvGrpSpPr/>
            <p:nvPr/>
          </p:nvGrpSpPr>
          <p:grpSpPr>
            <a:xfrm>
              <a:off x="6716978" y="4142927"/>
              <a:ext cx="373999" cy="396000"/>
              <a:chOff x="8227792" y="4197381"/>
              <a:chExt cx="373999" cy="396000"/>
            </a:xfrm>
          </p:grpSpPr>
          <p:sp>
            <p:nvSpPr>
              <p:cNvPr id="45" name="Hexagone 44">
                <a:extLst>
                  <a:ext uri="{FF2B5EF4-FFF2-40B4-BE49-F238E27FC236}">
                    <a16:creationId xmlns:a16="http://schemas.microsoft.com/office/drawing/2014/main" id="{666832B1-A180-8C90-7DFA-A8BEC204137C}"/>
                  </a:ext>
                </a:extLst>
              </p:cNvPr>
              <p:cNvSpPr/>
              <p:nvPr/>
            </p:nvSpPr>
            <p:spPr>
              <a:xfrm rot="5400000">
                <a:off x="8216792" y="4208381"/>
                <a:ext cx="396000" cy="373999"/>
              </a:xfrm>
              <a:prstGeom prst="hexagon">
                <a:avLst/>
              </a:prstGeom>
              <a:blipFill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E92D8547-0908-94A0-3776-4134684E426C}"/>
                  </a:ext>
                </a:extLst>
              </p:cNvPr>
              <p:cNvSpPr/>
              <p:nvPr/>
            </p:nvSpPr>
            <p:spPr>
              <a:xfrm>
                <a:off x="8357733" y="4306648"/>
                <a:ext cx="93121" cy="1774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77" name="Groupe 76">
              <a:extLst>
                <a:ext uri="{FF2B5EF4-FFF2-40B4-BE49-F238E27FC236}">
                  <a16:creationId xmlns:a16="http://schemas.microsoft.com/office/drawing/2014/main" id="{63A63271-D7A3-10B4-DB32-F0BD4ECC6ACD}"/>
                </a:ext>
              </a:extLst>
            </p:cNvPr>
            <p:cNvGrpSpPr/>
            <p:nvPr/>
          </p:nvGrpSpPr>
          <p:grpSpPr>
            <a:xfrm>
              <a:off x="7169923" y="4145902"/>
              <a:ext cx="374000" cy="396000"/>
              <a:chOff x="8680737" y="4200356"/>
              <a:chExt cx="374000" cy="396000"/>
            </a:xfrm>
          </p:grpSpPr>
          <p:sp>
            <p:nvSpPr>
              <p:cNvPr id="72" name="Hexagone 71">
                <a:extLst>
                  <a:ext uri="{FF2B5EF4-FFF2-40B4-BE49-F238E27FC236}">
                    <a16:creationId xmlns:a16="http://schemas.microsoft.com/office/drawing/2014/main" id="{DAC8BBE5-9354-7816-10D3-82D7D7D50FA2}"/>
                  </a:ext>
                </a:extLst>
              </p:cNvPr>
              <p:cNvSpPr/>
              <p:nvPr/>
            </p:nvSpPr>
            <p:spPr>
              <a:xfrm rot="5400000">
                <a:off x="8669737" y="4211356"/>
                <a:ext cx="396000" cy="374000"/>
              </a:xfrm>
              <a:prstGeom prst="hexagon">
                <a:avLst/>
              </a:prstGeom>
              <a:blipFill>
                <a:blip r:embed="rId9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artisticGlass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870AC1C4-F325-2DDA-C440-97005AEBFC58}"/>
                  </a:ext>
                </a:extLst>
              </p:cNvPr>
              <p:cNvSpPr/>
              <p:nvPr/>
            </p:nvSpPr>
            <p:spPr>
              <a:xfrm>
                <a:off x="8741389" y="4309623"/>
                <a:ext cx="93122" cy="1774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74" name="Graphique 73" descr="Pion avec un remplissage uni">
                <a:extLst>
                  <a:ext uri="{FF2B5EF4-FFF2-40B4-BE49-F238E27FC236}">
                    <a16:creationId xmlns:a16="http://schemas.microsoft.com/office/drawing/2014/main" id="{DC44AD6F-D4ED-D337-444A-9F237DC8F5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 l="28037" t="14617" r="27500" b="15665"/>
              <a:stretch>
                <a:fillRect/>
              </a:stretch>
            </p:blipFill>
            <p:spPr>
              <a:xfrm>
                <a:off x="8872343" y="4297523"/>
                <a:ext cx="120894" cy="189565"/>
              </a:xfrm>
              <a:prstGeom prst="rect">
                <a:avLst/>
              </a:prstGeom>
            </p:spPr>
          </p:pic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7CF0FEA-E43F-CCA5-8560-621BF7909398}"/>
                </a:ext>
              </a:extLst>
            </p:cNvPr>
            <p:cNvSpPr/>
            <p:nvPr/>
          </p:nvSpPr>
          <p:spPr>
            <a:xfrm>
              <a:off x="5724348" y="1378288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EBFAF13-BD55-6A03-E8D3-133B2EFC26E3}"/>
                </a:ext>
              </a:extLst>
            </p:cNvPr>
            <p:cNvSpPr/>
            <p:nvPr/>
          </p:nvSpPr>
          <p:spPr>
            <a:xfrm>
              <a:off x="7416348" y="1377054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</a:t>
              </a:r>
            </a:p>
          </p:txBody>
        </p:sp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3344278A-54FC-6AFF-E07E-49030D4ED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8214" y="2518907"/>
              <a:ext cx="540000" cy="540000"/>
            </a:xfrm>
            <a:prstGeom prst="rect">
              <a:avLst/>
            </a:prstGeom>
          </p:spPr>
        </p:pic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21A0E50-51D0-10A6-9B45-E9366FE3269F}"/>
              </a:ext>
            </a:extLst>
          </p:cNvPr>
          <p:cNvGrpSpPr/>
          <p:nvPr/>
        </p:nvGrpSpPr>
        <p:grpSpPr>
          <a:xfrm>
            <a:off x="583316" y="1428694"/>
            <a:ext cx="2124887" cy="3312766"/>
            <a:chOff x="1537763" y="1464756"/>
            <a:chExt cx="2124887" cy="3312766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4E5B47C-2EF9-89AC-F731-DD6CB8B619DF}"/>
                </a:ext>
              </a:extLst>
            </p:cNvPr>
            <p:cNvSpPr/>
            <p:nvPr/>
          </p:nvSpPr>
          <p:spPr>
            <a:xfrm>
              <a:off x="1537763" y="1465522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371948D6-45CF-6980-CCC9-79FC16314AE7}"/>
                </a:ext>
              </a:extLst>
            </p:cNvPr>
            <p:cNvSpPr/>
            <p:nvPr/>
          </p:nvSpPr>
          <p:spPr>
            <a:xfrm>
              <a:off x="1969764" y="1464756"/>
              <a:ext cx="1259999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Construire donjon</a:t>
              </a:r>
            </a:p>
          </p:txBody>
        </p:sp>
        <p:sp>
          <p:nvSpPr>
            <p:cNvPr id="88" name="Cercle : creux 87">
              <a:extLst>
                <a:ext uri="{FF2B5EF4-FFF2-40B4-BE49-F238E27FC236}">
                  <a16:creationId xmlns:a16="http://schemas.microsoft.com/office/drawing/2014/main" id="{083AAB54-2D50-7886-D049-84B2430A33A2}"/>
                </a:ext>
              </a:extLst>
            </p:cNvPr>
            <p:cNvSpPr/>
            <p:nvPr/>
          </p:nvSpPr>
          <p:spPr>
            <a:xfrm>
              <a:off x="1640654" y="4297549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89" name="Hexagone 88">
              <a:extLst>
                <a:ext uri="{FF2B5EF4-FFF2-40B4-BE49-F238E27FC236}">
                  <a16:creationId xmlns:a16="http://schemas.microsoft.com/office/drawing/2014/main" id="{64DD3239-986E-50CD-B1CF-21E5A6A8394C}"/>
                </a:ext>
              </a:extLst>
            </p:cNvPr>
            <p:cNvSpPr/>
            <p:nvPr/>
          </p:nvSpPr>
          <p:spPr>
            <a:xfrm rot="5400000">
              <a:off x="1755725" y="3320523"/>
              <a:ext cx="648000" cy="612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92AD6DEC-A3F1-4FA6-CA5A-2E9C8BCBFBE3}"/>
                </a:ext>
              </a:extLst>
            </p:cNvPr>
            <p:cNvSpPr/>
            <p:nvPr/>
          </p:nvSpPr>
          <p:spPr>
            <a:xfrm>
              <a:off x="1989725" y="3391444"/>
              <a:ext cx="180000" cy="180000"/>
            </a:xfrm>
            <a:prstGeom prst="ellipse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1" name="Ellipse 90">
              <a:extLst>
                <a:ext uri="{FF2B5EF4-FFF2-40B4-BE49-F238E27FC236}">
                  <a16:creationId xmlns:a16="http://schemas.microsoft.com/office/drawing/2014/main" id="{5C68161E-7F59-9AC8-44AA-374BE2A11AEF}"/>
                </a:ext>
              </a:extLst>
            </p:cNvPr>
            <p:cNvSpPr/>
            <p:nvPr/>
          </p:nvSpPr>
          <p:spPr>
            <a:xfrm>
              <a:off x="2119242" y="3610970"/>
              <a:ext cx="180000" cy="180000"/>
            </a:xfrm>
            <a:prstGeom prst="ellipse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A4E33891-1EE5-37D8-B485-109AA56F6B98}"/>
                </a:ext>
              </a:extLst>
            </p:cNvPr>
            <p:cNvSpPr/>
            <p:nvPr/>
          </p:nvSpPr>
          <p:spPr>
            <a:xfrm>
              <a:off x="1848595" y="3605466"/>
              <a:ext cx="180000" cy="180000"/>
            </a:xfrm>
            <a:prstGeom prst="ellipse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3" name="Hexagone 92">
              <a:extLst>
                <a:ext uri="{FF2B5EF4-FFF2-40B4-BE49-F238E27FC236}">
                  <a16:creationId xmlns:a16="http://schemas.microsoft.com/office/drawing/2014/main" id="{919BB814-7094-E3A0-B787-C9F98EFC1CCB}"/>
                </a:ext>
              </a:extLst>
            </p:cNvPr>
            <p:cNvSpPr/>
            <p:nvPr/>
          </p:nvSpPr>
          <p:spPr>
            <a:xfrm rot="5400000">
              <a:off x="2814838" y="3321356"/>
              <a:ext cx="648000" cy="612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3D6D6F8-EDD7-5FBF-5A28-7D7A39D31B49}"/>
                </a:ext>
              </a:extLst>
            </p:cNvPr>
            <p:cNvSpPr/>
            <p:nvPr/>
          </p:nvSpPr>
          <p:spPr>
            <a:xfrm>
              <a:off x="3059451" y="3433495"/>
              <a:ext cx="180000" cy="360000"/>
            </a:xfrm>
            <a:prstGeom prst="rect">
              <a:avLst/>
            </a:prstGeom>
            <a:blipFill>
              <a:blip r:embed="rId8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5" name="ZoneTexte 94">
              <a:extLst>
                <a:ext uri="{FF2B5EF4-FFF2-40B4-BE49-F238E27FC236}">
                  <a16:creationId xmlns:a16="http://schemas.microsoft.com/office/drawing/2014/main" id="{AA03724E-9EEB-1F4F-5B83-18D8579C4464}"/>
                </a:ext>
              </a:extLst>
            </p:cNvPr>
            <p:cNvSpPr txBox="1"/>
            <p:nvPr/>
          </p:nvSpPr>
          <p:spPr>
            <a:xfrm>
              <a:off x="1607355" y="1968526"/>
              <a:ext cx="16129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Défausser 3 troupes de la Tuile de Commandement vers le Cimetière pour y placer un Donjon</a:t>
              </a:r>
            </a:p>
          </p:txBody>
        </p:sp>
        <p:cxnSp>
          <p:nvCxnSpPr>
            <p:cNvPr id="96" name="Connecteur droit avec flèche 95">
              <a:extLst>
                <a:ext uri="{FF2B5EF4-FFF2-40B4-BE49-F238E27FC236}">
                  <a16:creationId xmlns:a16="http://schemas.microsoft.com/office/drawing/2014/main" id="{BC19A915-4C84-F4C5-79D2-DA15D82A8611}"/>
                </a:ext>
              </a:extLst>
            </p:cNvPr>
            <p:cNvCxnSpPr>
              <a:cxnSpLocks/>
            </p:cNvCxnSpPr>
            <p:nvPr/>
          </p:nvCxnSpPr>
          <p:spPr>
            <a:xfrm>
              <a:off x="2476114" y="3616275"/>
              <a:ext cx="281448" cy="7387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Hexagone 25">
              <a:extLst>
                <a:ext uri="{FF2B5EF4-FFF2-40B4-BE49-F238E27FC236}">
                  <a16:creationId xmlns:a16="http://schemas.microsoft.com/office/drawing/2014/main" id="{BEE7A43E-DF8C-67CD-23BF-397C38BE7D71}"/>
                </a:ext>
              </a:extLst>
            </p:cNvPr>
            <p:cNvSpPr/>
            <p:nvPr/>
          </p:nvSpPr>
          <p:spPr>
            <a:xfrm rot="5400000">
              <a:off x="2092696" y="4297360"/>
              <a:ext cx="390567" cy="368869"/>
            </a:xfrm>
            <a:prstGeom prst="hexagon">
              <a:avLst/>
            </a:prstGeom>
            <a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1B0FF7F-8BD8-7B6E-110F-87D4BEE35245}"/>
                </a:ext>
              </a:extLst>
            </p:cNvPr>
            <p:cNvSpPr/>
            <p:nvPr/>
          </p:nvSpPr>
          <p:spPr>
            <a:xfrm>
              <a:off x="2242474" y="4462014"/>
              <a:ext cx="91844" cy="12498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3F470448-C8CC-0973-726C-7FE5B9ECB8F4}"/>
                </a:ext>
              </a:extLst>
            </p:cNvPr>
            <p:cNvSpPr/>
            <p:nvPr/>
          </p:nvSpPr>
          <p:spPr>
            <a:xfrm>
              <a:off x="2240433" y="4368422"/>
              <a:ext cx="91844" cy="9184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CF13C88-23D0-B025-E00D-0918033799D3}"/>
                </a:ext>
              </a:extLst>
            </p:cNvPr>
            <p:cNvSpPr/>
            <p:nvPr/>
          </p:nvSpPr>
          <p:spPr>
            <a:xfrm>
              <a:off x="1537763" y="1467957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4DABCD-652C-070F-AA41-FD10465ED510}"/>
                </a:ext>
              </a:extLst>
            </p:cNvPr>
            <p:cNvSpPr/>
            <p:nvPr/>
          </p:nvSpPr>
          <p:spPr>
            <a:xfrm>
              <a:off x="1676973" y="1561092"/>
              <a:ext cx="153581" cy="24573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AC1549E-A4DE-ECB0-F43D-4DAE3A06BEA9}"/>
                </a:ext>
              </a:extLst>
            </p:cNvPr>
            <p:cNvSpPr/>
            <p:nvPr/>
          </p:nvSpPr>
          <p:spPr>
            <a:xfrm>
              <a:off x="3230650" y="1465522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fr-FR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A5F6F79-317F-D0DA-0B02-6804F02BF9F0}"/>
                </a:ext>
              </a:extLst>
            </p:cNvPr>
            <p:cNvSpPr/>
            <p:nvPr/>
          </p:nvSpPr>
          <p:spPr>
            <a:xfrm>
              <a:off x="3369860" y="1558657"/>
              <a:ext cx="153581" cy="24573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1" name="Graphique 10" descr="Tour médiévale avec un remplissage uni">
              <a:extLst>
                <a:ext uri="{FF2B5EF4-FFF2-40B4-BE49-F238E27FC236}">
                  <a16:creationId xmlns:a16="http://schemas.microsoft.com/office/drawing/2014/main" id="{97EEF5D4-69A4-050B-551A-1FB83D514C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 l="24636" r="26487"/>
            <a:stretch>
              <a:fillRect/>
            </a:stretch>
          </p:blipFill>
          <p:spPr>
            <a:xfrm>
              <a:off x="3056338" y="2237030"/>
              <a:ext cx="375375" cy="837672"/>
            </a:xfrm>
            <a:prstGeom prst="rect">
              <a:avLst/>
            </a:prstGeom>
          </p:spPr>
        </p:pic>
      </p:grpSp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76305CE6-BD74-EED8-6B91-ECFB588D84AE}"/>
              </a:ext>
            </a:extLst>
          </p:cNvPr>
          <p:cNvGrpSpPr/>
          <p:nvPr/>
        </p:nvGrpSpPr>
        <p:grpSpPr>
          <a:xfrm>
            <a:off x="3168983" y="1428994"/>
            <a:ext cx="2124000" cy="3312600"/>
            <a:chOff x="3152197" y="1377054"/>
            <a:chExt cx="2124000" cy="33126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2A96650-6338-C965-A822-5029031CC6DC}"/>
                </a:ext>
              </a:extLst>
            </p:cNvPr>
            <p:cNvSpPr/>
            <p:nvPr/>
          </p:nvSpPr>
          <p:spPr>
            <a:xfrm>
              <a:off x="3152197" y="1377654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06753A5-C82D-B253-9945-D200D8D25323}"/>
                </a:ext>
              </a:extLst>
            </p:cNvPr>
            <p:cNvSpPr/>
            <p:nvPr/>
          </p:nvSpPr>
          <p:spPr>
            <a:xfrm>
              <a:off x="3584197" y="1377272"/>
              <a:ext cx="1260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Déplacer</a:t>
              </a:r>
              <a:b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Troupes</a:t>
              </a: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C6637799-A5F0-47C8-A229-54D6E170AF4C}"/>
                </a:ext>
              </a:extLst>
            </p:cNvPr>
            <p:cNvSpPr txBox="1"/>
            <p:nvPr/>
          </p:nvSpPr>
          <p:spPr>
            <a:xfrm>
              <a:off x="3227224" y="1860393"/>
              <a:ext cx="195666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Disperser</a:t>
              </a:r>
              <a:r>
                <a:rPr lang="fr-FR" sz="1200" b="1" dirty="0">
                  <a:solidFill>
                    <a:srgbClr val="FFC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/Concentrer </a:t>
              </a:r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en ligne droite des troupes depuis</a:t>
              </a:r>
              <a:r>
                <a:rPr lang="fr-FR" sz="1200" b="1" dirty="0">
                  <a:solidFill>
                    <a:srgbClr val="FFC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/vers </a:t>
              </a:r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la tuile de commandement</a:t>
              </a:r>
            </a:p>
          </p:txBody>
        </p:sp>
        <p:sp>
          <p:nvSpPr>
            <p:cNvPr id="18" name="Cercle : creux 17">
              <a:extLst>
                <a:ext uri="{FF2B5EF4-FFF2-40B4-BE49-F238E27FC236}">
                  <a16:creationId xmlns:a16="http://schemas.microsoft.com/office/drawing/2014/main" id="{85795305-0810-41DE-4F69-A2023AC272EE}"/>
                </a:ext>
              </a:extLst>
            </p:cNvPr>
            <p:cNvSpPr/>
            <p:nvPr/>
          </p:nvSpPr>
          <p:spPr>
            <a:xfrm>
              <a:off x="3214707" y="4240638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grpSp>
          <p:nvGrpSpPr>
            <p:cNvPr id="110" name="Groupe 109">
              <a:extLst>
                <a:ext uri="{FF2B5EF4-FFF2-40B4-BE49-F238E27FC236}">
                  <a16:creationId xmlns:a16="http://schemas.microsoft.com/office/drawing/2014/main" id="{1689C847-B266-7325-47F2-24864D823EE2}"/>
                </a:ext>
              </a:extLst>
            </p:cNvPr>
            <p:cNvGrpSpPr/>
            <p:nvPr/>
          </p:nvGrpSpPr>
          <p:grpSpPr>
            <a:xfrm>
              <a:off x="3349730" y="3222293"/>
              <a:ext cx="1592053" cy="405933"/>
              <a:chOff x="3369594" y="3325288"/>
              <a:chExt cx="1592053" cy="405933"/>
            </a:xfrm>
          </p:grpSpPr>
          <p:sp>
            <p:nvSpPr>
              <p:cNvPr id="21" name="Hexagone 20">
                <a:extLst>
                  <a:ext uri="{FF2B5EF4-FFF2-40B4-BE49-F238E27FC236}">
                    <a16:creationId xmlns:a16="http://schemas.microsoft.com/office/drawing/2014/main" id="{E623FA65-9F3F-6561-380C-FA92A62B9B76}"/>
                  </a:ext>
                </a:extLst>
              </p:cNvPr>
              <p:cNvSpPr/>
              <p:nvPr/>
            </p:nvSpPr>
            <p:spPr>
              <a:xfrm rot="5400000">
                <a:off x="4583647" y="3343288"/>
                <a:ext cx="396000" cy="360000"/>
              </a:xfrm>
              <a:prstGeom prst="hexagon">
                <a:avLst/>
              </a:prstGeom>
              <a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rightnessContrast bright="-20000" contrast="-40000"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4" name="Hexagone 23">
                <a:extLst>
                  <a:ext uri="{FF2B5EF4-FFF2-40B4-BE49-F238E27FC236}">
                    <a16:creationId xmlns:a16="http://schemas.microsoft.com/office/drawing/2014/main" id="{B807D213-2629-3659-B228-C391CB1AAEAC}"/>
                  </a:ext>
                </a:extLst>
              </p:cNvPr>
              <p:cNvSpPr/>
              <p:nvPr/>
            </p:nvSpPr>
            <p:spPr>
              <a:xfrm rot="5400000">
                <a:off x="4174372" y="3343288"/>
                <a:ext cx="396000" cy="360000"/>
              </a:xfrm>
              <a:prstGeom prst="hexagon">
                <a:avLst/>
              </a:prstGeom>
              <a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rightnessContrast bright="-20000" contrast="-40000"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" name="Hexagone 28">
                <a:extLst>
                  <a:ext uri="{FF2B5EF4-FFF2-40B4-BE49-F238E27FC236}">
                    <a16:creationId xmlns:a16="http://schemas.microsoft.com/office/drawing/2014/main" id="{71C32418-B647-C696-341E-F8C554281360}"/>
                  </a:ext>
                </a:extLst>
              </p:cNvPr>
              <p:cNvSpPr/>
              <p:nvPr/>
            </p:nvSpPr>
            <p:spPr>
              <a:xfrm rot="5400000">
                <a:off x="3765097" y="3353221"/>
                <a:ext cx="396000" cy="360000"/>
              </a:xfrm>
              <a:prstGeom prst="hexagon">
                <a:avLst/>
              </a:prstGeom>
              <a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rightnessContrast bright="-20000" contrast="-40000"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3" name="Hexagone 32">
                <a:extLst>
                  <a:ext uri="{FF2B5EF4-FFF2-40B4-BE49-F238E27FC236}">
                    <a16:creationId xmlns:a16="http://schemas.microsoft.com/office/drawing/2014/main" id="{77F92EA8-3433-367B-00B8-58DEBBF07D4F}"/>
                  </a:ext>
                </a:extLst>
              </p:cNvPr>
              <p:cNvSpPr/>
              <p:nvPr/>
            </p:nvSpPr>
            <p:spPr>
              <a:xfrm rot="5400000">
                <a:off x="3351594" y="3353221"/>
                <a:ext cx="396000" cy="360000"/>
              </a:xfrm>
              <a:prstGeom prst="hexagon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36" name="Connecteur droit avec flèche 35">
                <a:extLst>
                  <a:ext uri="{FF2B5EF4-FFF2-40B4-BE49-F238E27FC236}">
                    <a16:creationId xmlns:a16="http://schemas.microsoft.com/office/drawing/2014/main" id="{736882CF-9DC7-3AD3-A901-225A6A5369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9494" y="3527262"/>
                <a:ext cx="1269309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Connecteur droit avec flèche 39">
                <a:extLst>
                  <a:ext uri="{FF2B5EF4-FFF2-40B4-BE49-F238E27FC236}">
                    <a16:creationId xmlns:a16="http://schemas.microsoft.com/office/drawing/2014/main" id="{99EB6A6A-F4C8-7000-15FA-EDF9378269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71416" y="3530348"/>
                <a:ext cx="898091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Connecteur droit avec flèche 43">
                <a:extLst>
                  <a:ext uri="{FF2B5EF4-FFF2-40B4-BE49-F238E27FC236}">
                    <a16:creationId xmlns:a16="http://schemas.microsoft.com/office/drawing/2014/main" id="{C95CD993-F2EC-0B30-5C9F-F069E22107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71416" y="3530348"/>
                <a:ext cx="498112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" name="Ellipse 46">
                <a:extLst>
                  <a:ext uri="{FF2B5EF4-FFF2-40B4-BE49-F238E27FC236}">
                    <a16:creationId xmlns:a16="http://schemas.microsoft.com/office/drawing/2014/main" id="{150349EB-492C-940D-1F8F-8155A4479238}"/>
                  </a:ext>
                </a:extLst>
              </p:cNvPr>
              <p:cNvSpPr/>
              <p:nvPr/>
            </p:nvSpPr>
            <p:spPr>
              <a:xfrm>
                <a:off x="3459594" y="3446348"/>
                <a:ext cx="180000" cy="180000"/>
              </a:xfrm>
              <a:prstGeom prst="ellipse">
                <a:avLst/>
              </a:prstGeom>
              <a:blipFill>
                <a:blip r:embed="rId8"/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58" name="ZoneTexte 57">
              <a:extLst>
                <a:ext uri="{FF2B5EF4-FFF2-40B4-BE49-F238E27FC236}">
                  <a16:creationId xmlns:a16="http://schemas.microsoft.com/office/drawing/2014/main" id="{F51D4383-C9D9-27BF-16FE-F3D6BD97089C}"/>
                </a:ext>
              </a:extLst>
            </p:cNvPr>
            <p:cNvSpPr txBox="1"/>
            <p:nvPr/>
          </p:nvSpPr>
          <p:spPr>
            <a:xfrm>
              <a:off x="3240355" y="2715144"/>
              <a:ext cx="12969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Résoudre les affrontements</a:t>
              </a:r>
            </a:p>
          </p:txBody>
        </p:sp>
        <p:sp>
          <p:nvSpPr>
            <p:cNvPr id="75" name="Hexagone 74">
              <a:extLst>
                <a:ext uri="{FF2B5EF4-FFF2-40B4-BE49-F238E27FC236}">
                  <a16:creationId xmlns:a16="http://schemas.microsoft.com/office/drawing/2014/main" id="{0251A5E2-1C13-CFD0-9521-2EA4F5A79E12}"/>
                </a:ext>
              </a:extLst>
            </p:cNvPr>
            <p:cNvSpPr/>
            <p:nvPr/>
          </p:nvSpPr>
          <p:spPr>
            <a:xfrm rot="5400000">
              <a:off x="3632453" y="4231662"/>
              <a:ext cx="390567" cy="368869"/>
            </a:xfrm>
            <a:prstGeom prst="hexagon">
              <a:avLst/>
            </a:prstGeom>
            <a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8990306-6172-B672-2E45-27485F40E252}"/>
                </a:ext>
              </a:extLst>
            </p:cNvPr>
            <p:cNvSpPr/>
            <p:nvPr/>
          </p:nvSpPr>
          <p:spPr>
            <a:xfrm>
              <a:off x="3782231" y="4396316"/>
              <a:ext cx="91844" cy="12498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1" name="Ellipse 80">
              <a:extLst>
                <a:ext uri="{FF2B5EF4-FFF2-40B4-BE49-F238E27FC236}">
                  <a16:creationId xmlns:a16="http://schemas.microsoft.com/office/drawing/2014/main" id="{60BA55C4-D641-236B-F765-0F396A8689C4}"/>
                </a:ext>
              </a:extLst>
            </p:cNvPr>
            <p:cNvSpPr/>
            <p:nvPr/>
          </p:nvSpPr>
          <p:spPr>
            <a:xfrm>
              <a:off x="3780190" y="4302724"/>
              <a:ext cx="91844" cy="9184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0" name="Hexagone 99">
              <a:extLst>
                <a:ext uri="{FF2B5EF4-FFF2-40B4-BE49-F238E27FC236}">
                  <a16:creationId xmlns:a16="http://schemas.microsoft.com/office/drawing/2014/main" id="{4DAEB8A2-D883-3AE5-4974-BBFCC420530D}"/>
                </a:ext>
              </a:extLst>
            </p:cNvPr>
            <p:cNvSpPr/>
            <p:nvPr/>
          </p:nvSpPr>
          <p:spPr>
            <a:xfrm rot="5400000">
              <a:off x="4067480" y="4236904"/>
              <a:ext cx="396000" cy="373999"/>
            </a:xfrm>
            <a:prstGeom prst="hexagon">
              <a:avLst/>
            </a:prstGeom>
            <a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583FF82-982B-BB60-FDAA-E5248049DA6F}"/>
                </a:ext>
              </a:extLst>
            </p:cNvPr>
            <p:cNvSpPr/>
            <p:nvPr/>
          </p:nvSpPr>
          <p:spPr>
            <a:xfrm>
              <a:off x="4208421" y="4335171"/>
              <a:ext cx="93121" cy="17746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3" name="Hexagone 82">
              <a:extLst>
                <a:ext uri="{FF2B5EF4-FFF2-40B4-BE49-F238E27FC236}">
                  <a16:creationId xmlns:a16="http://schemas.microsoft.com/office/drawing/2014/main" id="{E9727FA2-A160-4828-A2A6-E0CC100A5CFB}"/>
                </a:ext>
              </a:extLst>
            </p:cNvPr>
            <p:cNvSpPr/>
            <p:nvPr/>
          </p:nvSpPr>
          <p:spPr>
            <a:xfrm rot="5400000">
              <a:off x="4507789" y="4231813"/>
              <a:ext cx="396000" cy="374000"/>
            </a:xfrm>
            <a:prstGeom prst="hexagon">
              <a:avLst/>
            </a:prstGeom>
            <a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artisticGlass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207F287-B272-0AF9-6078-EC1EA7C73DFA}"/>
                </a:ext>
              </a:extLst>
            </p:cNvPr>
            <p:cNvSpPr/>
            <p:nvPr/>
          </p:nvSpPr>
          <p:spPr>
            <a:xfrm>
              <a:off x="4579441" y="4330080"/>
              <a:ext cx="93122" cy="17746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85" name="Graphique 84" descr="Pion avec un remplissage uni">
              <a:extLst>
                <a:ext uri="{FF2B5EF4-FFF2-40B4-BE49-F238E27FC236}">
                  <a16:creationId xmlns:a16="http://schemas.microsoft.com/office/drawing/2014/main" id="{1376AE10-5A16-81AE-866C-D12F91256B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l="28037" t="14617" r="27500" b="15665"/>
            <a:stretch>
              <a:fillRect/>
            </a:stretch>
          </p:blipFill>
          <p:spPr>
            <a:xfrm>
              <a:off x="4710395" y="4317980"/>
              <a:ext cx="120894" cy="189565"/>
            </a:xfrm>
            <a:prstGeom prst="rect">
              <a:avLst/>
            </a:prstGeom>
          </p:spPr>
        </p:pic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4B74F0ED-0507-5FB0-69CC-3ECC69FF21CD}"/>
                </a:ext>
              </a:extLst>
            </p:cNvPr>
            <p:cNvSpPr/>
            <p:nvPr/>
          </p:nvSpPr>
          <p:spPr>
            <a:xfrm>
              <a:off x="3152197" y="1377054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DC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74869369-1BDD-DB37-BABB-FE80513418A5}"/>
                </a:ext>
              </a:extLst>
            </p:cNvPr>
            <p:cNvSpPr/>
            <p:nvPr/>
          </p:nvSpPr>
          <p:spPr>
            <a:xfrm>
              <a:off x="4844197" y="1378272"/>
              <a:ext cx="432000" cy="432000"/>
            </a:xfrm>
            <a:prstGeom prst="rect">
              <a:avLst/>
            </a:prstGeom>
            <a:blipFill dpi="0" rotWithShape="1">
              <a:blip r:embed="rId3">
                <a:alphaModFix amt="50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DC</a:t>
              </a:r>
            </a:p>
          </p:txBody>
        </p:sp>
        <p:pic>
          <p:nvPicPr>
            <p:cNvPr id="99" name="Image 98">
              <a:extLst>
                <a:ext uri="{FF2B5EF4-FFF2-40B4-BE49-F238E27FC236}">
                  <a16:creationId xmlns:a16="http://schemas.microsoft.com/office/drawing/2014/main" id="{157FC146-F5F8-7814-347A-12270DFE9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7415" y="2538404"/>
              <a:ext cx="540000" cy="540000"/>
            </a:xfrm>
            <a:prstGeom prst="rect">
              <a:avLst/>
            </a:prstGeom>
          </p:spPr>
        </p:pic>
        <p:grpSp>
          <p:nvGrpSpPr>
            <p:cNvPr id="111" name="Groupe 110">
              <a:extLst>
                <a:ext uri="{FF2B5EF4-FFF2-40B4-BE49-F238E27FC236}">
                  <a16:creationId xmlns:a16="http://schemas.microsoft.com/office/drawing/2014/main" id="{97CE3427-9907-BA58-6DFA-96C09F5E9D73}"/>
                </a:ext>
              </a:extLst>
            </p:cNvPr>
            <p:cNvGrpSpPr/>
            <p:nvPr/>
          </p:nvGrpSpPr>
          <p:grpSpPr>
            <a:xfrm>
              <a:off x="3352321" y="3672739"/>
              <a:ext cx="1592053" cy="405933"/>
              <a:chOff x="3577654" y="3804073"/>
              <a:chExt cx="1592053" cy="405933"/>
            </a:xfrm>
          </p:grpSpPr>
          <p:sp>
            <p:nvSpPr>
              <p:cNvPr id="102" name="Hexagone 101">
                <a:extLst>
                  <a:ext uri="{FF2B5EF4-FFF2-40B4-BE49-F238E27FC236}">
                    <a16:creationId xmlns:a16="http://schemas.microsoft.com/office/drawing/2014/main" id="{89DC41F8-9A7A-4EA5-E756-36B1012ED376}"/>
                  </a:ext>
                </a:extLst>
              </p:cNvPr>
              <p:cNvSpPr/>
              <p:nvPr/>
            </p:nvSpPr>
            <p:spPr>
              <a:xfrm rot="5400000">
                <a:off x="4791707" y="3822073"/>
                <a:ext cx="396000" cy="360000"/>
              </a:xfrm>
              <a:prstGeom prst="hexagon">
                <a:avLst/>
              </a:prstGeom>
              <a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rightnessContrast bright="-20000" contrast="-40000"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3" name="Hexagone 102">
                <a:extLst>
                  <a:ext uri="{FF2B5EF4-FFF2-40B4-BE49-F238E27FC236}">
                    <a16:creationId xmlns:a16="http://schemas.microsoft.com/office/drawing/2014/main" id="{AFDE2005-57BD-32CA-F7A7-43E73961F6F8}"/>
                  </a:ext>
                </a:extLst>
              </p:cNvPr>
              <p:cNvSpPr/>
              <p:nvPr/>
            </p:nvSpPr>
            <p:spPr>
              <a:xfrm rot="5400000">
                <a:off x="4382432" y="3822073"/>
                <a:ext cx="396000" cy="360000"/>
              </a:xfrm>
              <a:prstGeom prst="hexagon">
                <a:avLst/>
              </a:prstGeom>
              <a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rightnessContrast bright="-20000" contrast="-40000"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4" name="Hexagone 103">
                <a:extLst>
                  <a:ext uri="{FF2B5EF4-FFF2-40B4-BE49-F238E27FC236}">
                    <a16:creationId xmlns:a16="http://schemas.microsoft.com/office/drawing/2014/main" id="{A94DEE98-AD81-70F8-3376-C350A7BDE587}"/>
                  </a:ext>
                </a:extLst>
              </p:cNvPr>
              <p:cNvSpPr/>
              <p:nvPr/>
            </p:nvSpPr>
            <p:spPr>
              <a:xfrm rot="5400000">
                <a:off x="3973157" y="3832006"/>
                <a:ext cx="396000" cy="360000"/>
              </a:xfrm>
              <a:prstGeom prst="hexagon">
                <a:avLst/>
              </a:prstGeom>
              <a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rightnessContrast bright="-20000" contrast="-40000"/>
                          </a14:imgEffect>
                        </a14:imgLayer>
                      </a14:imgProps>
                    </a:ext>
                  </a:extLst>
                </a:blip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5" name="Hexagone 104">
                <a:extLst>
                  <a:ext uri="{FF2B5EF4-FFF2-40B4-BE49-F238E27FC236}">
                    <a16:creationId xmlns:a16="http://schemas.microsoft.com/office/drawing/2014/main" id="{E38CC7BA-B662-3AE5-5C6E-E52B4A718FB2}"/>
                  </a:ext>
                </a:extLst>
              </p:cNvPr>
              <p:cNvSpPr/>
              <p:nvPr/>
            </p:nvSpPr>
            <p:spPr>
              <a:xfrm rot="5400000">
                <a:off x="3559654" y="3832006"/>
                <a:ext cx="396000" cy="360000"/>
              </a:xfrm>
              <a:prstGeom prst="hexagon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06" name="Connecteur droit avec flèche 105">
                <a:extLst>
                  <a:ext uri="{FF2B5EF4-FFF2-40B4-BE49-F238E27FC236}">
                    <a16:creationId xmlns:a16="http://schemas.microsoft.com/office/drawing/2014/main" id="{15B63591-1FDF-B223-9EEA-54AAF01AF6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76982" y="4006047"/>
                <a:ext cx="1303580" cy="0"/>
              </a:xfrm>
              <a:prstGeom prst="straightConnector1">
                <a:avLst/>
              </a:prstGeom>
              <a:ln w="57150">
                <a:solidFill>
                  <a:srgbClr val="FFC00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7" name="Ellipse 106">
                <a:extLst>
                  <a:ext uri="{FF2B5EF4-FFF2-40B4-BE49-F238E27FC236}">
                    <a16:creationId xmlns:a16="http://schemas.microsoft.com/office/drawing/2014/main" id="{146CEDAA-20AE-84D0-205A-4F2ACD93A7BB}"/>
                  </a:ext>
                </a:extLst>
              </p:cNvPr>
              <p:cNvSpPr/>
              <p:nvPr/>
            </p:nvSpPr>
            <p:spPr>
              <a:xfrm>
                <a:off x="4081157" y="3922006"/>
                <a:ext cx="180000" cy="180000"/>
              </a:xfrm>
              <a:prstGeom prst="ellipse">
                <a:avLst/>
              </a:prstGeom>
              <a:blipFill>
                <a:blip r:embed="rId8"/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8" name="Ellipse 107">
                <a:extLst>
                  <a:ext uri="{FF2B5EF4-FFF2-40B4-BE49-F238E27FC236}">
                    <a16:creationId xmlns:a16="http://schemas.microsoft.com/office/drawing/2014/main" id="{13F3FFBA-6AB1-B1BB-D07E-932061C3EFC9}"/>
                  </a:ext>
                </a:extLst>
              </p:cNvPr>
              <p:cNvSpPr/>
              <p:nvPr/>
            </p:nvSpPr>
            <p:spPr>
              <a:xfrm>
                <a:off x="4490043" y="3922006"/>
                <a:ext cx="180000" cy="180000"/>
              </a:xfrm>
              <a:prstGeom prst="ellipse">
                <a:avLst/>
              </a:prstGeom>
              <a:blipFill>
                <a:blip r:embed="rId8"/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9" name="Ellipse 108">
                <a:extLst>
                  <a:ext uri="{FF2B5EF4-FFF2-40B4-BE49-F238E27FC236}">
                    <a16:creationId xmlns:a16="http://schemas.microsoft.com/office/drawing/2014/main" id="{A2452E49-E772-38B9-B174-8EDC5702DCFF}"/>
                  </a:ext>
                </a:extLst>
              </p:cNvPr>
              <p:cNvSpPr/>
              <p:nvPr/>
            </p:nvSpPr>
            <p:spPr>
              <a:xfrm>
                <a:off x="4899524" y="3912073"/>
                <a:ext cx="180000" cy="180000"/>
              </a:xfrm>
              <a:prstGeom prst="ellipse">
                <a:avLst/>
              </a:prstGeom>
              <a:blipFill>
                <a:blip r:embed="rId8"/>
                <a:tile tx="0" ty="0" sx="100000" sy="100000" flip="none" algn="tl"/>
              </a:blipFill>
              <a:ln w="12700"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12" name="ZoneTexte 111">
              <a:extLst>
                <a:ext uri="{FF2B5EF4-FFF2-40B4-BE49-F238E27FC236}">
                  <a16:creationId xmlns:a16="http://schemas.microsoft.com/office/drawing/2014/main" id="{7A430CFE-43B9-A3B3-CF82-9F07877EBE9A}"/>
                </a:ext>
              </a:extLst>
            </p:cNvPr>
            <p:cNvSpPr txBox="1"/>
            <p:nvPr/>
          </p:nvSpPr>
          <p:spPr>
            <a:xfrm>
              <a:off x="5046386" y="2838450"/>
              <a:ext cx="153888" cy="1762188"/>
            </a:xfrm>
            <a:prstGeom prst="rect">
              <a:avLst/>
            </a:prstGeom>
            <a:noFill/>
          </p:spPr>
          <p:txBody>
            <a:bodyPr vert="vert270" wrap="square" lIns="0" tIns="0" rIns="0" bIns="0" rtlCol="0">
              <a:spAutoFit/>
            </a:bodyPr>
            <a:lstStyle/>
            <a:p>
              <a:r>
                <a:rPr lang="fr-FR" sz="1000" b="1" dirty="0">
                  <a:solidFill>
                    <a:srgbClr val="FFC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/ :  choisir en posant la carte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789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F1B07-CADF-642A-4C01-87EDC45F3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e 22">
            <a:extLst>
              <a:ext uri="{FF2B5EF4-FFF2-40B4-BE49-F238E27FC236}">
                <a16:creationId xmlns:a16="http://schemas.microsoft.com/office/drawing/2014/main" id="{15213530-E65C-D1C7-E96E-E0039CDE1A7A}"/>
              </a:ext>
            </a:extLst>
          </p:cNvPr>
          <p:cNvGrpSpPr/>
          <p:nvPr/>
        </p:nvGrpSpPr>
        <p:grpSpPr>
          <a:xfrm>
            <a:off x="876374" y="1543946"/>
            <a:ext cx="2124000" cy="3312000"/>
            <a:chOff x="876374" y="1543946"/>
            <a:chExt cx="2124000" cy="3312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BFD5055-5338-1DE1-8838-B2B5E7F0AE85}"/>
                </a:ext>
              </a:extLst>
            </p:cNvPr>
            <p:cNvSpPr/>
            <p:nvPr/>
          </p:nvSpPr>
          <p:spPr>
            <a:xfrm>
              <a:off x="876374" y="1543946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2FB3FC2-A453-B7AB-198D-C47A0127443E}"/>
                </a:ext>
              </a:extLst>
            </p:cNvPr>
            <p:cNvSpPr/>
            <p:nvPr/>
          </p:nvSpPr>
          <p:spPr>
            <a:xfrm>
              <a:off x="1308374" y="1543946"/>
              <a:ext cx="1260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Recruter</a:t>
              </a:r>
              <a:b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Chevalier</a:t>
              </a:r>
            </a:p>
          </p:txBody>
        </p:sp>
        <p:sp>
          <p:nvSpPr>
            <p:cNvPr id="15" name="Cercle : creux 14">
              <a:extLst>
                <a:ext uri="{FF2B5EF4-FFF2-40B4-BE49-F238E27FC236}">
                  <a16:creationId xmlns:a16="http://schemas.microsoft.com/office/drawing/2014/main" id="{5D2DB1DF-237A-23DD-53AE-6318E6073CE2}"/>
                </a:ext>
              </a:extLst>
            </p:cNvPr>
            <p:cNvSpPr/>
            <p:nvPr/>
          </p:nvSpPr>
          <p:spPr>
            <a:xfrm>
              <a:off x="952104" y="4393905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pic>
          <p:nvPicPr>
            <p:cNvPr id="38" name="Image 37" descr="Une image contenant croquis, dessin, illustration, dessin humoristique&#10;&#10;Le contenu généré par l’IA peut être incorrect.">
              <a:extLst>
                <a:ext uri="{FF2B5EF4-FFF2-40B4-BE49-F238E27FC236}">
                  <a16:creationId xmlns:a16="http://schemas.microsoft.com/office/drawing/2014/main" id="{F421C0F2-86F1-F76D-6680-5C6A760D7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76" t="6149" r="27002" b="4381"/>
            <a:stretch>
              <a:fillRect/>
            </a:stretch>
          </p:blipFill>
          <p:spPr>
            <a:xfrm>
              <a:off x="1414994" y="2800656"/>
              <a:ext cx="1056633" cy="1905145"/>
            </a:xfrm>
            <a:prstGeom prst="rect">
              <a:avLst/>
            </a:prstGeom>
          </p:spPr>
        </p:pic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84B34FF8-FBF7-41A4-0F61-92BF969FC7BE}"/>
                </a:ext>
              </a:extLst>
            </p:cNvPr>
            <p:cNvSpPr txBox="1"/>
            <p:nvPr/>
          </p:nvSpPr>
          <p:spPr>
            <a:xfrm>
              <a:off x="1070614" y="2078526"/>
              <a:ext cx="173551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Recruter un chevalier vers une tuile avec baron ou donjon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B67622C-9544-5469-1638-BF37ADFFA562}"/>
                </a:ext>
              </a:extLst>
            </p:cNvPr>
            <p:cNvSpPr/>
            <p:nvPr/>
          </p:nvSpPr>
          <p:spPr>
            <a:xfrm>
              <a:off x="876374" y="1543946"/>
              <a:ext cx="432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</a:t>
              </a:r>
              <a:endParaRPr lang="fr-FR" sz="16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56C108D-4C47-07DF-2898-9F762E1B2B4C}"/>
                </a:ext>
              </a:extLst>
            </p:cNvPr>
            <p:cNvSpPr/>
            <p:nvPr/>
          </p:nvSpPr>
          <p:spPr>
            <a:xfrm>
              <a:off x="2568374" y="1543946"/>
              <a:ext cx="432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</a:t>
              </a:r>
              <a:endParaRPr lang="fr-FR" sz="1600" dirty="0"/>
            </a:p>
          </p:txBody>
        </p:sp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A91998C6-C2EF-44AB-A962-D1450FBF56E2}"/>
              </a:ext>
            </a:extLst>
          </p:cNvPr>
          <p:cNvGrpSpPr/>
          <p:nvPr/>
        </p:nvGrpSpPr>
        <p:grpSpPr>
          <a:xfrm>
            <a:off x="3418344" y="1543946"/>
            <a:ext cx="2124000" cy="3312000"/>
            <a:chOff x="3418344" y="1543946"/>
            <a:chExt cx="2124000" cy="3312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986817D-3364-3DC4-112F-7906D20FD03B}"/>
                </a:ext>
              </a:extLst>
            </p:cNvPr>
            <p:cNvSpPr/>
            <p:nvPr/>
          </p:nvSpPr>
          <p:spPr>
            <a:xfrm>
              <a:off x="3418344" y="1543946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299360B-7EF7-2AAF-3065-8CE820A0EEB8}"/>
                </a:ext>
              </a:extLst>
            </p:cNvPr>
            <p:cNvSpPr/>
            <p:nvPr/>
          </p:nvSpPr>
          <p:spPr>
            <a:xfrm>
              <a:off x="3852208" y="1543946"/>
              <a:ext cx="1258135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Exiler</a:t>
              </a:r>
              <a:b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Chevalier</a:t>
              </a:r>
            </a:p>
          </p:txBody>
        </p:sp>
        <p:sp>
          <p:nvSpPr>
            <p:cNvPr id="46" name="Cercle : creux 45">
              <a:extLst>
                <a:ext uri="{FF2B5EF4-FFF2-40B4-BE49-F238E27FC236}">
                  <a16:creationId xmlns:a16="http://schemas.microsoft.com/office/drawing/2014/main" id="{D6E38154-9493-0DFB-67FF-EA916A79C027}"/>
                </a:ext>
              </a:extLst>
            </p:cNvPr>
            <p:cNvSpPr/>
            <p:nvPr/>
          </p:nvSpPr>
          <p:spPr>
            <a:xfrm>
              <a:off x="3494074" y="4393905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303913BB-B021-98B3-012E-E8A61466ED6D}"/>
                </a:ext>
              </a:extLst>
            </p:cNvPr>
            <p:cNvSpPr txBox="1"/>
            <p:nvPr/>
          </p:nvSpPr>
          <p:spPr>
            <a:xfrm>
              <a:off x="3494075" y="2019166"/>
              <a:ext cx="18470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Exiler un chevalier adverse de la tuile du baron vers sa réserve</a:t>
              </a:r>
            </a:p>
          </p:txBody>
        </p:sp>
        <p:pic>
          <p:nvPicPr>
            <p:cNvPr id="52" name="Image 51" descr="Une image contenant croquis, chaussures, dessin, illustration&#10;&#10;Le contenu généré par l’IA peut être incorrect.">
              <a:extLst>
                <a:ext uri="{FF2B5EF4-FFF2-40B4-BE49-F238E27FC236}">
                  <a16:creationId xmlns:a16="http://schemas.microsoft.com/office/drawing/2014/main" id="{51BA176E-5A06-4607-01AC-E925CFB61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24512" b="87988" l="26758" r="71875">
                          <a14:foregroundMark x1="53516" y1="31152" x2="51563" y2="25684"/>
                          <a14:foregroundMark x1="54014" y1="24607" x2="58008" y2="22852"/>
                          <a14:foregroundMark x1="58008" y1="22852" x2="62659" y2="24476"/>
                          <a14:foregroundMark x1="59806" y1="40775" x2="58398" y2="41797"/>
                          <a14:foregroundMark x1="58398" y1="41797" x2="52246" y2="36133"/>
                          <a14:foregroundMark x1="52246" y1="36133" x2="50977" y2="33984"/>
                          <a14:foregroundMark x1="69043" y1="59082" x2="68945" y2="59180"/>
                          <a14:foregroundMark x1="43262" y1="82422" x2="49512" y2="82715"/>
                          <a14:foregroundMark x1="49512" y1="82715" x2="47910" y2="85712"/>
                          <a14:foregroundMark x1="45139" y1="87738" x2="40332" y2="85449"/>
                          <a14:foregroundMark x1="40332" y1="85449" x2="44434" y2="82129"/>
                          <a14:foregroundMark x1="30957" y1="74707" x2="25391" y2="78027"/>
                          <a14:foregroundMark x1="25391" y1="78027" x2="26855" y2="84180"/>
                          <a14:foregroundMark x1="26855" y1="84180" x2="30078" y2="79395"/>
                          <a14:foregroundMark x1="30078" y1="79395" x2="30762" y2="74707"/>
                          <a14:foregroundMark x1="59180" y1="85449" x2="71875" y2="87109"/>
                          <a14:foregroundMark x1="71875" y1="87109" x2="66504" y2="84180"/>
                          <a14:foregroundMark x1="66504" y1="84180" x2="60840" y2="85352"/>
                          <a14:foregroundMark x1="62402" y1="24707" x2="66016" y2="29883"/>
                          <a14:foregroundMark x1="65844" y1="34953" x2="65820" y2="35645"/>
                          <a14:foregroundMark x1="66016" y1="29883" x2="65934" y2="32294"/>
                          <a14:foregroundMark x1="63718" y1="37174" x2="62598" y2="37988"/>
                          <a14:foregroundMark x1="65820" y1="35645" x2="64376" y2="36695"/>
                          <a14:foregroundMark x1="61230" y1="38477" x2="62402" y2="38379"/>
                          <a14:foregroundMark x1="54102" y1="24512" x2="52344" y2="25977"/>
                          <a14:foregroundMark x1="48145" y1="86426" x2="44824" y2="87988"/>
                          <a14:backgroundMark x1="48324" y1="86629" x2="51855" y2="84863"/>
                          <a14:backgroundMark x1="51855" y1="84863" x2="58008" y2="85254"/>
                          <a14:backgroundMark x1="58008" y1="85254" x2="50684" y2="89258"/>
                          <a14:backgroundMark x1="50684" y1="89258" x2="47023" y2="88716"/>
                          <a14:backgroundMark x1="51172" y1="25977" x2="52007" y2="25682"/>
                          <a14:backgroundMark x1="51890" y1="25580" x2="50977" y2="25977"/>
                          <a14:backgroundMark x1="58887" y1="39355" x2="59277" y2="39648"/>
                          <a14:backgroundMark x1="59570" y1="39746" x2="59180" y2="39258"/>
                          <a14:backgroundMark x1="61405" y1="40029" x2="61621" y2="40332"/>
                          <a14:backgroundMark x1="61426" y1="40234" x2="59766" y2="40723"/>
                          <a14:backgroundMark x1="61230" y1="40039" x2="61230" y2="40039"/>
                          <a14:backgroundMark x1="60840" y1="40039" x2="60840" y2="40039"/>
                          <a14:backgroundMark x1="66211" y1="32324" x2="65918" y2="34961"/>
                          <a14:backgroundMark x1="64355" y1="37109" x2="63965" y2="37402"/>
                          <a14:backgroundMark x1="64551" y1="36914" x2="63672" y2="37207"/>
                        </a14:backgroundRemoval>
                      </a14:imgEffect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94" t="21250" r="25695" b="9306"/>
            <a:stretch>
              <a:fillRect/>
            </a:stretch>
          </p:blipFill>
          <p:spPr>
            <a:xfrm>
              <a:off x="3938147" y="2724857"/>
              <a:ext cx="1453587" cy="1974983"/>
            </a:xfrm>
            <a:prstGeom prst="rect">
              <a:avLst/>
            </a:prstGeom>
          </p:spPr>
        </p:pic>
        <p:pic>
          <p:nvPicPr>
            <p:cNvPr id="53" name="Image 52" descr="Une image contenant art, nuit, laiton, léger&#10;&#10;Le contenu généré par l’IA peut être incorrect.">
              <a:extLst>
                <a:ext uri="{FF2B5EF4-FFF2-40B4-BE49-F238E27FC236}">
                  <a16:creationId xmlns:a16="http://schemas.microsoft.com/office/drawing/2014/main" id="{2395A0E7-FD72-45DB-BE23-0E996D44F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34"/>
            <a:stretch>
              <a:fillRect/>
            </a:stretch>
          </p:blipFill>
          <p:spPr>
            <a:xfrm>
              <a:off x="3604679" y="3068094"/>
              <a:ext cx="664136" cy="499225"/>
            </a:xfrm>
            <a:prstGeom prst="rect">
              <a:avLst/>
            </a:prstGeom>
            <a:ln>
              <a:noFill/>
            </a:ln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F569DFE-26BC-38A7-7105-4E04548ADB9D}"/>
                </a:ext>
              </a:extLst>
            </p:cNvPr>
            <p:cNvSpPr/>
            <p:nvPr/>
          </p:nvSpPr>
          <p:spPr>
            <a:xfrm>
              <a:off x="3422074" y="1543946"/>
              <a:ext cx="432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</a:t>
              </a:r>
              <a:endParaRPr lang="fr-FR" sz="16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CBA36B3-A5A1-C87C-4701-01F19739B98C}"/>
                </a:ext>
              </a:extLst>
            </p:cNvPr>
            <p:cNvSpPr/>
            <p:nvPr/>
          </p:nvSpPr>
          <p:spPr>
            <a:xfrm>
              <a:off x="5110344" y="1543946"/>
              <a:ext cx="432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</a:t>
              </a:r>
              <a:endParaRPr lang="fr-FR" sz="1600" dirty="0"/>
            </a:p>
          </p:txBody>
        </p:sp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7872EF56-0083-CA79-B84C-2FE2BA265A0D}"/>
              </a:ext>
            </a:extLst>
          </p:cNvPr>
          <p:cNvGrpSpPr/>
          <p:nvPr/>
        </p:nvGrpSpPr>
        <p:grpSpPr>
          <a:xfrm>
            <a:off x="5995831" y="1543946"/>
            <a:ext cx="2124001" cy="3312000"/>
            <a:chOff x="5995831" y="1543946"/>
            <a:chExt cx="2124001" cy="331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128C7DA-C656-8691-BDA2-09EC288B8E64}"/>
                </a:ext>
              </a:extLst>
            </p:cNvPr>
            <p:cNvSpPr/>
            <p:nvPr/>
          </p:nvSpPr>
          <p:spPr>
            <a:xfrm>
              <a:off x="5995832" y="1543946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75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7EABB2-F73F-D0D9-4412-7C9BB8CF8FEE}"/>
                </a:ext>
              </a:extLst>
            </p:cNvPr>
            <p:cNvSpPr/>
            <p:nvPr/>
          </p:nvSpPr>
          <p:spPr>
            <a:xfrm>
              <a:off x="6427831" y="1543946"/>
              <a:ext cx="1260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Chevauchée</a:t>
              </a:r>
              <a:b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lointaine</a:t>
              </a:r>
            </a:p>
          </p:txBody>
        </p:sp>
        <p:sp>
          <p:nvSpPr>
            <p:cNvPr id="12" name="Cercle : creux 11">
              <a:extLst>
                <a:ext uri="{FF2B5EF4-FFF2-40B4-BE49-F238E27FC236}">
                  <a16:creationId xmlns:a16="http://schemas.microsoft.com/office/drawing/2014/main" id="{897FE0C3-3ADF-7943-E285-761B07A5B081}"/>
                </a:ext>
              </a:extLst>
            </p:cNvPr>
            <p:cNvSpPr/>
            <p:nvPr/>
          </p:nvSpPr>
          <p:spPr>
            <a:xfrm>
              <a:off x="6071562" y="4393905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5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500A76FA-93FC-67C4-C0BC-9F88B60C266C}"/>
                </a:ext>
              </a:extLst>
            </p:cNvPr>
            <p:cNvSpPr txBox="1"/>
            <p:nvPr/>
          </p:nvSpPr>
          <p:spPr>
            <a:xfrm>
              <a:off x="6096082" y="2060755"/>
              <a:ext cx="19234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Déplacer un baron ou un chevalier d’autant de tuiles que vous voulez</a:t>
              </a:r>
            </a:p>
          </p:txBody>
        </p:sp>
        <p:pic>
          <p:nvPicPr>
            <p:cNvPr id="14" name="Image 13" descr="Une image contenant peinture, dessin, Fournitures pour cheval, Rêne&#10;&#10;Le contenu généré par l’IA peut être incorrect.">
              <a:extLst>
                <a:ext uri="{FF2B5EF4-FFF2-40B4-BE49-F238E27FC236}">
                  <a16:creationId xmlns:a16="http://schemas.microsoft.com/office/drawing/2014/main" id="{BFA3B552-9E59-28BA-38DF-C3B383B3C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10000" b="90000" l="10000" r="90000">
                          <a14:foregroundMark x1="51367" y1="73438" x2="51563" y2="73535"/>
                          <a14:foregroundMark x1="51074" y1="74414" x2="51367" y2="74316"/>
                          <a14:foregroundMark x1="50879" y1="74512" x2="50977" y2="74512"/>
                          <a14:foregroundMark x1="50684" y1="75000" x2="50293" y2="75098"/>
                          <a14:foregroundMark x1="50293" y1="73340" x2="50977" y2="73438"/>
                          <a14:backgroundMark x1="10547" y1="41699" x2="20801" y2="33301"/>
                          <a14:backgroundMark x1="20801" y1="33301" x2="35156" y2="40137"/>
                          <a14:backgroundMark x1="35156" y1="40137" x2="42676" y2="46875"/>
                          <a14:backgroundMark x1="42676" y1="46875" x2="42969" y2="75000"/>
                          <a14:backgroundMark x1="42969" y1="75000" x2="46680" y2="83008"/>
                          <a14:backgroundMark x1="46680" y1="83008" x2="25293" y2="88965"/>
                          <a14:backgroundMark x1="25293" y1="88965" x2="10547" y2="76660"/>
                          <a14:backgroundMark x1="10547" y1="76660" x2="8789" y2="43359"/>
                          <a14:backgroundMark x1="8789" y1="43359" x2="12402" y2="41113"/>
                          <a14:backgroundMark x1="78516" y1="44043" x2="80957" y2="51074"/>
                          <a14:backgroundMark x1="80957" y1="51074" x2="88867" y2="51855"/>
                          <a14:backgroundMark x1="88867" y1="51855" x2="93457" y2="43750"/>
                          <a14:backgroundMark x1="93457" y1="43750" x2="82520" y2="41602"/>
                          <a14:backgroundMark x1="82520" y1="41602" x2="78418" y2="44141"/>
                          <a14:backgroundMark x1="47949" y1="64063" x2="50684" y2="72070"/>
                          <a14:backgroundMark x1="50099" y1="74840" x2="49219" y2="79004"/>
                          <a14:backgroundMark x1="50684" y1="72070" x2="50200" y2="74360"/>
                          <a14:backgroundMark x1="49219" y1="79004" x2="54590" y2="73145"/>
                          <a14:backgroundMark x1="54590" y1="73145" x2="53418" y2="66211"/>
                          <a14:backgroundMark x1="46387" y1="80566" x2="59863" y2="78906"/>
                          <a14:backgroundMark x1="59863" y1="78906" x2="60449" y2="67285"/>
                          <a14:backgroundMark x1="60449" y1="67285" x2="57910" y2="59961"/>
                          <a14:backgroundMark x1="57910" y1="59961" x2="57910" y2="59766"/>
                          <a14:backgroundMark x1="61230" y1="68066" x2="68066" y2="73633"/>
                          <a14:backgroundMark x1="68066" y1="73633" x2="65234" y2="86914"/>
                          <a14:backgroundMark x1="65234" y1="86914" x2="51660" y2="89844"/>
                          <a14:backgroundMark x1="51660" y1="89844" x2="44629" y2="87500"/>
                          <a14:backgroundMark x1="44629" y1="87500" x2="52539" y2="80273"/>
                          <a14:backgroundMark x1="52539" y1="80273" x2="59473" y2="78809"/>
                          <a14:backgroundMark x1="59473" y1="78809" x2="62402" y2="70410"/>
                          <a14:backgroundMark x1="62402" y1="70410" x2="61914" y2="68652"/>
                          <a14:backgroundMark x1="73047" y1="67773" x2="73047" y2="70508"/>
                          <a14:backgroundMark x1="73242" y1="74023" x2="73242" y2="74023"/>
                          <a14:backgroundMark x1="79004" y1="66113" x2="77051" y2="85547"/>
                          <a14:backgroundMark x1="85254" y1="60742" x2="88184" y2="76953"/>
                          <a14:backgroundMark x1="88184" y1="76953" x2="80273" y2="77832"/>
                          <a14:backgroundMark x1="80273" y1="77832" x2="87305" y2="65918"/>
                          <a14:backgroundMark x1="67480" y1="15918" x2="67480" y2="15918"/>
                          <a14:backgroundMark x1="87988" y1="59082" x2="87988" y2="59082"/>
                          <a14:backgroundMark x1="84375" y1="58594" x2="84375" y2="58594"/>
                          <a14:backgroundMark x1="83594" y1="58105" x2="83594" y2="58105"/>
                          <a14:backgroundMark x1="85742" y1="57910" x2="85742" y2="57910"/>
                          <a14:backgroundMark x1="86914" y1="55859" x2="86914" y2="55859"/>
                          <a14:backgroundMark x1="45410" y1="36816" x2="45410" y2="36816"/>
                          <a14:backgroundMark x1="46387" y1="35059" x2="46387" y2="35059"/>
                        </a14:backgroundRemoval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260" t="12963" r="9752" b="49602"/>
            <a:stretch>
              <a:fillRect/>
            </a:stretch>
          </p:blipFill>
          <p:spPr>
            <a:xfrm flipH="1">
              <a:off x="6207420" y="2791895"/>
              <a:ext cx="1564884" cy="1148912"/>
            </a:xfrm>
            <a:prstGeom prst="rect">
              <a:avLst/>
            </a:prstGeom>
          </p:spPr>
        </p:pic>
        <p:sp>
          <p:nvSpPr>
            <p:cNvPr id="16" name="Hexagone 15">
              <a:extLst>
                <a:ext uri="{FF2B5EF4-FFF2-40B4-BE49-F238E27FC236}">
                  <a16:creationId xmlns:a16="http://schemas.microsoft.com/office/drawing/2014/main" id="{B35F99C8-D390-D543-C59F-73896BA37C2D}"/>
                </a:ext>
              </a:extLst>
            </p:cNvPr>
            <p:cNvSpPr/>
            <p:nvPr/>
          </p:nvSpPr>
          <p:spPr>
            <a:xfrm rot="5400000">
              <a:off x="7394304" y="4309559"/>
              <a:ext cx="396000" cy="360000"/>
            </a:xfrm>
            <a:prstGeom prst="hexagon">
              <a:avLst/>
            </a:prstGeom>
            <a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Hexagone 16">
              <a:extLst>
                <a:ext uri="{FF2B5EF4-FFF2-40B4-BE49-F238E27FC236}">
                  <a16:creationId xmlns:a16="http://schemas.microsoft.com/office/drawing/2014/main" id="{2A6B8627-0025-FC3E-AA62-AAE10CCF5769}"/>
                </a:ext>
              </a:extLst>
            </p:cNvPr>
            <p:cNvSpPr/>
            <p:nvPr/>
          </p:nvSpPr>
          <p:spPr>
            <a:xfrm rot="5400000">
              <a:off x="6575754" y="4309559"/>
              <a:ext cx="396000" cy="360000"/>
            </a:xfrm>
            <a:prstGeom prst="hexag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B3212AA8-FF38-B6ED-08FA-FFC2892B0788}"/>
                </a:ext>
              </a:extLst>
            </p:cNvPr>
            <p:cNvSpPr/>
            <p:nvPr/>
          </p:nvSpPr>
          <p:spPr>
            <a:xfrm>
              <a:off x="6762691" y="4249185"/>
              <a:ext cx="859018" cy="568661"/>
            </a:xfrm>
            <a:prstGeom prst="arc">
              <a:avLst>
                <a:gd name="adj1" fmla="val 11337146"/>
                <a:gd name="adj2" fmla="val 8076"/>
              </a:avLst>
            </a:prstGeom>
            <a:ln w="5080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A933C5B-3255-3C36-6AE4-0DA5A87E2E95}"/>
                </a:ext>
              </a:extLst>
            </p:cNvPr>
            <p:cNvSpPr/>
            <p:nvPr/>
          </p:nvSpPr>
          <p:spPr>
            <a:xfrm>
              <a:off x="5995831" y="1543946"/>
              <a:ext cx="432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</a:t>
              </a:r>
              <a:endParaRPr lang="fr-FR" sz="1600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0F442C9-F33F-A6D6-DC47-666CC8CCAF78}"/>
                </a:ext>
              </a:extLst>
            </p:cNvPr>
            <p:cNvSpPr/>
            <p:nvPr/>
          </p:nvSpPr>
          <p:spPr>
            <a:xfrm>
              <a:off x="7687831" y="1543946"/>
              <a:ext cx="432000" cy="432000"/>
            </a:xfrm>
            <a:prstGeom prst="rect">
              <a:avLst/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</a:t>
              </a:r>
              <a:endParaRPr lang="fr-FR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51277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92778-A82C-0375-7ED9-CF3BDC3E1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63F6BE4C-B607-9E16-D80D-E7E11B2AACDD}"/>
              </a:ext>
            </a:extLst>
          </p:cNvPr>
          <p:cNvGrpSpPr/>
          <p:nvPr/>
        </p:nvGrpSpPr>
        <p:grpSpPr>
          <a:xfrm>
            <a:off x="1336612" y="1773000"/>
            <a:ext cx="2124000" cy="3312000"/>
            <a:chOff x="1336612" y="1773000"/>
            <a:chExt cx="2124000" cy="331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97E25AB-C3A0-B6FD-7789-0E09CD5DED26}"/>
                </a:ext>
              </a:extLst>
            </p:cNvPr>
            <p:cNvSpPr/>
            <p:nvPr/>
          </p:nvSpPr>
          <p:spPr>
            <a:xfrm>
              <a:off x="1336612" y="1773000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90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6F2B8A3-7F7B-3363-F44C-1DDD45324297}"/>
                </a:ext>
              </a:extLst>
            </p:cNvPr>
            <p:cNvSpPr/>
            <p:nvPr/>
          </p:nvSpPr>
          <p:spPr>
            <a:xfrm>
              <a:off x="1336612" y="1773000"/>
              <a:ext cx="2124000" cy="432000"/>
            </a:xfrm>
            <a:prstGeom prst="rect">
              <a:avLst/>
            </a:prstGeom>
            <a:blipFill dpi="0"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fr-FR" sz="1600" b="1" dirty="0">
                  <a:solidFill>
                    <a:srgbClr val="FFC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Courroux de la Terre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3D09A24C-6F9A-F438-E957-C32F34191829}"/>
                </a:ext>
              </a:extLst>
            </p:cNvPr>
            <p:cNvSpPr txBox="1"/>
            <p:nvPr/>
          </p:nvSpPr>
          <p:spPr>
            <a:xfrm>
              <a:off x="1444224" y="2318297"/>
              <a:ext cx="181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Tirer 3 cartes positions</a:t>
              </a:r>
            </a:p>
          </p:txBody>
        </p:sp>
        <p:cxnSp>
          <p:nvCxnSpPr>
            <p:cNvPr id="11" name="Connecteur droit avec flèche 10">
              <a:extLst>
                <a:ext uri="{FF2B5EF4-FFF2-40B4-BE49-F238E27FC236}">
                  <a16:creationId xmlns:a16="http://schemas.microsoft.com/office/drawing/2014/main" id="{EAF64EF2-72F4-D50C-427E-EB8191D19B6C}"/>
                </a:ext>
              </a:extLst>
            </p:cNvPr>
            <p:cNvCxnSpPr>
              <a:cxnSpLocks/>
            </p:cNvCxnSpPr>
            <p:nvPr/>
          </p:nvCxnSpPr>
          <p:spPr>
            <a:xfrm>
              <a:off x="2291313" y="3940228"/>
              <a:ext cx="281448" cy="7387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Hexagone 11">
              <a:extLst>
                <a:ext uri="{FF2B5EF4-FFF2-40B4-BE49-F238E27FC236}">
                  <a16:creationId xmlns:a16="http://schemas.microsoft.com/office/drawing/2014/main" id="{64772790-1226-BCF5-4C99-3FC1D6BD52D9}"/>
                </a:ext>
              </a:extLst>
            </p:cNvPr>
            <p:cNvSpPr/>
            <p:nvPr/>
          </p:nvSpPr>
          <p:spPr>
            <a:xfrm rot="5400000">
              <a:off x="2614980" y="3665309"/>
              <a:ext cx="648000" cy="612000"/>
            </a:xfrm>
            <a:prstGeom prst="hexagon">
              <a:avLst/>
            </a:prstGeom>
            <a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Hexagone 12">
              <a:extLst>
                <a:ext uri="{FF2B5EF4-FFF2-40B4-BE49-F238E27FC236}">
                  <a16:creationId xmlns:a16="http://schemas.microsoft.com/office/drawing/2014/main" id="{F880E0BC-FC84-8C92-39FC-A302426B6E0D}"/>
                </a:ext>
              </a:extLst>
            </p:cNvPr>
            <p:cNvSpPr/>
            <p:nvPr/>
          </p:nvSpPr>
          <p:spPr>
            <a:xfrm rot="5400000">
              <a:off x="1559028" y="3645309"/>
              <a:ext cx="648000" cy="612000"/>
            </a:xfrm>
            <a:prstGeom prst="hexagon">
              <a:avLst/>
            </a:prstGeom>
            <a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763C48-14C0-54C6-664A-8C0B926D8311}"/>
                </a:ext>
              </a:extLst>
            </p:cNvPr>
            <p:cNvSpPr/>
            <p:nvPr/>
          </p:nvSpPr>
          <p:spPr>
            <a:xfrm>
              <a:off x="1784804" y="3771309"/>
              <a:ext cx="180000" cy="360000"/>
            </a:xfrm>
            <a:prstGeom prst="rect">
              <a:avLst/>
            </a:prstGeom>
            <a:blipFill>
              <a:blip r:embed="rId7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7DD64FA1-6DED-5638-E077-876FCFF39CF8}"/>
                </a:ext>
              </a:extLst>
            </p:cNvPr>
            <p:cNvSpPr txBox="1"/>
            <p:nvPr/>
          </p:nvSpPr>
          <p:spPr>
            <a:xfrm>
              <a:off x="1444224" y="2708593"/>
              <a:ext cx="16672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 ces positions, </a:t>
              </a:r>
              <a:r>
                <a:rPr lang="fr-FR" sz="1200" b="1" dirty="0">
                  <a:solidFill>
                    <a:srgbClr val="FFC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détruire</a:t>
              </a:r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les donjons adverses et alliés</a:t>
              </a:r>
            </a:p>
          </p:txBody>
        </p:sp>
        <p:pic>
          <p:nvPicPr>
            <p:cNvPr id="37" name="Graphique 36" descr="Haute tension avec un remplissage uni">
              <a:extLst>
                <a:ext uri="{FF2B5EF4-FFF2-40B4-BE49-F238E27FC236}">
                  <a16:creationId xmlns:a16="http://schemas.microsoft.com/office/drawing/2014/main" id="{77BBE848-3249-8AB2-A0C3-D7CAE941BF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465857" y="4503767"/>
              <a:ext cx="504000" cy="504000"/>
            </a:xfrm>
            <a:prstGeom prst="rect">
              <a:avLst/>
            </a:prstGeom>
            <a:effectLst/>
          </p:spPr>
        </p:pic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341684A8-8634-1BCF-07ED-A776CA81C0FC}"/>
              </a:ext>
            </a:extLst>
          </p:cNvPr>
          <p:cNvGrpSpPr/>
          <p:nvPr/>
        </p:nvGrpSpPr>
        <p:grpSpPr>
          <a:xfrm>
            <a:off x="4591336" y="1773000"/>
            <a:ext cx="2124000" cy="3312000"/>
            <a:chOff x="4591336" y="1773000"/>
            <a:chExt cx="2124000" cy="3312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941BF41-8797-654C-B38E-8A994C86FE29}"/>
                </a:ext>
              </a:extLst>
            </p:cNvPr>
            <p:cNvSpPr/>
            <p:nvPr/>
          </p:nvSpPr>
          <p:spPr>
            <a:xfrm>
              <a:off x="4591336" y="1773000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90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0B8B297-D0AF-92B1-9FC1-D5E28D20955F}"/>
                </a:ext>
              </a:extLst>
            </p:cNvPr>
            <p:cNvSpPr/>
            <p:nvPr/>
          </p:nvSpPr>
          <p:spPr>
            <a:xfrm>
              <a:off x="4591336" y="1773000"/>
              <a:ext cx="2124000" cy="432000"/>
            </a:xfrm>
            <a:prstGeom prst="rect">
              <a:avLst/>
            </a:prstGeom>
            <a:blipFill dpi="0"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fr-FR" sz="1600" b="1" dirty="0">
                  <a:solidFill>
                    <a:srgbClr val="FFC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Malédiction Noire</a:t>
              </a:r>
            </a:p>
          </p:txBody>
        </p:sp>
        <p:cxnSp>
          <p:nvCxnSpPr>
            <p:cNvPr id="26" name="Connecteur droit avec flèche 25">
              <a:extLst>
                <a:ext uri="{FF2B5EF4-FFF2-40B4-BE49-F238E27FC236}">
                  <a16:creationId xmlns:a16="http://schemas.microsoft.com/office/drawing/2014/main" id="{31A77251-5C6C-74EE-0E9C-3BE6C4DBA9A5}"/>
                </a:ext>
              </a:extLst>
            </p:cNvPr>
            <p:cNvCxnSpPr>
              <a:cxnSpLocks/>
            </p:cNvCxnSpPr>
            <p:nvPr/>
          </p:nvCxnSpPr>
          <p:spPr>
            <a:xfrm>
              <a:off x="5532851" y="3918193"/>
              <a:ext cx="281448" cy="7387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Hexagone 26">
              <a:extLst>
                <a:ext uri="{FF2B5EF4-FFF2-40B4-BE49-F238E27FC236}">
                  <a16:creationId xmlns:a16="http://schemas.microsoft.com/office/drawing/2014/main" id="{DDE3248D-2889-8A8A-0C43-69623AE67C5B}"/>
                </a:ext>
              </a:extLst>
            </p:cNvPr>
            <p:cNvSpPr/>
            <p:nvPr/>
          </p:nvSpPr>
          <p:spPr>
            <a:xfrm rot="5400000">
              <a:off x="4813480" y="3642449"/>
              <a:ext cx="648000" cy="612000"/>
            </a:xfrm>
            <a:prstGeom prst="hexagon">
              <a:avLst/>
            </a:prstGeom>
            <a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77DD3665-6F46-AABF-76E4-B2174116476A}"/>
                </a:ext>
              </a:extLst>
            </p:cNvPr>
            <p:cNvSpPr/>
            <p:nvPr/>
          </p:nvSpPr>
          <p:spPr>
            <a:xfrm>
              <a:off x="5047480" y="3734087"/>
              <a:ext cx="180000" cy="180000"/>
            </a:xfrm>
            <a:prstGeom prst="ellipse">
              <a:avLst/>
            </a:prstGeom>
            <a:blipFill>
              <a:blip r:embed="rId7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A3B51F68-F402-FCAD-27A7-8A13239DC2E9}"/>
                </a:ext>
              </a:extLst>
            </p:cNvPr>
            <p:cNvSpPr/>
            <p:nvPr/>
          </p:nvSpPr>
          <p:spPr>
            <a:xfrm>
              <a:off x="5186808" y="3941445"/>
              <a:ext cx="180000" cy="180000"/>
            </a:xfrm>
            <a:prstGeom prst="ellipse">
              <a:avLst/>
            </a:prstGeom>
            <a:blipFill>
              <a:blip r:embed="rId7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CD745E5E-9F7A-0166-F2B1-6B98469EA2FC}"/>
                </a:ext>
              </a:extLst>
            </p:cNvPr>
            <p:cNvSpPr/>
            <p:nvPr/>
          </p:nvSpPr>
          <p:spPr>
            <a:xfrm>
              <a:off x="4913645" y="3941445"/>
              <a:ext cx="180000" cy="180000"/>
            </a:xfrm>
            <a:prstGeom prst="ellipse">
              <a:avLst/>
            </a:prstGeom>
            <a:blipFill>
              <a:blip r:embed="rId7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Hexagone 35">
              <a:extLst>
                <a:ext uri="{FF2B5EF4-FFF2-40B4-BE49-F238E27FC236}">
                  <a16:creationId xmlns:a16="http://schemas.microsoft.com/office/drawing/2014/main" id="{103606F8-D436-5DDB-C8C5-2D52F37967DF}"/>
                </a:ext>
              </a:extLst>
            </p:cNvPr>
            <p:cNvSpPr/>
            <p:nvPr/>
          </p:nvSpPr>
          <p:spPr>
            <a:xfrm rot="5400000">
              <a:off x="5847086" y="3640330"/>
              <a:ext cx="648000" cy="612000"/>
            </a:xfrm>
            <a:prstGeom prst="hexagon">
              <a:avLst/>
            </a:prstGeom>
            <a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448AB8B2-57E8-5E32-36CC-0D7B417AE224}"/>
                </a:ext>
              </a:extLst>
            </p:cNvPr>
            <p:cNvSpPr txBox="1"/>
            <p:nvPr/>
          </p:nvSpPr>
          <p:spPr>
            <a:xfrm>
              <a:off x="4707183" y="2690798"/>
              <a:ext cx="19708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 ces positions, envoyer au </a:t>
              </a:r>
              <a:r>
                <a:rPr lang="fr-FR" sz="1200" b="1" dirty="0">
                  <a:solidFill>
                    <a:srgbClr val="FFC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cimetière</a:t>
              </a:r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les troupes adverses et alliées</a:t>
              </a:r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9877112D-583E-8BE9-7836-2747A1EE29F1}"/>
                </a:ext>
              </a:extLst>
            </p:cNvPr>
            <p:cNvSpPr txBox="1"/>
            <p:nvPr/>
          </p:nvSpPr>
          <p:spPr>
            <a:xfrm>
              <a:off x="4678368" y="2318297"/>
              <a:ext cx="181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Tirer 3 cartes positions</a:t>
              </a:r>
            </a:p>
          </p:txBody>
        </p:sp>
        <p:sp>
          <p:nvSpPr>
            <p:cNvPr id="41" name="Signe de multiplication 40">
              <a:extLst>
                <a:ext uri="{FF2B5EF4-FFF2-40B4-BE49-F238E27FC236}">
                  <a16:creationId xmlns:a16="http://schemas.microsoft.com/office/drawing/2014/main" id="{ECB12322-C64E-2DBA-4D57-83FE4003B516}"/>
                </a:ext>
              </a:extLst>
            </p:cNvPr>
            <p:cNvSpPr/>
            <p:nvPr/>
          </p:nvSpPr>
          <p:spPr>
            <a:xfrm>
              <a:off x="5901086" y="3673564"/>
              <a:ext cx="540000" cy="540000"/>
            </a:xfrm>
            <a:prstGeom prst="mathMultiply">
              <a:avLst>
                <a:gd name="adj1" fmla="val 17346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8" name="Graphique 37" descr="Haute tension avec un remplissage uni">
              <a:extLst>
                <a:ext uri="{FF2B5EF4-FFF2-40B4-BE49-F238E27FC236}">
                  <a16:creationId xmlns:a16="http://schemas.microsoft.com/office/drawing/2014/main" id="{5EEA613E-C735-E486-12A1-2299249537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682808" y="4508351"/>
              <a:ext cx="504000" cy="504000"/>
            </a:xfrm>
            <a:prstGeom prst="rect">
              <a:avLst/>
            </a:prstGeom>
            <a:effectLst/>
          </p:spPr>
        </p:pic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185E04A7-08A8-0BDA-1630-BEF7E928BDEF}"/>
              </a:ext>
            </a:extLst>
          </p:cNvPr>
          <p:cNvGrpSpPr/>
          <p:nvPr/>
        </p:nvGrpSpPr>
        <p:grpSpPr>
          <a:xfrm>
            <a:off x="8007813" y="1773000"/>
            <a:ext cx="2124000" cy="3312000"/>
            <a:chOff x="8007813" y="1773000"/>
            <a:chExt cx="2124000" cy="331200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0F47962-B423-9F63-CCE9-EFDF04C078E6}"/>
                </a:ext>
              </a:extLst>
            </p:cNvPr>
            <p:cNvSpPr/>
            <p:nvPr/>
          </p:nvSpPr>
          <p:spPr>
            <a:xfrm>
              <a:off x="8007813" y="1773000"/>
              <a:ext cx="2124000" cy="3312000"/>
            </a:xfrm>
            <a:prstGeom prst="rect">
              <a:avLst/>
            </a:prstGeom>
            <a:blipFill dpi="0" rotWithShape="1">
              <a:blip r:embed="rId2">
                <a:alphaModFix amt="90000"/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AAE0CED-22F0-A405-15F6-4AD3F70B0189}"/>
                </a:ext>
              </a:extLst>
            </p:cNvPr>
            <p:cNvSpPr/>
            <p:nvPr/>
          </p:nvSpPr>
          <p:spPr>
            <a:xfrm>
              <a:off x="8007813" y="1773000"/>
              <a:ext cx="2124000" cy="432000"/>
            </a:xfrm>
            <a:prstGeom prst="rect">
              <a:avLst/>
            </a:prstGeom>
            <a:blipFill dpi="0"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rgbClr val="FFC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Vent de Sédition</a:t>
              </a:r>
            </a:p>
          </p:txBody>
        </p:sp>
        <p:cxnSp>
          <p:nvCxnSpPr>
            <p:cNvPr id="58" name="Connecteur droit avec flèche 57">
              <a:extLst>
                <a:ext uri="{FF2B5EF4-FFF2-40B4-BE49-F238E27FC236}">
                  <a16:creationId xmlns:a16="http://schemas.microsoft.com/office/drawing/2014/main" id="{4C096060-A716-94D4-AD21-C9D7D60D1601}"/>
                </a:ext>
              </a:extLst>
            </p:cNvPr>
            <p:cNvCxnSpPr>
              <a:cxnSpLocks/>
            </p:cNvCxnSpPr>
            <p:nvPr/>
          </p:nvCxnSpPr>
          <p:spPr>
            <a:xfrm>
              <a:off x="8937402" y="3919478"/>
              <a:ext cx="281448" cy="7387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Hexagone 59">
              <a:extLst>
                <a:ext uri="{FF2B5EF4-FFF2-40B4-BE49-F238E27FC236}">
                  <a16:creationId xmlns:a16="http://schemas.microsoft.com/office/drawing/2014/main" id="{F343A1D4-B197-785F-33D3-9B530CD722B9}"/>
                </a:ext>
              </a:extLst>
            </p:cNvPr>
            <p:cNvSpPr/>
            <p:nvPr/>
          </p:nvSpPr>
          <p:spPr>
            <a:xfrm rot="5400000">
              <a:off x="8218031" y="3643734"/>
              <a:ext cx="648000" cy="612000"/>
            </a:xfrm>
            <a:prstGeom prst="hexagon">
              <a:avLst/>
            </a:prstGeom>
            <a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5A19CA06-04B5-360B-886E-CBBC2A69439F}"/>
                </a:ext>
              </a:extLst>
            </p:cNvPr>
            <p:cNvSpPr/>
            <p:nvPr/>
          </p:nvSpPr>
          <p:spPr>
            <a:xfrm>
              <a:off x="8452031" y="3735372"/>
              <a:ext cx="180000" cy="180000"/>
            </a:xfrm>
            <a:prstGeom prst="ellipse">
              <a:avLst/>
            </a:prstGeom>
            <a:blipFill>
              <a:blip r:embed="rId7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6684A19F-C5C1-05BD-7CEB-2AD8F277E9B2}"/>
                </a:ext>
              </a:extLst>
            </p:cNvPr>
            <p:cNvSpPr/>
            <p:nvPr/>
          </p:nvSpPr>
          <p:spPr>
            <a:xfrm>
              <a:off x="8591359" y="3942730"/>
              <a:ext cx="180000" cy="180000"/>
            </a:xfrm>
            <a:prstGeom prst="ellipse">
              <a:avLst/>
            </a:prstGeom>
            <a:blipFill>
              <a:blip r:embed="rId7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59270F8A-F28B-CEA1-89C3-16C608132197}"/>
                </a:ext>
              </a:extLst>
            </p:cNvPr>
            <p:cNvSpPr/>
            <p:nvPr/>
          </p:nvSpPr>
          <p:spPr>
            <a:xfrm>
              <a:off x="8318196" y="3942730"/>
              <a:ext cx="180000" cy="180000"/>
            </a:xfrm>
            <a:prstGeom prst="ellipse">
              <a:avLst/>
            </a:prstGeom>
            <a:blipFill>
              <a:blip r:embed="rId7"/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8" name="Hexagone 127">
              <a:extLst>
                <a:ext uri="{FF2B5EF4-FFF2-40B4-BE49-F238E27FC236}">
                  <a16:creationId xmlns:a16="http://schemas.microsoft.com/office/drawing/2014/main" id="{B291E151-719F-0E05-3291-0F3BC8CD2B5E}"/>
                </a:ext>
              </a:extLst>
            </p:cNvPr>
            <p:cNvSpPr/>
            <p:nvPr/>
          </p:nvSpPr>
          <p:spPr>
            <a:xfrm rot="5400000">
              <a:off x="9251637" y="3641615"/>
              <a:ext cx="648000" cy="612000"/>
            </a:xfrm>
            <a:prstGeom prst="hexagon">
              <a:avLst/>
            </a:prstGeom>
            <a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9" name="ZoneTexte 128">
              <a:extLst>
                <a:ext uri="{FF2B5EF4-FFF2-40B4-BE49-F238E27FC236}">
                  <a16:creationId xmlns:a16="http://schemas.microsoft.com/office/drawing/2014/main" id="{0DAAAFE7-B438-8A35-4EAC-E8569256F61B}"/>
                </a:ext>
              </a:extLst>
            </p:cNvPr>
            <p:cNvSpPr txBox="1"/>
            <p:nvPr/>
          </p:nvSpPr>
          <p:spPr>
            <a:xfrm>
              <a:off x="8094639" y="2708593"/>
              <a:ext cx="20130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 ces positions, renvoyer en </a:t>
              </a:r>
              <a:r>
                <a:rPr lang="fr-FR" sz="1200" b="1" dirty="0">
                  <a:solidFill>
                    <a:srgbClr val="FFC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réserve</a:t>
              </a:r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les troupes adverses et alliées</a:t>
              </a:r>
            </a:p>
          </p:txBody>
        </p:sp>
        <p:sp>
          <p:nvSpPr>
            <p:cNvPr id="130" name="ZoneTexte 129">
              <a:extLst>
                <a:ext uri="{FF2B5EF4-FFF2-40B4-BE49-F238E27FC236}">
                  <a16:creationId xmlns:a16="http://schemas.microsoft.com/office/drawing/2014/main" id="{BEA9BF64-BD61-DF15-E0CB-777D034BFE57}"/>
                </a:ext>
              </a:extLst>
            </p:cNvPr>
            <p:cNvSpPr txBox="1"/>
            <p:nvPr/>
          </p:nvSpPr>
          <p:spPr>
            <a:xfrm>
              <a:off x="8086002" y="2313488"/>
              <a:ext cx="181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Tirer 3 cartes positions</a:t>
              </a:r>
            </a:p>
          </p:txBody>
        </p:sp>
        <p:sp>
          <p:nvSpPr>
            <p:cNvPr id="131" name="Flèche : demi-tour 130">
              <a:extLst>
                <a:ext uri="{FF2B5EF4-FFF2-40B4-BE49-F238E27FC236}">
                  <a16:creationId xmlns:a16="http://schemas.microsoft.com/office/drawing/2014/main" id="{FC5AA5DE-BBFB-B555-B3FD-8F0514143C7F}"/>
                </a:ext>
              </a:extLst>
            </p:cNvPr>
            <p:cNvSpPr/>
            <p:nvPr/>
          </p:nvSpPr>
          <p:spPr>
            <a:xfrm rot="5400000">
              <a:off x="9428884" y="3775502"/>
              <a:ext cx="375114" cy="348464"/>
            </a:xfrm>
            <a:prstGeom prst="uturnArrow">
              <a:avLst>
                <a:gd name="adj1" fmla="val 19537"/>
                <a:gd name="adj2" fmla="val 25000"/>
                <a:gd name="adj3" fmla="val 25000"/>
                <a:gd name="adj4" fmla="val 42384"/>
                <a:gd name="adj5" fmla="val 97049"/>
              </a:avLst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pic>
          <p:nvPicPr>
            <p:cNvPr id="42" name="Graphique 41" descr="Haute tension avec un remplissage uni">
              <a:extLst>
                <a:ext uri="{FF2B5EF4-FFF2-40B4-BE49-F238E27FC236}">
                  <a16:creationId xmlns:a16="http://schemas.microsoft.com/office/drawing/2014/main" id="{47E7DDEE-DC97-309E-B4B7-34692CA910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102346" y="4503767"/>
              <a:ext cx="504000" cy="504000"/>
            </a:xfrm>
            <a:prstGeom prst="rect">
              <a:avLst/>
            </a:prstGeom>
            <a:effectLst/>
          </p:spPr>
        </p:pic>
      </p:grpSp>
    </p:spTree>
    <p:extLst>
      <p:ext uri="{BB962C8B-B14F-4D97-AF65-F5344CB8AC3E}">
        <p14:creationId xmlns:p14="http://schemas.microsoft.com/office/powerpoint/2010/main" val="4209361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92B8-BEB2-CD37-5E0D-3B1C20E5D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85A725D1-5F3E-5EF4-1F9D-A72F9429E388}"/>
              </a:ext>
            </a:extLst>
          </p:cNvPr>
          <p:cNvGrpSpPr/>
          <p:nvPr/>
        </p:nvGrpSpPr>
        <p:grpSpPr>
          <a:xfrm>
            <a:off x="1193610" y="1313006"/>
            <a:ext cx="2124000" cy="3312000"/>
            <a:chOff x="4086162" y="1398350"/>
            <a:chExt cx="2124000" cy="331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7F2D381-5C0E-F6A4-3606-20FB9A98F649}"/>
                </a:ext>
              </a:extLst>
            </p:cNvPr>
            <p:cNvSpPr/>
            <p:nvPr/>
          </p:nvSpPr>
          <p:spPr>
            <a:xfrm>
              <a:off x="4086162" y="1398350"/>
              <a:ext cx="2124000" cy="3312000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847804-2003-5B89-A2A8-EC4A1FC10E34}"/>
                </a:ext>
              </a:extLst>
            </p:cNvPr>
            <p:cNvSpPr/>
            <p:nvPr/>
          </p:nvSpPr>
          <p:spPr>
            <a:xfrm>
              <a:off x="4086162" y="1398350"/>
              <a:ext cx="2124000" cy="432000"/>
            </a:xfrm>
            <a:prstGeom prst="rect">
              <a:avLst/>
            </a:prstGeom>
            <a:blipFill dpi="0"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Héraut de </a:t>
              </a:r>
              <a:b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Pourparlers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24A42FFE-B064-E09D-36F4-B5E8E42F9F34}"/>
                </a:ext>
              </a:extLst>
            </p:cNvPr>
            <p:cNvSpPr txBox="1"/>
            <p:nvPr/>
          </p:nvSpPr>
          <p:spPr>
            <a:xfrm>
              <a:off x="4375837" y="1896619"/>
              <a:ext cx="155575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Placer ce Héraut dans la zone du </a:t>
              </a: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Conseil</a:t>
              </a:r>
            </a:p>
          </p:txBody>
        </p:sp>
        <p:pic>
          <p:nvPicPr>
            <p:cNvPr id="11" name="Graphique 10" descr="Haute tension avec un remplissage uni">
              <a:extLst>
                <a:ext uri="{FF2B5EF4-FFF2-40B4-BE49-F238E27FC236}">
                  <a16:creationId xmlns:a16="http://schemas.microsoft.com/office/drawing/2014/main" id="{3E9BEA5B-C366-5E03-63AD-624E309DFA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15407" y="4129117"/>
              <a:ext cx="504000" cy="504000"/>
            </a:xfrm>
            <a:prstGeom prst="rect">
              <a:avLst/>
            </a:prstGeom>
            <a:effectLst/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42C6F7EC-1E89-645F-9039-259B8C9A3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rgbClr val="E6E6BB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rcRect l="11291" t="9516" r="9677"/>
            <a:stretch>
              <a:fillRect/>
            </a:stretch>
          </p:blipFill>
          <p:spPr>
            <a:xfrm>
              <a:off x="4302558" y="2272016"/>
              <a:ext cx="1691207" cy="1936259"/>
            </a:xfrm>
            <a:prstGeom prst="rect">
              <a:avLst/>
            </a:prstGeom>
          </p:spPr>
        </p:pic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3D1FE65E-AB10-D706-F285-932A85A396C9}"/>
                </a:ext>
              </a:extLst>
            </p:cNvPr>
            <p:cNvSpPr txBox="1"/>
            <p:nvPr/>
          </p:nvSpPr>
          <p:spPr>
            <a:xfrm>
              <a:off x="4890819" y="4305424"/>
              <a:ext cx="1147930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0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Conseil complet</a:t>
              </a:r>
              <a:br>
                <a:rPr lang="fr-FR" sz="1000" b="1" dirty="0"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latin typeface="Segoe UI" panose="020B05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</a:t>
              </a:r>
              <a:r>
                <a:rPr lang="fr-FR" sz="10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fr-FR" sz="10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fin de partie</a:t>
              </a:r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FF306BD2-CBF6-31ED-37DC-59D1EE4C0F95}"/>
              </a:ext>
            </a:extLst>
          </p:cNvPr>
          <p:cNvGrpSpPr/>
          <p:nvPr/>
        </p:nvGrpSpPr>
        <p:grpSpPr>
          <a:xfrm>
            <a:off x="7212550" y="1313006"/>
            <a:ext cx="2125204" cy="3312000"/>
            <a:chOff x="7212550" y="1313006"/>
            <a:chExt cx="2125204" cy="33120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729FFE2-5FA2-68FC-560F-F556A53D0BA2}"/>
                </a:ext>
              </a:extLst>
            </p:cNvPr>
            <p:cNvSpPr/>
            <p:nvPr/>
          </p:nvSpPr>
          <p:spPr>
            <a:xfrm>
              <a:off x="7213754" y="1313006"/>
              <a:ext cx="2124000" cy="3312000"/>
            </a:xfrm>
            <a:prstGeom prst="rect">
              <a:avLst/>
            </a:prstGeom>
            <a:blipFill dpi="0" rotWithShape="1"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A4C5E52-93A7-3A79-BECE-6F39167BB3AB}"/>
                </a:ext>
              </a:extLst>
            </p:cNvPr>
            <p:cNvSpPr/>
            <p:nvPr/>
          </p:nvSpPr>
          <p:spPr>
            <a:xfrm>
              <a:off x="7644550" y="1313006"/>
              <a:ext cx="1257100" cy="432000"/>
            </a:xfrm>
            <a:prstGeom prst="rect">
              <a:avLst/>
            </a:prstGeom>
            <a:blipFill dpi="0"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Complot</a:t>
              </a:r>
              <a:b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à la Cour</a:t>
              </a:r>
            </a:p>
          </p:txBody>
        </p:sp>
        <p:sp>
          <p:nvSpPr>
            <p:cNvPr id="33" name="Cercle : creux 32">
              <a:extLst>
                <a:ext uri="{FF2B5EF4-FFF2-40B4-BE49-F238E27FC236}">
                  <a16:creationId xmlns:a16="http://schemas.microsoft.com/office/drawing/2014/main" id="{6B7CF7C4-6CD4-4D79-C52B-D7CA17820A05}"/>
                </a:ext>
              </a:extLst>
            </p:cNvPr>
            <p:cNvSpPr/>
            <p:nvPr/>
          </p:nvSpPr>
          <p:spPr>
            <a:xfrm>
              <a:off x="7316645" y="4142598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10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F7964BA5-3CCC-A553-EA8C-B72CA4022C11}"/>
                </a:ext>
              </a:extLst>
            </p:cNvPr>
            <p:cNvSpPr txBox="1"/>
            <p:nvPr/>
          </p:nvSpPr>
          <p:spPr>
            <a:xfrm>
              <a:off x="7394431" y="1835497"/>
              <a:ext cx="18722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Piocher </a:t>
              </a: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6 cartes</a:t>
              </a: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, puis défausser pour n'en garder que </a:t>
              </a: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6 en main</a:t>
              </a:r>
            </a:p>
          </p:txBody>
        </p:sp>
        <p:pic>
          <p:nvPicPr>
            <p:cNvPr id="35" name="Espace réservé du contenu 57" descr="Une image contenant croquis, habits, dessin humoristique, animation japonaise&#10;&#10;Le contenu généré par l’IA peut être incorrect.">
              <a:extLst>
                <a:ext uri="{FF2B5EF4-FFF2-40B4-BE49-F238E27FC236}">
                  <a16:creationId xmlns:a16="http://schemas.microsoft.com/office/drawing/2014/main" id="{392A0D5A-A8CF-182F-7F7C-2904F4B4F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prstClr val="black"/>
                <a:srgbClr val="ECF3C9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25781" b="99023" l="11719" r="95508">
                          <a14:foregroundMark x1="36967" y1="30558" x2="36735" y2="30971"/>
                          <a14:foregroundMark x1="25249" y1="43687" x2="20414" y2="53638"/>
                          <a14:foregroundMark x1="62444" y1="28163" x2="64022" y2="28024"/>
                          <a14:foregroundMark x1="91450" y1="89832" x2="91602" y2="90820"/>
                          <a14:foregroundMark x1="10938" y1="90527" x2="29688" y2="90527"/>
                          <a14:foregroundMark x1="29688" y1="90527" x2="82129" y2="90039"/>
                          <a14:foregroundMark x1="82129" y1="90039" x2="93066" y2="94824"/>
                          <a14:foregroundMark x1="93066" y1="94824" x2="95508" y2="99121"/>
                          <a14:foregroundMark x1="41577" y1="29655" x2="53906" y2="33594"/>
                          <a14:foregroundMark x1="53906" y1="33594" x2="66496" y2="32132"/>
                          <a14:foregroundMark x1="65337" y1="30209" x2="61907" y2="28702"/>
                          <a14:foregroundMark x1="45410" y1="27832" x2="36426" y2="30664"/>
                          <a14:foregroundMark x1="36426" y1="30664" x2="34766" y2="35059"/>
                          <a14:foregroundMark x1="51367" y1="29102" x2="52344" y2="29395"/>
                          <a14:foregroundMark x1="48242" y1="31055" x2="56543" y2="29883"/>
                          <a14:foregroundMark x1="56543" y1="29883" x2="53223" y2="29590"/>
                          <a14:foregroundMark x1="65625" y1="27637" x2="68772" y2="33353"/>
                          <a14:foregroundMark x1="69265" y1="34395" x2="65723" y2="28418"/>
                          <a14:foregroundMark x1="65723" y1="28418" x2="63672" y2="28027"/>
                          <a14:foregroundMark x1="58398" y1="28516" x2="66602" y2="27637"/>
                          <a14:foregroundMark x1="66602" y1="27637" x2="69400" y2="33645"/>
                          <a14:backgroundMark x1="66895" y1="61523" x2="66016" y2="78320"/>
                          <a14:backgroundMark x1="66016" y1="78320" x2="68750" y2="68945"/>
                          <a14:backgroundMark x1="68750" y1="68945" x2="66797" y2="62012"/>
                          <a14:backgroundMark x1="66797" y1="62012" x2="65332" y2="70313"/>
                          <a14:backgroundMark x1="65332" y1="70313" x2="67090" y2="62109"/>
                          <a14:backgroundMark x1="67090" y1="62109" x2="66992" y2="61914"/>
                          <a14:backgroundMark x1="66504" y1="62500" x2="66211" y2="74707"/>
                          <a14:backgroundMark x1="66211" y1="74707" x2="69043" y2="66211"/>
                          <a14:backgroundMark x1="69043" y1="66211" x2="66309" y2="62891"/>
                          <a14:backgroundMark x1="66309" y1="62988" x2="66699" y2="73047"/>
                          <a14:backgroundMark x1="66699" y1="73047" x2="66797" y2="64160"/>
                          <a14:backgroundMark x1="66797" y1="64160" x2="66113" y2="73926"/>
                          <a14:backgroundMark x1="66113" y1="73926" x2="68262" y2="64941"/>
                          <a14:backgroundMark x1="68262" y1="64941" x2="66699" y2="61816"/>
                          <a14:backgroundMark x1="35327" y1="29383" x2="35182" y2="30215"/>
                          <a14:backgroundMark x1="35938" y1="25879" x2="35342" y2="29293"/>
                          <a14:backgroundMark x1="34012" y1="34786" x2="28809" y2="40527"/>
                          <a14:backgroundMark x1="28809" y1="40527" x2="24023" y2="42480"/>
                          <a14:backgroundMark x1="45403" y1="27824" x2="51615" y2="28784"/>
                          <a14:backgroundMark x1="57099" y1="28931" x2="58382" y2="28542"/>
                          <a14:backgroundMark x1="44493" y1="26671" x2="58496" y2="27051"/>
                          <a14:backgroundMark x1="29688" y1="26270" x2="43973" y2="26657"/>
                          <a14:backgroundMark x1="58496" y1="27051" x2="50000" y2="24121"/>
                          <a14:backgroundMark x1="50000" y1="24121" x2="33984" y2="23926"/>
                          <a14:backgroundMark x1="33984" y1="23926" x2="31543" y2="25879"/>
                          <a14:backgroundMark x1="18848" y1="53027" x2="11035" y2="88672"/>
                          <a14:backgroundMark x1="71533" y1="35763" x2="78027" y2="40039"/>
                          <a14:backgroundMark x1="78027" y1="40039" x2="74316" y2="38672"/>
                          <a14:backgroundMark x1="76855" y1="40234" x2="83301" y2="47070"/>
                          <a14:backgroundMark x1="83301" y1="47070" x2="90820" y2="89941"/>
                          <a14:backgroundMark x1="42578" y1="42383" x2="43848" y2="45020"/>
                          <a14:backgroundMark x1="62500" y1="42578" x2="61426" y2="45313"/>
                          <a14:backgroundMark x1="66211" y1="79297" x2="65918" y2="86426"/>
                          <a14:backgroundMark x1="70117" y1="34082" x2="71582" y2="37891"/>
                          <a14:backgroundMark x1="69141" y1="34863" x2="69141" y2="34863"/>
                          <a14:backgroundMark x1="69629" y1="34375" x2="69629" y2="34375"/>
                          <a14:backgroundMark x1="69141" y1="34570" x2="69141" y2="34570"/>
                          <a14:backgroundMark x1="69922" y1="34375" x2="69629" y2="35547"/>
                          <a14:backgroundMark x1="69922" y1="33887" x2="69434" y2="34863"/>
                        </a14:backgroundRemoval>
                      </a14:imgEffect>
                      <a14:imgEffect>
                        <a14:brightnessContrast bright="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55" t="26330" r="15864" b="35305"/>
            <a:stretch>
              <a:fillRect/>
            </a:stretch>
          </p:blipFill>
          <p:spPr>
            <a:xfrm>
              <a:off x="7428550" y="2572319"/>
              <a:ext cx="1689100" cy="1028897"/>
            </a:xfrm>
            <a:prstGeom prst="rect">
              <a:avLst/>
            </a:pr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78DBC73-8FBE-607A-C06A-CF4376A451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61617" y="3798900"/>
              <a:ext cx="346301" cy="540000"/>
            </a:xfrm>
            <a:prstGeom prst="rect">
              <a:avLst/>
            </a:prstGeom>
            <a:blipFill dpi="0" rotWithShape="1"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20DE0EF-8A9F-397F-6132-541D83E483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59827" y="3798900"/>
              <a:ext cx="346301" cy="540000"/>
            </a:xfrm>
            <a:prstGeom prst="rect">
              <a:avLst/>
            </a:prstGeom>
            <a:blipFill dpi="0" rotWithShape="1"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482C5F8-44F0-E794-39B4-3F92A5F8E5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58037" y="3798900"/>
              <a:ext cx="335556" cy="540000"/>
            </a:xfrm>
            <a:prstGeom prst="rect">
              <a:avLst/>
            </a:prstGeom>
            <a:blipFill dpi="0" rotWithShape="1"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B6CD307-9970-4CE6-B8FB-D420B0C8EB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75754" y="3928900"/>
              <a:ext cx="346301" cy="540000"/>
            </a:xfrm>
            <a:prstGeom prst="rect">
              <a:avLst/>
            </a:prstGeom>
            <a:blipFill dpi="0" rotWithShape="1"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CCC48D4-EC91-C745-4E27-FA49665E0E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80159" y="3928900"/>
              <a:ext cx="346301" cy="540000"/>
            </a:xfrm>
            <a:prstGeom prst="rect">
              <a:avLst/>
            </a:prstGeom>
            <a:blipFill dpi="0" rotWithShape="1">
              <a:blip r:embed="rId14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WatercolorSponge/>
                        </a14:imgEffect>
                        <a14:imgEffect>
                          <a14:brightnessContrast brigh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C09C80C-C2FB-5278-D737-B4DEC32D59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71349" y="3928900"/>
              <a:ext cx="346301" cy="540000"/>
            </a:xfrm>
            <a:prstGeom prst="rect">
              <a:avLst/>
            </a:prstGeom>
            <a:blipFill dpi="0" rotWithShape="1"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425E438-23EC-9A89-0B53-68035A34CF10}"/>
                </a:ext>
              </a:extLst>
            </p:cNvPr>
            <p:cNvSpPr/>
            <p:nvPr/>
          </p:nvSpPr>
          <p:spPr>
            <a:xfrm>
              <a:off x="7212550" y="1313006"/>
              <a:ext cx="432000" cy="432000"/>
            </a:xfrm>
            <a:prstGeom prst="rect">
              <a:avLst/>
            </a:prstGeom>
            <a:blipFill dpi="0"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9365265-5324-9DCB-F478-F3DD4C8D7B3F}"/>
                </a:ext>
              </a:extLst>
            </p:cNvPr>
            <p:cNvSpPr/>
            <p:nvPr/>
          </p:nvSpPr>
          <p:spPr>
            <a:xfrm>
              <a:off x="8901650" y="1313006"/>
              <a:ext cx="432000" cy="432000"/>
            </a:xfrm>
            <a:prstGeom prst="rect">
              <a:avLst/>
            </a:prstGeom>
            <a:blipFill dpi="0"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</a:t>
              </a:r>
            </a:p>
          </p:txBody>
        </p:sp>
      </p:grp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BBB01BB1-A55A-62C1-A08A-D31504666C29}"/>
              </a:ext>
            </a:extLst>
          </p:cNvPr>
          <p:cNvGrpSpPr/>
          <p:nvPr/>
        </p:nvGrpSpPr>
        <p:grpSpPr>
          <a:xfrm>
            <a:off x="4266350" y="1313006"/>
            <a:ext cx="2125204" cy="3312000"/>
            <a:chOff x="4266350" y="1313006"/>
            <a:chExt cx="2125204" cy="3312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FDE3599-4F21-391E-9E3B-1CEDFCD46E69}"/>
                </a:ext>
              </a:extLst>
            </p:cNvPr>
            <p:cNvSpPr/>
            <p:nvPr/>
          </p:nvSpPr>
          <p:spPr>
            <a:xfrm>
              <a:off x="4267554" y="1313006"/>
              <a:ext cx="2124000" cy="3312000"/>
            </a:xfrm>
            <a:prstGeom prst="rect">
              <a:avLst/>
            </a:prstGeom>
            <a:blipFill dpi="0" rotWithShape="1"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B92450AC-1C57-474D-1A5C-6A869A46B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duotone>
                <a:prstClr val="black"/>
                <a:srgbClr val="FFFFCB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66" t="4400" r="11258" b="34958"/>
            <a:stretch>
              <a:fillRect/>
            </a:stretch>
          </p:blipFill>
          <p:spPr>
            <a:xfrm>
              <a:off x="4599039" y="2429005"/>
              <a:ext cx="1455721" cy="1791076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A94E8E-18F2-6EFB-F7CF-3597BC7D03C2}"/>
                </a:ext>
              </a:extLst>
            </p:cNvPr>
            <p:cNvSpPr/>
            <p:nvPr/>
          </p:nvSpPr>
          <p:spPr>
            <a:xfrm>
              <a:off x="4698350" y="1313006"/>
              <a:ext cx="1257100" cy="432000"/>
            </a:xfrm>
            <a:prstGeom prst="rect">
              <a:avLst/>
            </a:prstGeom>
            <a:blipFill dpi="0"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Espion</a:t>
              </a:r>
            </a:p>
          </p:txBody>
        </p:sp>
        <p:sp>
          <p:nvSpPr>
            <p:cNvPr id="17" name="Cercle : creux 16">
              <a:extLst>
                <a:ext uri="{FF2B5EF4-FFF2-40B4-BE49-F238E27FC236}">
                  <a16:creationId xmlns:a16="http://schemas.microsoft.com/office/drawing/2014/main" id="{C36F6063-9A94-D846-93B1-E71C02460389}"/>
                </a:ext>
              </a:extLst>
            </p:cNvPr>
            <p:cNvSpPr/>
            <p:nvPr/>
          </p:nvSpPr>
          <p:spPr>
            <a:xfrm>
              <a:off x="4370445" y="4142598"/>
              <a:ext cx="360000" cy="360000"/>
            </a:xfrm>
            <a:prstGeom prst="donut">
              <a:avLst>
                <a:gd name="adj" fmla="val 15271"/>
              </a:avLst>
            </a:prstGeom>
            <a:blipFill>
              <a:blip r:embed="rId10"/>
              <a:tile tx="0" ty="0" sx="100000" sy="100000" flip="none" algn="tl"/>
            </a:blipFill>
            <a:ln w="127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CDED4F19-E7BE-6417-3D3C-F3591DA0B7C6}"/>
                </a:ext>
              </a:extLst>
            </p:cNvPr>
            <p:cNvSpPr txBox="1"/>
            <p:nvPr/>
          </p:nvSpPr>
          <p:spPr>
            <a:xfrm>
              <a:off x="4443500" y="1875006"/>
              <a:ext cx="1766797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Piocher </a:t>
              </a: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 cartes </a:t>
              </a: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dans la main d’un </a:t>
              </a: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adversaire</a:t>
              </a:r>
              <a:r>
                <a:rPr lang="fr-FR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 et les défausser</a:t>
              </a:r>
              <a:endParaRPr lang="fr-FR" sz="12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D829D37-A887-4CE4-5BB5-80ACC5CB96EF}"/>
                </a:ext>
              </a:extLst>
            </p:cNvPr>
            <p:cNvSpPr/>
            <p:nvPr/>
          </p:nvSpPr>
          <p:spPr>
            <a:xfrm>
              <a:off x="4266350" y="1313006"/>
              <a:ext cx="432000" cy="432000"/>
            </a:xfrm>
            <a:prstGeom prst="rect">
              <a:avLst/>
            </a:prstGeom>
            <a:blipFill dpi="0"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6DE65A6-9BF3-6ED5-7EF8-A5B1AE9A5E1F}"/>
                </a:ext>
              </a:extLst>
            </p:cNvPr>
            <p:cNvSpPr/>
            <p:nvPr/>
          </p:nvSpPr>
          <p:spPr>
            <a:xfrm>
              <a:off x="5955450" y="1313006"/>
              <a:ext cx="432000" cy="432000"/>
            </a:xfrm>
            <a:prstGeom prst="rect">
              <a:avLst/>
            </a:prstGeom>
            <a:blipFill dpi="0" rotWithShape="1"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48D4BB3-729C-EC99-1183-4319148B6E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25663" y="3819757"/>
              <a:ext cx="335556" cy="540000"/>
            </a:xfrm>
            <a:prstGeom prst="rect">
              <a:avLst/>
            </a:prstGeom>
            <a:blipFill dpi="0" rotWithShape="1"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86EC947-2926-65B6-DDB7-C151801DF9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38975" y="3949757"/>
              <a:ext cx="346301" cy="540000"/>
            </a:xfrm>
            <a:prstGeom prst="rect">
              <a:avLst/>
            </a:prstGeom>
            <a:blipFill dpi="0" rotWithShape="1"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aintBrush/>
                        </a14:imgEffect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804880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97D16-D92A-53B1-BA09-B702E1C90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e 133">
            <a:extLst>
              <a:ext uri="{FF2B5EF4-FFF2-40B4-BE49-F238E27FC236}">
                <a16:creationId xmlns:a16="http://schemas.microsoft.com/office/drawing/2014/main" id="{8197B654-E2F4-A614-69C4-2E8C211522F2}"/>
              </a:ext>
            </a:extLst>
          </p:cNvPr>
          <p:cNvGrpSpPr/>
          <p:nvPr/>
        </p:nvGrpSpPr>
        <p:grpSpPr>
          <a:xfrm>
            <a:off x="1336612" y="1773000"/>
            <a:ext cx="2124000" cy="3312000"/>
            <a:chOff x="1336612" y="1773000"/>
            <a:chExt cx="2124000" cy="331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77516E0-138E-3B87-A2BC-53D966977BE0}"/>
                </a:ext>
              </a:extLst>
            </p:cNvPr>
            <p:cNvSpPr/>
            <p:nvPr/>
          </p:nvSpPr>
          <p:spPr>
            <a:xfrm>
              <a:off x="1336612" y="1773000"/>
              <a:ext cx="2124000" cy="3312000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" name="Image 1">
              <a:extLst>
                <a:ext uri="{FF2B5EF4-FFF2-40B4-BE49-F238E27FC236}">
                  <a16:creationId xmlns:a16="http://schemas.microsoft.com/office/drawing/2014/main" id="{7C0E9DF3-C374-ECE8-83DB-4EF846F17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1700" y="1997262"/>
              <a:ext cx="415785" cy="360000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250DBF72-03BE-152A-4B8D-D65206F99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14772" y="2450423"/>
              <a:ext cx="415785" cy="360000"/>
            </a:xfrm>
            <a:prstGeom prst="rect">
              <a:avLst/>
            </a:prstGeom>
          </p:spPr>
        </p:pic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A4B71B59-ADCD-0C16-D359-7088AC9C5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17273" y="2313583"/>
              <a:ext cx="415909" cy="360000"/>
            </a:xfrm>
            <a:prstGeom prst="rect">
              <a:avLst/>
            </a:prstGeom>
          </p:spPr>
        </p:pic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329C4BC3-A789-5F71-072D-C79BCEF50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70817" y="3430581"/>
              <a:ext cx="415785" cy="360000"/>
            </a:xfrm>
            <a:prstGeom prst="rect">
              <a:avLst/>
            </a:prstGeom>
          </p:spPr>
        </p:pic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BDA581E9-F9A3-3A2B-317D-16EEED29B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7885" y="2954309"/>
              <a:ext cx="415785" cy="360000"/>
            </a:xfrm>
            <a:prstGeom prst="rect">
              <a:avLst/>
            </a:prstGeom>
          </p:spPr>
        </p:pic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BEE48979-DD8D-8B92-AFEC-950E3F8B63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86530" y="3290171"/>
              <a:ext cx="415785" cy="360000"/>
            </a:xfrm>
            <a:prstGeom prst="rect">
              <a:avLst/>
            </a:prstGeom>
          </p:spPr>
        </p:pic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6B50CCF9-E3C9-CFCA-E00B-537C6C139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89046" y="3766036"/>
              <a:ext cx="415785" cy="360000"/>
            </a:xfrm>
            <a:prstGeom prst="rect">
              <a:avLst/>
            </a:prstGeom>
          </p:spPr>
        </p:pic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B40B2305-367D-10E9-FEB3-F078B6647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6154" y="3601353"/>
              <a:ext cx="415785" cy="360000"/>
            </a:xfrm>
            <a:prstGeom prst="rect">
              <a:avLst/>
            </a:prstGeom>
          </p:spPr>
        </p:pic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F197A6B3-6915-6AB3-A286-4934EAA6B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93714" y="4130201"/>
              <a:ext cx="415909" cy="360000"/>
            </a:xfrm>
            <a:prstGeom prst="rect">
              <a:avLst/>
            </a:prstGeom>
          </p:spPr>
        </p:pic>
        <p:pic>
          <p:nvPicPr>
            <p:cNvPr id="33" name="Image 32">
              <a:extLst>
                <a:ext uri="{FF2B5EF4-FFF2-40B4-BE49-F238E27FC236}">
                  <a16:creationId xmlns:a16="http://schemas.microsoft.com/office/drawing/2014/main" id="{655AC0EC-15C5-C8DE-BCA8-48522EEFB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60920" y="4601902"/>
              <a:ext cx="415785" cy="360000"/>
            </a:xfrm>
            <a:prstGeom prst="rect">
              <a:avLst/>
            </a:prstGeom>
          </p:spPr>
        </p:pic>
        <p:pic>
          <p:nvPicPr>
            <p:cNvPr id="35" name="Image 34">
              <a:extLst>
                <a:ext uri="{FF2B5EF4-FFF2-40B4-BE49-F238E27FC236}">
                  <a16:creationId xmlns:a16="http://schemas.microsoft.com/office/drawing/2014/main" id="{10C4DB58-7DC4-9398-F33D-41D6E0B410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87493" y="3923396"/>
              <a:ext cx="415785" cy="360000"/>
            </a:xfrm>
            <a:prstGeom prst="rect">
              <a:avLst/>
            </a:prstGeom>
          </p:spPr>
        </p:pic>
        <p:pic>
          <p:nvPicPr>
            <p:cNvPr id="37" name="Image 36">
              <a:extLst>
                <a:ext uri="{FF2B5EF4-FFF2-40B4-BE49-F238E27FC236}">
                  <a16:creationId xmlns:a16="http://schemas.microsoft.com/office/drawing/2014/main" id="{C06614DA-1BB7-DDB7-64A4-A1422B91E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87432" y="4564715"/>
              <a:ext cx="415909" cy="360000"/>
            </a:xfrm>
            <a:prstGeom prst="rect">
              <a:avLst/>
            </a:prstGeom>
          </p:spPr>
        </p:pic>
        <p:pic>
          <p:nvPicPr>
            <p:cNvPr id="43" name="Image 42">
              <a:extLst>
                <a:ext uri="{FF2B5EF4-FFF2-40B4-BE49-F238E27FC236}">
                  <a16:creationId xmlns:a16="http://schemas.microsoft.com/office/drawing/2014/main" id="{20A4755E-E8FF-0A68-CE24-E70CEF8F8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69599" y="4615137"/>
              <a:ext cx="415785" cy="360000"/>
            </a:xfrm>
            <a:prstGeom prst="rect">
              <a:avLst/>
            </a:prstGeom>
          </p:spPr>
        </p:pic>
        <p:pic>
          <p:nvPicPr>
            <p:cNvPr id="46" name="Image 45">
              <a:extLst>
                <a:ext uri="{FF2B5EF4-FFF2-40B4-BE49-F238E27FC236}">
                  <a16:creationId xmlns:a16="http://schemas.microsoft.com/office/drawing/2014/main" id="{5C06BE25-8E71-881F-C82D-B95BD8F3A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33182" y="1866522"/>
              <a:ext cx="415785" cy="360000"/>
            </a:xfrm>
            <a:prstGeom prst="rect">
              <a:avLst/>
            </a:prstGeom>
          </p:spPr>
        </p:pic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D8B8A1E7-AAA9-093B-A211-EBB320A7C5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91645" y="2398573"/>
              <a:ext cx="415785" cy="360000"/>
            </a:xfrm>
            <a:prstGeom prst="rect">
              <a:avLst/>
            </a:prstGeom>
          </p:spPr>
        </p:pic>
        <p:pic>
          <p:nvPicPr>
            <p:cNvPr id="48" name="Image 47">
              <a:extLst>
                <a:ext uri="{FF2B5EF4-FFF2-40B4-BE49-F238E27FC236}">
                  <a16:creationId xmlns:a16="http://schemas.microsoft.com/office/drawing/2014/main" id="{A5A80953-6770-2B5E-45FB-7F21B5476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91946" y="3051221"/>
              <a:ext cx="415909" cy="360000"/>
            </a:xfrm>
            <a:prstGeom prst="rect">
              <a:avLst/>
            </a:prstGeom>
          </p:spPr>
        </p:pic>
        <p:pic>
          <p:nvPicPr>
            <p:cNvPr id="49" name="Image 48">
              <a:extLst>
                <a:ext uri="{FF2B5EF4-FFF2-40B4-BE49-F238E27FC236}">
                  <a16:creationId xmlns:a16="http://schemas.microsoft.com/office/drawing/2014/main" id="{437D484B-A536-D9AC-629C-956A7E77D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75864" y="2786797"/>
              <a:ext cx="415785" cy="360000"/>
            </a:xfrm>
            <a:prstGeom prst="rect">
              <a:avLst/>
            </a:prstGeom>
          </p:spPr>
        </p:pic>
        <p:pic>
          <p:nvPicPr>
            <p:cNvPr id="50" name="Image 49">
              <a:extLst>
                <a:ext uri="{FF2B5EF4-FFF2-40B4-BE49-F238E27FC236}">
                  <a16:creationId xmlns:a16="http://schemas.microsoft.com/office/drawing/2014/main" id="{559053EF-E478-A66B-09E1-49933552E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14468" y="2695145"/>
              <a:ext cx="415785" cy="360000"/>
            </a:xfrm>
            <a:prstGeom prst="rect">
              <a:avLst/>
            </a:prstGeom>
          </p:spPr>
        </p:pic>
        <p:pic>
          <p:nvPicPr>
            <p:cNvPr id="51" name="Image 50">
              <a:extLst>
                <a:ext uri="{FF2B5EF4-FFF2-40B4-BE49-F238E27FC236}">
                  <a16:creationId xmlns:a16="http://schemas.microsoft.com/office/drawing/2014/main" id="{83F6B3A7-60F8-A8A2-8047-3C109C09A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18029" y="3258586"/>
              <a:ext cx="415785" cy="360000"/>
            </a:xfrm>
            <a:prstGeom prst="rect">
              <a:avLst/>
            </a:prstGeom>
          </p:spPr>
        </p:pic>
        <p:pic>
          <p:nvPicPr>
            <p:cNvPr id="52" name="Image 51">
              <a:extLst>
                <a:ext uri="{FF2B5EF4-FFF2-40B4-BE49-F238E27FC236}">
                  <a16:creationId xmlns:a16="http://schemas.microsoft.com/office/drawing/2014/main" id="{685C7A16-05C1-81E6-21C2-E43B30CF1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72269" y="3790581"/>
              <a:ext cx="415909" cy="360000"/>
            </a:xfrm>
            <a:prstGeom prst="rect">
              <a:avLst/>
            </a:prstGeom>
          </p:spPr>
        </p:pic>
        <p:pic>
          <p:nvPicPr>
            <p:cNvPr id="53" name="Image 52">
              <a:extLst>
                <a:ext uri="{FF2B5EF4-FFF2-40B4-BE49-F238E27FC236}">
                  <a16:creationId xmlns:a16="http://schemas.microsoft.com/office/drawing/2014/main" id="{B93EF8FD-99BA-3420-0E33-DF6241ED4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27225" y="4309066"/>
              <a:ext cx="415785" cy="360000"/>
            </a:xfrm>
            <a:prstGeom prst="rect">
              <a:avLst/>
            </a:prstGeom>
          </p:spPr>
        </p:pic>
        <p:pic>
          <p:nvPicPr>
            <p:cNvPr id="54" name="Image 53">
              <a:extLst>
                <a:ext uri="{FF2B5EF4-FFF2-40B4-BE49-F238E27FC236}">
                  <a16:creationId xmlns:a16="http://schemas.microsoft.com/office/drawing/2014/main" id="{786973C1-A179-2C61-7F62-D8F6C8482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62591" y="4227265"/>
              <a:ext cx="415785" cy="360000"/>
            </a:xfrm>
            <a:prstGeom prst="rect">
              <a:avLst/>
            </a:prstGeom>
          </p:spPr>
        </p:pic>
        <p:pic>
          <p:nvPicPr>
            <p:cNvPr id="59" name="Image 58">
              <a:extLst>
                <a:ext uri="{FF2B5EF4-FFF2-40B4-BE49-F238E27FC236}">
                  <a16:creationId xmlns:a16="http://schemas.microsoft.com/office/drawing/2014/main" id="{CD85D323-0DD5-76DF-5798-24FCA2346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33927" y="2029074"/>
              <a:ext cx="415785" cy="360000"/>
            </a:xfrm>
            <a:prstGeom prst="rect">
              <a:avLst/>
            </a:prstGeom>
          </p:spPr>
        </p:pic>
        <p:pic>
          <p:nvPicPr>
            <p:cNvPr id="133" name="Image 132">
              <a:extLst>
                <a:ext uri="{FF2B5EF4-FFF2-40B4-BE49-F238E27FC236}">
                  <a16:creationId xmlns:a16="http://schemas.microsoft.com/office/drawing/2014/main" id="{DA68FCDC-4957-CA4B-3E59-048764D24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12769" y="1837718"/>
              <a:ext cx="415785" cy="360000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34F2869D-4370-8CE4-5591-E052C3D21EDA}"/>
              </a:ext>
            </a:extLst>
          </p:cNvPr>
          <p:cNvSpPr/>
          <p:nvPr/>
        </p:nvSpPr>
        <p:spPr>
          <a:xfrm>
            <a:off x="4414164" y="1782586"/>
            <a:ext cx="2124000" cy="3312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57150">
            <a:solidFill>
              <a:srgbClr val="E58FB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308289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1803</TotalTime>
  <Words>408</Words>
  <Application>Microsoft Office PowerPoint</Application>
  <PresentationFormat>Grand écran</PresentationFormat>
  <Paragraphs>103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Segoe UI</vt:lpstr>
      <vt:lpstr>Thème Office</vt:lpstr>
      <vt:lpstr>Icônes tuile de commandement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Léandre Brault</dc:creator>
  <cp:lastModifiedBy>Léandre Brault</cp:lastModifiedBy>
  <cp:revision>110</cp:revision>
  <cp:lastPrinted>2026-03-31T18:36:09Z</cp:lastPrinted>
  <dcterms:created xsi:type="dcterms:W3CDTF">2026-02-07T18:04:07Z</dcterms:created>
  <dcterms:modified xsi:type="dcterms:W3CDTF">2026-05-25T16:14:05Z</dcterms:modified>
</cp:coreProperties>
</file>