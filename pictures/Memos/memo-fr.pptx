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7559675" cy="10691813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C79D"/>
    <a:srgbClr val="E3C19C"/>
    <a:srgbClr val="D2D3D2"/>
    <a:srgbClr val="E8A0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20" autoAdjust="0"/>
    <p:restoredTop sz="94660"/>
  </p:normalViewPr>
  <p:slideViewPr>
    <p:cSldViewPr snapToGrid="0">
      <p:cViewPr>
        <p:scale>
          <a:sx n="33" d="100"/>
          <a:sy n="33" d="100"/>
        </p:scale>
        <p:origin x="4680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849D895D-661B-479D-A688-27E503324CF6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249488" y="1252538"/>
            <a:ext cx="239077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BAF959F4-80F3-402A-9D25-879686CF8B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088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959F4-80F3-402A-9D25-879686CF8B5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680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85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553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29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73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23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0385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6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658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179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815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B969D-5DBB-4D98-A8ED-E39D79CDECF7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84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1.jpe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emf"/><Relationship Id="rId5" Type="http://schemas.microsoft.com/office/2007/relationships/hdphoto" Target="../media/hdphoto1.wdp"/><Relationship Id="rId10" Type="http://schemas.openxmlformats.org/officeDocument/2006/relationships/image" Target="../media/image6.sv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C0162E-72FA-4D0C-3FCD-9AE847B95E39}"/>
              </a:ext>
            </a:extLst>
          </p:cNvPr>
          <p:cNvSpPr/>
          <p:nvPr/>
        </p:nvSpPr>
        <p:spPr>
          <a:xfrm>
            <a:off x="0" y="-562708"/>
            <a:ext cx="7559675" cy="11254521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D5373BA0-F92B-E8F1-6337-DA519B871547}"/>
              </a:ext>
            </a:extLst>
          </p:cNvPr>
          <p:cNvSpPr txBox="1"/>
          <p:nvPr/>
        </p:nvSpPr>
        <p:spPr>
          <a:xfrm>
            <a:off x="203228" y="722729"/>
            <a:ext cx="7115535" cy="41997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Choisir « Agir » ou « Replanifier »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AFC0063-431D-8B36-BDCB-788AD19FD63D}"/>
              </a:ext>
            </a:extLst>
          </p:cNvPr>
          <p:cNvSpPr txBox="1"/>
          <p:nvPr/>
        </p:nvSpPr>
        <p:spPr>
          <a:xfrm>
            <a:off x="4819206" y="4040407"/>
            <a:ext cx="2308744" cy="50672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Compléter sa main à 6 cartes</a:t>
            </a:r>
          </a:p>
          <a:p>
            <a:pPr algn="ctr"/>
            <a:r>
              <a:rPr lang="fr-FR" sz="1117" dirty="0"/>
              <a:t>(sauf après « Complot à la Cour »)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04ACA21-4852-0B64-9123-3525666B8E16}"/>
              </a:ext>
            </a:extLst>
          </p:cNvPr>
          <p:cNvSpPr txBox="1"/>
          <p:nvPr/>
        </p:nvSpPr>
        <p:spPr>
          <a:xfrm>
            <a:off x="4802648" y="1150187"/>
            <a:ext cx="2316275" cy="78481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Replanifier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7DCD537-E7EE-76E4-18A9-54550E4B20BD}"/>
              </a:ext>
            </a:extLst>
          </p:cNvPr>
          <p:cNvSpPr txBox="1"/>
          <p:nvPr/>
        </p:nvSpPr>
        <p:spPr>
          <a:xfrm>
            <a:off x="203230" y="5652471"/>
            <a:ext cx="7115536" cy="264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Fin du tour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3A5C500-E43E-C23A-D3DE-4A342521CDDC}"/>
              </a:ext>
            </a:extLst>
          </p:cNvPr>
          <p:cNvSpPr txBox="1"/>
          <p:nvPr/>
        </p:nvSpPr>
        <p:spPr>
          <a:xfrm>
            <a:off x="203229" y="260010"/>
            <a:ext cx="7115538" cy="264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Début du tour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F0BD238-C221-ED3A-2871-3ED667F757DE}"/>
              </a:ext>
            </a:extLst>
          </p:cNvPr>
          <p:cNvSpPr txBox="1"/>
          <p:nvPr/>
        </p:nvSpPr>
        <p:spPr>
          <a:xfrm>
            <a:off x="430742" y="1153895"/>
            <a:ext cx="4235629" cy="338988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Agir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800718-EE48-68B1-C18D-62732A4D6A7D}"/>
              </a:ext>
            </a:extLst>
          </p:cNvPr>
          <p:cNvSpPr txBox="1"/>
          <p:nvPr/>
        </p:nvSpPr>
        <p:spPr>
          <a:xfrm>
            <a:off x="5103064" y="1440321"/>
            <a:ext cx="1647500" cy="2642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Défausser 1 à 6 cartes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F6F2B23-ADF2-EE55-C768-7902C9750C8C}"/>
              </a:ext>
            </a:extLst>
          </p:cNvPr>
          <p:cNvSpPr txBox="1"/>
          <p:nvPr/>
        </p:nvSpPr>
        <p:spPr>
          <a:xfrm>
            <a:off x="203229" y="5172033"/>
            <a:ext cx="7115537" cy="264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Mettre à jour la piste de score</a:t>
            </a:r>
          </a:p>
        </p:txBody>
      </p:sp>
      <p:cxnSp>
        <p:nvCxnSpPr>
          <p:cNvPr id="102" name="Connecteur : en angle 97">
            <a:extLst>
              <a:ext uri="{FF2B5EF4-FFF2-40B4-BE49-F238E27FC236}">
                <a16:creationId xmlns:a16="http://schemas.microsoft.com/office/drawing/2014/main" id="{4A273C23-2131-E0AF-6196-8088CD2DB22C}"/>
              </a:ext>
            </a:extLst>
          </p:cNvPr>
          <p:cNvCxnSpPr>
            <a:cxnSpLocks/>
            <a:stCxn id="11" idx="2"/>
            <a:endCxn id="4" idx="0"/>
          </p:cNvCxnSpPr>
          <p:nvPr/>
        </p:nvCxnSpPr>
        <p:spPr>
          <a:xfrm>
            <a:off x="3760998" y="5436273"/>
            <a:ext cx="0" cy="2161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 : en angle 119">
            <a:extLst>
              <a:ext uri="{FF2B5EF4-FFF2-40B4-BE49-F238E27FC236}">
                <a16:creationId xmlns:a16="http://schemas.microsoft.com/office/drawing/2014/main" id="{F46FD572-39E5-676C-0E50-57C4C4170703}"/>
              </a:ext>
            </a:extLst>
          </p:cNvPr>
          <p:cNvCxnSpPr>
            <a:cxnSpLocks/>
            <a:stCxn id="6" idx="2"/>
            <a:endCxn id="117" idx="0"/>
          </p:cNvCxnSpPr>
          <p:nvPr/>
        </p:nvCxnSpPr>
        <p:spPr>
          <a:xfrm flipH="1">
            <a:off x="3760996" y="524250"/>
            <a:ext cx="2" cy="1984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ZoneTexte 137">
            <a:extLst>
              <a:ext uri="{FF2B5EF4-FFF2-40B4-BE49-F238E27FC236}">
                <a16:creationId xmlns:a16="http://schemas.microsoft.com/office/drawing/2014/main" id="{F197E6A8-B54B-0AEB-9598-AC371936E10D}"/>
              </a:ext>
            </a:extLst>
          </p:cNvPr>
          <p:cNvSpPr txBox="1"/>
          <p:nvPr/>
        </p:nvSpPr>
        <p:spPr>
          <a:xfrm>
            <a:off x="566764" y="1438137"/>
            <a:ext cx="3935305" cy="37317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Choisir des cartes pour un montant max de crédits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88CC0CB3-83D1-6006-A001-70DA7FB93AC5}"/>
              </a:ext>
            </a:extLst>
          </p:cNvPr>
          <p:cNvSpPr txBox="1"/>
          <p:nvPr/>
        </p:nvSpPr>
        <p:spPr>
          <a:xfrm>
            <a:off x="552563" y="2094831"/>
            <a:ext cx="3963708" cy="230952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Jouer chaque carte, puis la défausser</a:t>
            </a:r>
          </a:p>
        </p:txBody>
      </p:sp>
      <p:cxnSp>
        <p:nvCxnSpPr>
          <p:cNvPr id="198" name="Connecteur : en angle 97">
            <a:extLst>
              <a:ext uri="{FF2B5EF4-FFF2-40B4-BE49-F238E27FC236}">
                <a16:creationId xmlns:a16="http://schemas.microsoft.com/office/drawing/2014/main" id="{FB3D6D6B-69B5-9D52-E20C-80AD36EB2A32}"/>
              </a:ext>
            </a:extLst>
          </p:cNvPr>
          <p:cNvCxnSpPr>
            <a:cxnSpLocks/>
            <a:stCxn id="138" idx="2"/>
            <a:endCxn id="139" idx="0"/>
          </p:cNvCxnSpPr>
          <p:nvPr/>
        </p:nvCxnSpPr>
        <p:spPr>
          <a:xfrm>
            <a:off x="2534417" y="1811307"/>
            <a:ext cx="0" cy="283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ZoneTexte 200">
            <a:extLst>
              <a:ext uri="{FF2B5EF4-FFF2-40B4-BE49-F238E27FC236}">
                <a16:creationId xmlns:a16="http://schemas.microsoft.com/office/drawing/2014/main" id="{0B98995D-1246-0C1A-4627-BBEF965B1486}"/>
              </a:ext>
            </a:extLst>
          </p:cNvPr>
          <p:cNvSpPr txBox="1"/>
          <p:nvPr/>
        </p:nvSpPr>
        <p:spPr>
          <a:xfrm>
            <a:off x="2625795" y="2366738"/>
            <a:ext cx="1682065" cy="264240"/>
          </a:xfrm>
          <a:prstGeom prst="rect">
            <a:avLst/>
          </a:prstGeom>
          <a:solidFill>
            <a:srgbClr val="E8A0D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Déplacer Seigneur</a:t>
            </a:r>
          </a:p>
        </p:txBody>
      </p:sp>
      <p:sp>
        <p:nvSpPr>
          <p:cNvPr id="202" name="ZoneTexte 201">
            <a:extLst>
              <a:ext uri="{FF2B5EF4-FFF2-40B4-BE49-F238E27FC236}">
                <a16:creationId xmlns:a16="http://schemas.microsoft.com/office/drawing/2014/main" id="{03CD3FC7-A849-C927-CD01-FF0368D6C892}"/>
              </a:ext>
            </a:extLst>
          </p:cNvPr>
          <p:cNvSpPr txBox="1"/>
          <p:nvPr/>
        </p:nvSpPr>
        <p:spPr>
          <a:xfrm>
            <a:off x="2621110" y="2697613"/>
            <a:ext cx="1656369" cy="264240"/>
          </a:xfrm>
          <a:prstGeom prst="rect">
            <a:avLst/>
          </a:prstGeom>
          <a:solidFill>
            <a:srgbClr val="E8A0D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Recruter Chevalier</a:t>
            </a:r>
          </a:p>
        </p:txBody>
      </p:sp>
      <p:sp>
        <p:nvSpPr>
          <p:cNvPr id="203" name="ZoneTexte 202">
            <a:extLst>
              <a:ext uri="{FF2B5EF4-FFF2-40B4-BE49-F238E27FC236}">
                <a16:creationId xmlns:a16="http://schemas.microsoft.com/office/drawing/2014/main" id="{3F926420-6362-667F-1199-D8F019BA874F}"/>
              </a:ext>
            </a:extLst>
          </p:cNvPr>
          <p:cNvSpPr txBox="1"/>
          <p:nvPr/>
        </p:nvSpPr>
        <p:spPr>
          <a:xfrm>
            <a:off x="2629545" y="3028488"/>
            <a:ext cx="1682065" cy="264240"/>
          </a:xfrm>
          <a:prstGeom prst="rect">
            <a:avLst/>
          </a:prstGeom>
          <a:solidFill>
            <a:srgbClr val="E8A0D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17" dirty="0"/>
              <a:t>Exiler Chevalier</a:t>
            </a:r>
          </a:p>
        </p:txBody>
      </p:sp>
      <p:sp>
        <p:nvSpPr>
          <p:cNvPr id="204" name="ZoneTexte 203">
            <a:extLst>
              <a:ext uri="{FF2B5EF4-FFF2-40B4-BE49-F238E27FC236}">
                <a16:creationId xmlns:a16="http://schemas.microsoft.com/office/drawing/2014/main" id="{D6E55733-EC83-E678-E68C-B58BB4D51FF2}"/>
              </a:ext>
            </a:extLst>
          </p:cNvPr>
          <p:cNvSpPr txBox="1"/>
          <p:nvPr/>
        </p:nvSpPr>
        <p:spPr>
          <a:xfrm>
            <a:off x="2621110" y="3688239"/>
            <a:ext cx="1682065" cy="262240"/>
          </a:xfrm>
          <a:prstGeom prst="rect">
            <a:avLst/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WatercolorSponge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63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Complot à la Cour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27B585F0-32F5-655D-584A-7CC60B5B37C5}"/>
              </a:ext>
            </a:extLst>
          </p:cNvPr>
          <p:cNvSpPr txBox="1"/>
          <p:nvPr/>
        </p:nvSpPr>
        <p:spPr>
          <a:xfrm>
            <a:off x="725718" y="2371636"/>
            <a:ext cx="1691666" cy="1918423"/>
          </a:xfrm>
          <a:prstGeom prst="rect">
            <a:avLst/>
          </a:prstGeom>
          <a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Depuis une Tuile de Commandement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2AD12B3B-572F-D94B-320D-9112846390CA}"/>
              </a:ext>
            </a:extLst>
          </p:cNvPr>
          <p:cNvSpPr txBox="1"/>
          <p:nvPr/>
        </p:nvSpPr>
        <p:spPr>
          <a:xfrm>
            <a:off x="832460" y="2772013"/>
            <a:ext cx="1463066" cy="28523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fr-FR" sz="1117" dirty="0">
                <a:solidFill>
                  <a:schemeClr val="bg1"/>
                </a:solidFill>
              </a:rPr>
              <a:t>Recruter Troupes</a:t>
            </a:r>
          </a:p>
        </p:txBody>
      </p:sp>
      <p:cxnSp>
        <p:nvCxnSpPr>
          <p:cNvPr id="122" name="Connecteur : en angle 24">
            <a:extLst>
              <a:ext uri="{FF2B5EF4-FFF2-40B4-BE49-F238E27FC236}">
                <a16:creationId xmlns:a16="http://schemas.microsoft.com/office/drawing/2014/main" id="{F7DD50F1-E096-E83F-0F26-6F0AAF47889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5960786" y="1935002"/>
            <a:ext cx="12792" cy="2105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438A5D98-5BF6-E314-37D8-A96866BE7DCD}"/>
              </a:ext>
            </a:extLst>
          </p:cNvPr>
          <p:cNvSpPr txBox="1"/>
          <p:nvPr/>
        </p:nvSpPr>
        <p:spPr>
          <a:xfrm>
            <a:off x="832460" y="3139128"/>
            <a:ext cx="1463066" cy="28523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fr-FR" sz="1117" dirty="0">
                <a:solidFill>
                  <a:schemeClr val="bg1"/>
                </a:solidFill>
              </a:rPr>
              <a:t>Construire Donjon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9CCF28DF-2D4E-2CBC-AFE8-420614343504}"/>
              </a:ext>
            </a:extLst>
          </p:cNvPr>
          <p:cNvSpPr txBox="1"/>
          <p:nvPr/>
        </p:nvSpPr>
        <p:spPr>
          <a:xfrm>
            <a:off x="832460" y="3496878"/>
            <a:ext cx="1463066" cy="28523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fr-FR" sz="1117" dirty="0">
                <a:solidFill>
                  <a:schemeClr val="bg1"/>
                </a:solidFill>
              </a:rPr>
              <a:t>Disperser Troupes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46F0894D-49B9-1E91-4BD5-7B0FA75CE661}"/>
              </a:ext>
            </a:extLst>
          </p:cNvPr>
          <p:cNvSpPr txBox="1"/>
          <p:nvPr/>
        </p:nvSpPr>
        <p:spPr>
          <a:xfrm>
            <a:off x="832460" y="3862357"/>
            <a:ext cx="1463066" cy="28523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fr-FR" sz="1117" dirty="0">
                <a:solidFill>
                  <a:schemeClr val="bg1"/>
                </a:solidFill>
              </a:rPr>
              <a:t>Concentrer Troupes</a:t>
            </a:r>
          </a:p>
        </p:txBody>
      </p:sp>
      <p:cxnSp>
        <p:nvCxnSpPr>
          <p:cNvPr id="221" name="Connecteur : en angle 97">
            <a:extLst>
              <a:ext uri="{FF2B5EF4-FFF2-40B4-BE49-F238E27FC236}">
                <a16:creationId xmlns:a16="http://schemas.microsoft.com/office/drawing/2014/main" id="{C89A0D04-3493-3F94-5CEF-CA5DE9750840}"/>
              </a:ext>
            </a:extLst>
          </p:cNvPr>
          <p:cNvCxnSpPr>
            <a:cxnSpLocks/>
            <a:stCxn id="7" idx="2"/>
            <a:endCxn id="10" idx="2"/>
          </p:cNvCxnSpPr>
          <p:nvPr/>
        </p:nvCxnSpPr>
        <p:spPr>
          <a:xfrm rot="16200000" flipH="1">
            <a:off x="4259393" y="2832947"/>
            <a:ext cx="3348" cy="3425021"/>
          </a:xfrm>
          <a:prstGeom prst="bentConnector3">
            <a:avLst>
              <a:gd name="adj1" fmla="val 69279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eur : en angle 97">
            <a:extLst>
              <a:ext uri="{FF2B5EF4-FFF2-40B4-BE49-F238E27FC236}">
                <a16:creationId xmlns:a16="http://schemas.microsoft.com/office/drawing/2014/main" id="{82C5AF85-B39C-D73F-5A8C-868CFA93D44A}"/>
              </a:ext>
            </a:extLst>
          </p:cNvPr>
          <p:cNvCxnSpPr>
            <a:cxnSpLocks/>
            <a:stCxn id="117" idx="2"/>
            <a:endCxn id="11" idx="0"/>
          </p:cNvCxnSpPr>
          <p:nvPr/>
        </p:nvCxnSpPr>
        <p:spPr>
          <a:xfrm>
            <a:off x="3760996" y="4922519"/>
            <a:ext cx="2" cy="24951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1" name="Image 280">
            <a:extLst>
              <a:ext uri="{FF2B5EF4-FFF2-40B4-BE49-F238E27FC236}">
                <a16:creationId xmlns:a16="http://schemas.microsoft.com/office/drawing/2014/main" id="{40D53DC9-6925-AB04-72B3-7DEE8F62EC7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07" r="32393" b="13652"/>
          <a:stretch>
            <a:fillRect/>
          </a:stretch>
        </p:blipFill>
        <p:spPr bwMode="auto">
          <a:xfrm>
            <a:off x="208147" y="6121536"/>
            <a:ext cx="5194936" cy="262134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83" name="Image 282">
            <a:extLst>
              <a:ext uri="{FF2B5EF4-FFF2-40B4-BE49-F238E27FC236}">
                <a16:creationId xmlns:a16="http://schemas.microsoft.com/office/drawing/2014/main" id="{08814F9E-50BE-0635-BF03-7D7E6B225C9D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083" y="6438967"/>
            <a:ext cx="2130628" cy="2130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Image 283">
            <a:extLst>
              <a:ext uri="{FF2B5EF4-FFF2-40B4-BE49-F238E27FC236}">
                <a16:creationId xmlns:a16="http://schemas.microsoft.com/office/drawing/2014/main" id="{5B5F9645-D9FA-651C-390F-15C1E32D7521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30742" y="8880506"/>
            <a:ext cx="1558607" cy="15585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6" name="Groupe 1"/>
          <p:cNvGrpSpPr>
            <a:grpSpLocks noChangeAspect="1"/>
          </p:cNvGrpSpPr>
          <p:nvPr/>
        </p:nvGrpSpPr>
        <p:grpSpPr bwMode="auto">
          <a:xfrm>
            <a:off x="0" y="0"/>
            <a:ext cx="479425" cy="504825"/>
            <a:chOff x="0" y="0"/>
            <a:chExt cx="7229" cy="7654"/>
          </a:xfrm>
        </p:grpSpPr>
      </p:grpSp>
      <p:grpSp>
        <p:nvGrpSpPr>
          <p:cNvPr id="2052" name="Group 4"/>
          <p:cNvGrpSpPr>
            <a:grpSpLocks noChangeAspect="1"/>
          </p:cNvGrpSpPr>
          <p:nvPr/>
        </p:nvGrpSpPr>
        <p:grpSpPr bwMode="auto">
          <a:xfrm>
            <a:off x="0" y="0"/>
            <a:ext cx="479425" cy="504825"/>
            <a:chOff x="18297" y="0"/>
            <a:chExt cx="7229" cy="7654"/>
          </a:xfrm>
        </p:grpSpPr>
      </p:grpSp>
      <p:grpSp>
        <p:nvGrpSpPr>
          <p:cNvPr id="2049" name="Group 1"/>
          <p:cNvGrpSpPr>
            <a:grpSpLocks noChangeAspect="1"/>
          </p:cNvGrpSpPr>
          <p:nvPr/>
        </p:nvGrpSpPr>
        <p:grpSpPr bwMode="auto">
          <a:xfrm>
            <a:off x="0" y="0"/>
            <a:ext cx="479425" cy="504825"/>
            <a:chOff x="9153" y="0"/>
            <a:chExt cx="7229" cy="7654"/>
          </a:xfrm>
        </p:grpSpPr>
      </p:grpSp>
      <p:pic>
        <p:nvPicPr>
          <p:cNvPr id="38" name="Graphique 37" descr="Couronne avec un remplissage uni">
            <a:extLst>
              <a:ext uri="{FF2B5EF4-FFF2-40B4-BE49-F238E27FC236}">
                <a16:creationId xmlns:a16="http://schemas.microsoft.com/office/drawing/2014/main" id="{ADF59C5C-A511-D993-4575-6B0F9AE66F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5260" y="6121536"/>
            <a:ext cx="914400" cy="9144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4FEE4FC-DEC2-D3E9-BAD5-F20D5FF66777}"/>
              </a:ext>
            </a:extLst>
          </p:cNvPr>
          <p:cNvSpPr txBox="1"/>
          <p:nvPr/>
        </p:nvSpPr>
        <p:spPr>
          <a:xfrm>
            <a:off x="2621110" y="3359363"/>
            <a:ext cx="1682065" cy="262240"/>
          </a:xfrm>
          <a:prstGeom prst="rect">
            <a:avLst/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WatercolorSponge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63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fr-FR" sz="1117" dirty="0"/>
              <a:t>Espion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3775F4F-AA3F-23FB-B56F-35D5FA77BBA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3" r="35464" b="24411"/>
          <a:stretch>
            <a:fillRect/>
          </a:stretch>
        </p:blipFill>
        <p:spPr bwMode="auto">
          <a:xfrm>
            <a:off x="2295526" y="9060313"/>
            <a:ext cx="4166292" cy="12071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07152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84</Words>
  <Application>Microsoft Office PowerPoint</Application>
  <PresentationFormat>Personnalisé</PresentationFormat>
  <Paragraphs>22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19</cp:revision>
  <cp:lastPrinted>2026-04-26T14:16:53Z</cp:lastPrinted>
  <dcterms:created xsi:type="dcterms:W3CDTF">2026-04-25T15:42:38Z</dcterms:created>
  <dcterms:modified xsi:type="dcterms:W3CDTF">2026-09-30T21:06:38Z</dcterms:modified>
</cp:coreProperties>
</file>