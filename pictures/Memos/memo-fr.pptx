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559675" cy="10691813"/>
  <p:notesSz cx="6889750" cy="100218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C79D"/>
    <a:srgbClr val="E3C19C"/>
    <a:srgbClr val="D2D3D2"/>
    <a:srgbClr val="E8A0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220" autoAdjust="0"/>
    <p:restoredTop sz="94660"/>
  </p:normalViewPr>
  <p:slideViewPr>
    <p:cSldViewPr snapToGrid="0">
      <p:cViewPr varScale="1">
        <p:scale>
          <a:sx n="68" d="100"/>
          <a:sy n="68" d="100"/>
        </p:scale>
        <p:origin x="384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597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r">
              <a:defRPr sz="1300"/>
            </a:lvl1pPr>
          </a:lstStyle>
          <a:p>
            <a:fld id="{849D895D-661B-479D-A688-27E503324CF6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249488" y="1252538"/>
            <a:ext cx="239077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34" tIns="48317" rIns="96634" bIns="48317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3034"/>
            <a:ext cx="5511800" cy="3946118"/>
          </a:xfrm>
          <a:prstGeom prst="rect">
            <a:avLst/>
          </a:prstGeom>
        </p:spPr>
        <p:txBody>
          <a:bodyPr vert="horz" lIns="96634" tIns="48317" rIns="96634" bIns="48317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597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r">
              <a:defRPr sz="1300"/>
            </a:lvl1pPr>
          </a:lstStyle>
          <a:p>
            <a:fld id="{BAF959F4-80F3-402A-9D25-879686CF8B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2088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F959F4-80F3-402A-9D25-879686CF8B58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1680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885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65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82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5531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3297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0738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523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0385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562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9658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179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8150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7B969D-5DBB-4D98-A8ED-E39D79CDECF7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2848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image" Target="../media/image1.jpeg"/><Relationship Id="rId7" Type="http://schemas.microsoft.com/office/2007/relationships/hdphoto" Target="../media/hdphoto2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7.png"/><Relationship Id="rId5" Type="http://schemas.microsoft.com/office/2007/relationships/hdphoto" Target="../media/hdphoto1.wdp"/><Relationship Id="rId10" Type="http://schemas.openxmlformats.org/officeDocument/2006/relationships/image" Target="../media/image6.sv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EC0162E-72FA-4D0C-3FCD-9AE847B95E39}"/>
              </a:ext>
            </a:extLst>
          </p:cNvPr>
          <p:cNvSpPr/>
          <p:nvPr/>
        </p:nvSpPr>
        <p:spPr>
          <a:xfrm>
            <a:off x="0" y="-562708"/>
            <a:ext cx="7559675" cy="11254521"/>
          </a:xfrm>
          <a:prstGeom prst="rect">
            <a:avLst/>
          </a:prstGeom>
          <a:blipFill dpi="0" rotWithShape="1">
            <a:blip r:embed="rId3">
              <a:alphaModFix amt="90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ZoneTexte 116">
            <a:extLst>
              <a:ext uri="{FF2B5EF4-FFF2-40B4-BE49-F238E27FC236}">
                <a16:creationId xmlns:a16="http://schemas.microsoft.com/office/drawing/2014/main" id="{D5373BA0-F92B-E8F1-6337-DA519B871547}"/>
              </a:ext>
            </a:extLst>
          </p:cNvPr>
          <p:cNvSpPr txBox="1"/>
          <p:nvPr/>
        </p:nvSpPr>
        <p:spPr>
          <a:xfrm>
            <a:off x="203228" y="722729"/>
            <a:ext cx="7115535" cy="41997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Choisir « Agir » ou « Replanifier »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AFC0063-431D-8B36-BDCB-788AD19FD63D}"/>
              </a:ext>
            </a:extLst>
          </p:cNvPr>
          <p:cNvSpPr txBox="1"/>
          <p:nvPr/>
        </p:nvSpPr>
        <p:spPr>
          <a:xfrm>
            <a:off x="4819206" y="4040407"/>
            <a:ext cx="2308744" cy="506725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Compléter sa main à 6 cartes</a:t>
            </a:r>
          </a:p>
          <a:p>
            <a:pPr algn="ctr"/>
            <a:r>
              <a:rPr lang="fr-FR" sz="1117" dirty="0"/>
              <a:t>(sauf après « Complot à la Cour »)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04ACA21-4852-0B64-9123-3525666B8E16}"/>
              </a:ext>
            </a:extLst>
          </p:cNvPr>
          <p:cNvSpPr txBox="1"/>
          <p:nvPr/>
        </p:nvSpPr>
        <p:spPr>
          <a:xfrm>
            <a:off x="4802648" y="1150187"/>
            <a:ext cx="2316275" cy="784815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Replanifier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DCD537-E7EE-76E4-18A9-54550E4B20BD}"/>
              </a:ext>
            </a:extLst>
          </p:cNvPr>
          <p:cNvSpPr txBox="1"/>
          <p:nvPr/>
        </p:nvSpPr>
        <p:spPr>
          <a:xfrm>
            <a:off x="203230" y="5652471"/>
            <a:ext cx="7115536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Fin du tour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A5C500-E43E-C23A-D3DE-4A342521CDDC}"/>
              </a:ext>
            </a:extLst>
          </p:cNvPr>
          <p:cNvSpPr txBox="1"/>
          <p:nvPr/>
        </p:nvSpPr>
        <p:spPr>
          <a:xfrm>
            <a:off x="203229" y="260010"/>
            <a:ext cx="7115538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Début du tour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F0BD238-C221-ED3A-2871-3ED667F757DE}"/>
              </a:ext>
            </a:extLst>
          </p:cNvPr>
          <p:cNvSpPr txBox="1"/>
          <p:nvPr/>
        </p:nvSpPr>
        <p:spPr>
          <a:xfrm>
            <a:off x="430742" y="1153895"/>
            <a:ext cx="4235629" cy="3389889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Agir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6800718-EE48-68B1-C18D-62732A4D6A7D}"/>
              </a:ext>
            </a:extLst>
          </p:cNvPr>
          <p:cNvSpPr txBox="1"/>
          <p:nvPr/>
        </p:nvSpPr>
        <p:spPr>
          <a:xfrm>
            <a:off x="5103064" y="1440321"/>
            <a:ext cx="1647500" cy="26424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Défausser 1 à 6 cartes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F6F2B23-ADF2-EE55-C768-7902C9750C8C}"/>
              </a:ext>
            </a:extLst>
          </p:cNvPr>
          <p:cNvSpPr txBox="1"/>
          <p:nvPr/>
        </p:nvSpPr>
        <p:spPr>
          <a:xfrm>
            <a:off x="203229" y="5172033"/>
            <a:ext cx="7115537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Mettre à jour la piste de score</a:t>
            </a:r>
          </a:p>
        </p:txBody>
      </p:sp>
      <p:cxnSp>
        <p:nvCxnSpPr>
          <p:cNvPr id="102" name="Connecteur : en angle 97">
            <a:extLst>
              <a:ext uri="{FF2B5EF4-FFF2-40B4-BE49-F238E27FC236}">
                <a16:creationId xmlns:a16="http://schemas.microsoft.com/office/drawing/2014/main" id="{4A273C23-2131-E0AF-6196-8088CD2DB22C}"/>
              </a:ext>
            </a:extLst>
          </p:cNvPr>
          <p:cNvCxnSpPr>
            <a:cxnSpLocks/>
            <a:stCxn id="11" idx="2"/>
            <a:endCxn id="4" idx="0"/>
          </p:cNvCxnSpPr>
          <p:nvPr/>
        </p:nvCxnSpPr>
        <p:spPr>
          <a:xfrm>
            <a:off x="3760998" y="5436273"/>
            <a:ext cx="0" cy="21619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eur : en angle 119">
            <a:extLst>
              <a:ext uri="{FF2B5EF4-FFF2-40B4-BE49-F238E27FC236}">
                <a16:creationId xmlns:a16="http://schemas.microsoft.com/office/drawing/2014/main" id="{F46FD572-39E5-676C-0E50-57C4C4170703}"/>
              </a:ext>
            </a:extLst>
          </p:cNvPr>
          <p:cNvCxnSpPr>
            <a:cxnSpLocks/>
            <a:stCxn id="6" idx="2"/>
            <a:endCxn id="117" idx="0"/>
          </p:cNvCxnSpPr>
          <p:nvPr/>
        </p:nvCxnSpPr>
        <p:spPr>
          <a:xfrm flipH="1">
            <a:off x="3760996" y="524250"/>
            <a:ext cx="2" cy="19847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ZoneTexte 137">
            <a:extLst>
              <a:ext uri="{FF2B5EF4-FFF2-40B4-BE49-F238E27FC236}">
                <a16:creationId xmlns:a16="http://schemas.microsoft.com/office/drawing/2014/main" id="{F197E6A8-B54B-0AEB-9598-AC371936E10D}"/>
              </a:ext>
            </a:extLst>
          </p:cNvPr>
          <p:cNvSpPr txBox="1"/>
          <p:nvPr/>
        </p:nvSpPr>
        <p:spPr>
          <a:xfrm>
            <a:off x="566764" y="1438137"/>
            <a:ext cx="3935305" cy="373170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Choisir des cartes pour un montant max de crédits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88CC0CB3-83D1-6006-A001-70DA7FB93AC5}"/>
              </a:ext>
            </a:extLst>
          </p:cNvPr>
          <p:cNvSpPr txBox="1"/>
          <p:nvPr/>
        </p:nvSpPr>
        <p:spPr>
          <a:xfrm>
            <a:off x="552563" y="2094831"/>
            <a:ext cx="3963708" cy="2309528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Jouer chaque carte, puis la défausser</a:t>
            </a:r>
          </a:p>
        </p:txBody>
      </p:sp>
      <p:cxnSp>
        <p:nvCxnSpPr>
          <p:cNvPr id="198" name="Connecteur : en angle 97">
            <a:extLst>
              <a:ext uri="{FF2B5EF4-FFF2-40B4-BE49-F238E27FC236}">
                <a16:creationId xmlns:a16="http://schemas.microsoft.com/office/drawing/2014/main" id="{FB3D6D6B-69B5-9D52-E20C-80AD36EB2A32}"/>
              </a:ext>
            </a:extLst>
          </p:cNvPr>
          <p:cNvCxnSpPr>
            <a:cxnSpLocks/>
            <a:stCxn id="138" idx="2"/>
            <a:endCxn id="139" idx="0"/>
          </p:cNvCxnSpPr>
          <p:nvPr/>
        </p:nvCxnSpPr>
        <p:spPr>
          <a:xfrm>
            <a:off x="2534417" y="1811307"/>
            <a:ext cx="0" cy="283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ZoneTexte 200">
            <a:extLst>
              <a:ext uri="{FF2B5EF4-FFF2-40B4-BE49-F238E27FC236}">
                <a16:creationId xmlns:a16="http://schemas.microsoft.com/office/drawing/2014/main" id="{0B98995D-1246-0C1A-4627-BBEF965B1486}"/>
              </a:ext>
            </a:extLst>
          </p:cNvPr>
          <p:cNvSpPr txBox="1"/>
          <p:nvPr/>
        </p:nvSpPr>
        <p:spPr>
          <a:xfrm>
            <a:off x="2625795" y="2366738"/>
            <a:ext cx="1682065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Déplacer Seigneur</a:t>
            </a:r>
          </a:p>
        </p:txBody>
      </p:sp>
      <p:sp>
        <p:nvSpPr>
          <p:cNvPr id="202" name="ZoneTexte 201">
            <a:extLst>
              <a:ext uri="{FF2B5EF4-FFF2-40B4-BE49-F238E27FC236}">
                <a16:creationId xmlns:a16="http://schemas.microsoft.com/office/drawing/2014/main" id="{03CD3FC7-A849-C927-CD01-FF0368D6C892}"/>
              </a:ext>
            </a:extLst>
          </p:cNvPr>
          <p:cNvSpPr txBox="1"/>
          <p:nvPr/>
        </p:nvSpPr>
        <p:spPr>
          <a:xfrm>
            <a:off x="2621110" y="2697613"/>
            <a:ext cx="1656369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Recruter Chevalier</a:t>
            </a:r>
          </a:p>
        </p:txBody>
      </p:sp>
      <p:sp>
        <p:nvSpPr>
          <p:cNvPr id="203" name="ZoneTexte 202">
            <a:extLst>
              <a:ext uri="{FF2B5EF4-FFF2-40B4-BE49-F238E27FC236}">
                <a16:creationId xmlns:a16="http://schemas.microsoft.com/office/drawing/2014/main" id="{3F926420-6362-667F-1199-D8F019BA874F}"/>
              </a:ext>
            </a:extLst>
          </p:cNvPr>
          <p:cNvSpPr txBox="1"/>
          <p:nvPr/>
        </p:nvSpPr>
        <p:spPr>
          <a:xfrm>
            <a:off x="2629545" y="3028488"/>
            <a:ext cx="1682065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Exiler Chevalier</a:t>
            </a:r>
          </a:p>
        </p:txBody>
      </p:sp>
      <p:sp>
        <p:nvSpPr>
          <p:cNvPr id="204" name="ZoneTexte 203">
            <a:extLst>
              <a:ext uri="{FF2B5EF4-FFF2-40B4-BE49-F238E27FC236}">
                <a16:creationId xmlns:a16="http://schemas.microsoft.com/office/drawing/2014/main" id="{D6E55733-EC83-E678-E68C-B58BB4D51FF2}"/>
              </a:ext>
            </a:extLst>
          </p:cNvPr>
          <p:cNvSpPr txBox="1"/>
          <p:nvPr/>
        </p:nvSpPr>
        <p:spPr>
          <a:xfrm>
            <a:off x="2621110" y="3688239"/>
            <a:ext cx="1682065" cy="262240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63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Complot à la Cour</a:t>
            </a:r>
          </a:p>
        </p:txBody>
      </p:sp>
      <p:sp>
        <p:nvSpPr>
          <p:cNvPr id="153" name="ZoneTexte 152">
            <a:extLst>
              <a:ext uri="{FF2B5EF4-FFF2-40B4-BE49-F238E27FC236}">
                <a16:creationId xmlns:a16="http://schemas.microsoft.com/office/drawing/2014/main" id="{27B585F0-32F5-655D-584A-7CC60B5B37C5}"/>
              </a:ext>
            </a:extLst>
          </p:cNvPr>
          <p:cNvSpPr txBox="1"/>
          <p:nvPr/>
        </p:nvSpPr>
        <p:spPr>
          <a:xfrm>
            <a:off x="725718" y="2371636"/>
            <a:ext cx="1691666" cy="1918423"/>
          </a:xfrm>
          <a:prstGeom prst="rect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artisticLineDrawing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Depuis une Tuile de Commandement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2AD12B3B-572F-D94B-320D-9112846390CA}"/>
              </a:ext>
            </a:extLst>
          </p:cNvPr>
          <p:cNvSpPr txBox="1"/>
          <p:nvPr/>
        </p:nvSpPr>
        <p:spPr>
          <a:xfrm>
            <a:off x="832460" y="2772013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Recruter Troupes</a:t>
            </a:r>
          </a:p>
        </p:txBody>
      </p:sp>
      <p:cxnSp>
        <p:nvCxnSpPr>
          <p:cNvPr id="122" name="Connecteur : en angle 24">
            <a:extLst>
              <a:ext uri="{FF2B5EF4-FFF2-40B4-BE49-F238E27FC236}">
                <a16:creationId xmlns:a16="http://schemas.microsoft.com/office/drawing/2014/main" id="{F7DD50F1-E096-E83F-0F26-6F0AAF47889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5960786" y="1935002"/>
            <a:ext cx="12792" cy="21054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438A5D98-5BF6-E314-37D8-A96866BE7DCD}"/>
              </a:ext>
            </a:extLst>
          </p:cNvPr>
          <p:cNvSpPr txBox="1"/>
          <p:nvPr/>
        </p:nvSpPr>
        <p:spPr>
          <a:xfrm>
            <a:off x="832460" y="3139128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Construire Donjon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9CCF28DF-2D4E-2CBC-AFE8-420614343504}"/>
              </a:ext>
            </a:extLst>
          </p:cNvPr>
          <p:cNvSpPr txBox="1"/>
          <p:nvPr/>
        </p:nvSpPr>
        <p:spPr>
          <a:xfrm>
            <a:off x="832460" y="3496878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Disperser Troupes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46F0894D-49B9-1E91-4BD5-7B0FA75CE661}"/>
              </a:ext>
            </a:extLst>
          </p:cNvPr>
          <p:cNvSpPr txBox="1"/>
          <p:nvPr/>
        </p:nvSpPr>
        <p:spPr>
          <a:xfrm>
            <a:off x="832460" y="3862357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Concentrer Troupes</a:t>
            </a:r>
          </a:p>
        </p:txBody>
      </p:sp>
      <p:cxnSp>
        <p:nvCxnSpPr>
          <p:cNvPr id="221" name="Connecteur : en angle 97">
            <a:extLst>
              <a:ext uri="{FF2B5EF4-FFF2-40B4-BE49-F238E27FC236}">
                <a16:creationId xmlns:a16="http://schemas.microsoft.com/office/drawing/2014/main" id="{C89A0D04-3493-3F94-5CEF-CA5DE9750840}"/>
              </a:ext>
            </a:extLst>
          </p:cNvPr>
          <p:cNvCxnSpPr>
            <a:cxnSpLocks/>
            <a:stCxn id="7" idx="2"/>
            <a:endCxn id="10" idx="2"/>
          </p:cNvCxnSpPr>
          <p:nvPr/>
        </p:nvCxnSpPr>
        <p:spPr>
          <a:xfrm rot="16200000" flipH="1">
            <a:off x="4259393" y="2832947"/>
            <a:ext cx="3348" cy="3425021"/>
          </a:xfrm>
          <a:prstGeom prst="bentConnector3">
            <a:avLst>
              <a:gd name="adj1" fmla="val 692795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eur : en angle 97">
            <a:extLst>
              <a:ext uri="{FF2B5EF4-FFF2-40B4-BE49-F238E27FC236}">
                <a16:creationId xmlns:a16="http://schemas.microsoft.com/office/drawing/2014/main" id="{82C5AF85-B39C-D73F-5A8C-868CFA93D44A}"/>
              </a:ext>
            </a:extLst>
          </p:cNvPr>
          <p:cNvCxnSpPr>
            <a:cxnSpLocks/>
            <a:stCxn id="117" idx="2"/>
            <a:endCxn id="11" idx="0"/>
          </p:cNvCxnSpPr>
          <p:nvPr/>
        </p:nvCxnSpPr>
        <p:spPr>
          <a:xfrm>
            <a:off x="3760996" y="4922519"/>
            <a:ext cx="2" cy="24951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1" name="Image 280">
            <a:extLst>
              <a:ext uri="{FF2B5EF4-FFF2-40B4-BE49-F238E27FC236}">
                <a16:creationId xmlns:a16="http://schemas.microsoft.com/office/drawing/2014/main" id="{40D53DC9-6925-AB04-72B3-7DEE8F62EC78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07" r="32393" b="13652"/>
          <a:stretch>
            <a:fillRect/>
          </a:stretch>
        </p:blipFill>
        <p:spPr bwMode="auto">
          <a:xfrm>
            <a:off x="208147" y="6121536"/>
            <a:ext cx="5194936" cy="262134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83" name="Image 282">
            <a:extLst>
              <a:ext uri="{FF2B5EF4-FFF2-40B4-BE49-F238E27FC236}">
                <a16:creationId xmlns:a16="http://schemas.microsoft.com/office/drawing/2014/main" id="{08814F9E-50BE-0635-BF03-7D7E6B225C9D}"/>
              </a:ext>
            </a:extLst>
          </p:cNvPr>
          <p:cNvPicPr>
            <a:picLocks noChangeAspect="1"/>
          </p:cNvPicPr>
          <p:nvPr/>
        </p:nvPicPr>
        <p:blipFill>
          <a:blip r:embed="rId9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083" y="6438967"/>
            <a:ext cx="2130628" cy="2130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Image 283">
            <a:extLst>
              <a:ext uri="{FF2B5EF4-FFF2-40B4-BE49-F238E27FC236}">
                <a16:creationId xmlns:a16="http://schemas.microsoft.com/office/drawing/2014/main" id="{5B5F9645-D9FA-651C-390F-15C1E32D7521}"/>
              </a:ext>
            </a:extLst>
          </p:cNvPr>
          <p:cNvPicPr>
            <a:picLocks noChangeAspect="1"/>
          </p:cNvPicPr>
          <p:nvPr/>
        </p:nvPicPr>
        <p:blipFill>
          <a:blip r:embed="rId9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30742" y="8880506"/>
            <a:ext cx="1558607" cy="155856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56" name="Groupe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0" y="0"/>
            <a:chExt cx="7229" cy="7654"/>
          </a:xfrm>
        </p:grpSpPr>
      </p:grpSp>
      <p:grpSp>
        <p:nvGrpSpPr>
          <p:cNvPr id="2052" name="Group 4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18297" y="0"/>
            <a:chExt cx="7229" cy="7654"/>
          </a:xfrm>
        </p:grpSpPr>
      </p:grpSp>
      <p:grpSp>
        <p:nvGrpSpPr>
          <p:cNvPr id="2049" name="Group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9153" y="0"/>
            <a:chExt cx="7229" cy="7654"/>
          </a:xfrm>
        </p:grpSpPr>
      </p:grpSp>
      <p:pic>
        <p:nvPicPr>
          <p:cNvPr id="38" name="Graphique 37" descr="Couronne avec un remplissage uni">
            <a:extLst>
              <a:ext uri="{FF2B5EF4-FFF2-40B4-BE49-F238E27FC236}">
                <a16:creationId xmlns:a16="http://schemas.microsoft.com/office/drawing/2014/main" id="{ADF59C5C-A511-D993-4575-6B0F9AE66F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75260" y="6121536"/>
            <a:ext cx="914400" cy="914400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E4FEE4FC-DEC2-D3E9-BAD5-F20D5FF66777}"/>
              </a:ext>
            </a:extLst>
          </p:cNvPr>
          <p:cNvSpPr txBox="1"/>
          <p:nvPr/>
        </p:nvSpPr>
        <p:spPr>
          <a:xfrm>
            <a:off x="2621110" y="3359363"/>
            <a:ext cx="1682065" cy="262240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63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Espion</a:t>
            </a: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ED83B125-A9EB-5974-EAED-6EF7FF6D31B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28059" y="8998243"/>
            <a:ext cx="4692906" cy="1372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7152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220</TotalTime>
  <Words>84</Words>
  <Application>Microsoft Office PowerPoint</Application>
  <PresentationFormat>Personnalisé</PresentationFormat>
  <Paragraphs>22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18</cp:revision>
  <cp:lastPrinted>2026-04-26T14:16:53Z</cp:lastPrinted>
  <dcterms:created xsi:type="dcterms:W3CDTF">2026-04-25T15:42:38Z</dcterms:created>
  <dcterms:modified xsi:type="dcterms:W3CDTF">2026-09-30T18:54:41Z</dcterms:modified>
</cp:coreProperties>
</file>