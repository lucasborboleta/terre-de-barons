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A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20" autoAdjust="0"/>
    <p:restoredTop sz="94660"/>
  </p:normalViewPr>
  <p:slideViewPr>
    <p:cSldViewPr snapToGrid="0">
      <p:cViewPr>
        <p:scale>
          <a:sx n="75" d="100"/>
          <a:sy n="75" d="100"/>
        </p:scale>
        <p:origin x="36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D895D-661B-479D-A688-27E503324CF6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959F4-80F3-402A-9D25-879686CF8B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08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959F4-80F3-402A-9D25-879686CF8B5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68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8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5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29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73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2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38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6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65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17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1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B969D-5DBB-4D98-A8ED-E39D79CDECF7}" type="datetimeFigureOut">
              <a:rPr lang="fr-FR" smtClean="0"/>
              <a:t>26/04/2026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84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9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12" Type="http://schemas.openxmlformats.org/officeDocument/2006/relationships/image" Target="../media/image8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peg"/><Relationship Id="rId11" Type="http://schemas.openxmlformats.org/officeDocument/2006/relationships/image" Target="../media/image7.jpeg"/><Relationship Id="rId5" Type="http://schemas.microsoft.com/office/2007/relationships/hdphoto" Target="../media/hdphoto1.wdp"/><Relationship Id="rId10" Type="http://schemas.microsoft.com/office/2007/relationships/hdphoto" Target="../media/hdphoto3.wdp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>
            <a:extLst>
              <a:ext uri="{FF2B5EF4-FFF2-40B4-BE49-F238E27FC236}">
                <a16:creationId xmlns:a16="http://schemas.microsoft.com/office/drawing/2014/main" id="{D5373BA0-F92B-E8F1-6337-DA519B871547}"/>
              </a:ext>
            </a:extLst>
          </p:cNvPr>
          <p:cNvSpPr txBox="1"/>
          <p:nvPr/>
        </p:nvSpPr>
        <p:spPr>
          <a:xfrm>
            <a:off x="146956" y="905610"/>
            <a:ext cx="7115535" cy="4283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Choisir « Agir » ou « Replanifier 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AFC0063-431D-8B36-BDCB-788AD19FD63D}"/>
              </a:ext>
            </a:extLst>
          </p:cNvPr>
          <p:cNvSpPr txBox="1"/>
          <p:nvPr/>
        </p:nvSpPr>
        <p:spPr>
          <a:xfrm>
            <a:off x="4753908" y="2214679"/>
            <a:ext cx="2308744" cy="2511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Compléter sa main à 6 cartes</a:t>
            </a:r>
          </a:p>
          <a:p>
            <a:pPr algn="ctr"/>
            <a:r>
              <a:rPr lang="fr-FR" sz="1117" dirty="0"/>
              <a:t>(sauf après « Complot à la Cour »)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04ACA21-4852-0B64-9123-3525666B8E16}"/>
              </a:ext>
            </a:extLst>
          </p:cNvPr>
          <p:cNvSpPr txBox="1"/>
          <p:nvPr/>
        </p:nvSpPr>
        <p:spPr>
          <a:xfrm>
            <a:off x="4746376" y="1333069"/>
            <a:ext cx="2316275" cy="7167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Replanifier</a:t>
            </a:r>
          </a:p>
        </p:txBody>
      </p:sp>
      <p:sp>
        <p:nvSpPr>
          <p:cNvPr id="216" name="ZoneTexte 215">
            <a:extLst>
              <a:ext uri="{FF2B5EF4-FFF2-40B4-BE49-F238E27FC236}">
                <a16:creationId xmlns:a16="http://schemas.microsoft.com/office/drawing/2014/main" id="{A22F7A29-34AB-1622-248B-87B64EB60B36}"/>
              </a:ext>
            </a:extLst>
          </p:cNvPr>
          <p:cNvSpPr txBox="1"/>
          <p:nvPr/>
        </p:nvSpPr>
        <p:spPr>
          <a:xfrm>
            <a:off x="4923879" y="2652896"/>
            <a:ext cx="1915543" cy="1887553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75000" sy="75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Piocher chaque carte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7DCD537-E7EE-76E4-18A9-54550E4B20BD}"/>
              </a:ext>
            </a:extLst>
          </p:cNvPr>
          <p:cNvSpPr txBox="1"/>
          <p:nvPr/>
        </p:nvSpPr>
        <p:spPr>
          <a:xfrm>
            <a:off x="146958" y="5947897"/>
            <a:ext cx="7115536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Fin du tour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3A5C500-E43E-C23A-D3DE-4A342521CDDC}"/>
              </a:ext>
            </a:extLst>
          </p:cNvPr>
          <p:cNvSpPr txBox="1"/>
          <p:nvPr/>
        </p:nvSpPr>
        <p:spPr>
          <a:xfrm>
            <a:off x="146957" y="260010"/>
            <a:ext cx="7115538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Début du tour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0BD238-C221-ED3A-2871-3ED667F757DE}"/>
              </a:ext>
            </a:extLst>
          </p:cNvPr>
          <p:cNvSpPr txBox="1"/>
          <p:nvPr/>
        </p:nvSpPr>
        <p:spPr>
          <a:xfrm>
            <a:off x="374470" y="1336776"/>
            <a:ext cx="4235629" cy="33898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Agir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800718-EE48-68B1-C18D-62732A4D6A7D}"/>
              </a:ext>
            </a:extLst>
          </p:cNvPr>
          <p:cNvSpPr txBox="1"/>
          <p:nvPr/>
        </p:nvSpPr>
        <p:spPr>
          <a:xfrm>
            <a:off x="5046792" y="1623202"/>
            <a:ext cx="1647500" cy="2642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Défausser 1 à 6 cartes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F6F2B23-ADF2-EE55-C768-7902C9750C8C}"/>
              </a:ext>
            </a:extLst>
          </p:cNvPr>
          <p:cNvSpPr txBox="1"/>
          <p:nvPr/>
        </p:nvSpPr>
        <p:spPr>
          <a:xfrm>
            <a:off x="146957" y="5467459"/>
            <a:ext cx="7115537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Mettre à jour la piste de score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39C86B1-F9A8-AE14-9545-EEE77A7647BE}"/>
              </a:ext>
            </a:extLst>
          </p:cNvPr>
          <p:cNvSpPr txBox="1"/>
          <p:nvPr/>
        </p:nvSpPr>
        <p:spPr>
          <a:xfrm>
            <a:off x="5089153" y="3079208"/>
            <a:ext cx="1691262" cy="4361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Action tirée</a:t>
            </a:r>
          </a:p>
          <a:p>
            <a:pPr algn="ctr"/>
            <a:r>
              <a:rPr lang="fr-FR" sz="1117" dirty="0">
                <a:sym typeface="Wingdings" panose="05000000000000000000" pitchFamily="2" charset="2"/>
              </a:rPr>
              <a:t> Prendre en main</a:t>
            </a:r>
            <a:endParaRPr lang="fr-FR" sz="1117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54A6FF8-9966-AAC6-8637-61073C9102C1}"/>
              </a:ext>
            </a:extLst>
          </p:cNvPr>
          <p:cNvSpPr txBox="1"/>
          <p:nvPr/>
        </p:nvSpPr>
        <p:spPr>
          <a:xfrm>
            <a:off x="5089153" y="3725069"/>
            <a:ext cx="1691262" cy="436145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Evénement tiré </a:t>
            </a:r>
          </a:p>
          <a:p>
            <a:pPr algn="ctr"/>
            <a:r>
              <a:rPr lang="fr-FR" sz="1117" dirty="0">
                <a:solidFill>
                  <a:schemeClr val="bg1"/>
                </a:solidFill>
                <a:sym typeface="Wingdings" panose="05000000000000000000" pitchFamily="2" charset="2"/>
              </a:rPr>
              <a:t> Résoudre la Calamité</a:t>
            </a:r>
            <a:endParaRPr lang="fr-FR" sz="1117" dirty="0">
              <a:solidFill>
                <a:schemeClr val="bg1"/>
              </a:solidFill>
            </a:endParaRPr>
          </a:p>
        </p:txBody>
      </p:sp>
      <p:cxnSp>
        <p:nvCxnSpPr>
          <p:cNvPr id="102" name="Connecteur : en angle 97">
            <a:extLst>
              <a:ext uri="{FF2B5EF4-FFF2-40B4-BE49-F238E27FC236}">
                <a16:creationId xmlns:a16="http://schemas.microsoft.com/office/drawing/2014/main" id="{4A273C23-2131-E0AF-6196-8088CD2DB22C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>
            <a:off x="3704726" y="5731699"/>
            <a:ext cx="0" cy="216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 : en angle 119">
            <a:extLst>
              <a:ext uri="{FF2B5EF4-FFF2-40B4-BE49-F238E27FC236}">
                <a16:creationId xmlns:a16="http://schemas.microsoft.com/office/drawing/2014/main" id="{F46FD572-39E5-676C-0E50-57C4C4170703}"/>
              </a:ext>
            </a:extLst>
          </p:cNvPr>
          <p:cNvCxnSpPr>
            <a:cxnSpLocks/>
            <a:stCxn id="6" idx="2"/>
            <a:endCxn id="117" idx="0"/>
          </p:cNvCxnSpPr>
          <p:nvPr/>
        </p:nvCxnSpPr>
        <p:spPr>
          <a:xfrm flipH="1">
            <a:off x="3704724" y="524250"/>
            <a:ext cx="2" cy="381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ZoneTexte 137">
            <a:extLst>
              <a:ext uri="{FF2B5EF4-FFF2-40B4-BE49-F238E27FC236}">
                <a16:creationId xmlns:a16="http://schemas.microsoft.com/office/drawing/2014/main" id="{F197E6A8-B54B-0AEB-9598-AC371936E10D}"/>
              </a:ext>
            </a:extLst>
          </p:cNvPr>
          <p:cNvSpPr txBox="1"/>
          <p:nvPr/>
        </p:nvSpPr>
        <p:spPr>
          <a:xfrm>
            <a:off x="510492" y="1621018"/>
            <a:ext cx="3935305" cy="3731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Choisir des cartes Action pour un total maximum de 3 crédits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88CC0CB3-83D1-6006-A001-70DA7FB93AC5}"/>
              </a:ext>
            </a:extLst>
          </p:cNvPr>
          <p:cNvSpPr txBox="1"/>
          <p:nvPr/>
        </p:nvSpPr>
        <p:spPr>
          <a:xfrm>
            <a:off x="496291" y="2277712"/>
            <a:ext cx="3963708" cy="23095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Jouer chaque carte, puis la défausser</a:t>
            </a:r>
          </a:p>
        </p:txBody>
      </p:sp>
      <p:cxnSp>
        <p:nvCxnSpPr>
          <p:cNvPr id="198" name="Connecteur : en angle 97">
            <a:extLst>
              <a:ext uri="{FF2B5EF4-FFF2-40B4-BE49-F238E27FC236}">
                <a16:creationId xmlns:a16="http://schemas.microsoft.com/office/drawing/2014/main" id="{FB3D6D6B-69B5-9D52-E20C-80AD36EB2A32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>
            <a:off x="2478145" y="1994188"/>
            <a:ext cx="0" cy="283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ZoneTexte 200">
            <a:extLst>
              <a:ext uri="{FF2B5EF4-FFF2-40B4-BE49-F238E27FC236}">
                <a16:creationId xmlns:a16="http://schemas.microsoft.com/office/drawing/2014/main" id="{0B98995D-1246-0C1A-4627-BBEF965B1486}"/>
              </a:ext>
            </a:extLst>
          </p:cNvPr>
          <p:cNvSpPr txBox="1"/>
          <p:nvPr/>
        </p:nvSpPr>
        <p:spPr>
          <a:xfrm>
            <a:off x="2569523" y="2549619"/>
            <a:ext cx="1682065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Déplacer Seigneur</a:t>
            </a:r>
          </a:p>
        </p:txBody>
      </p:sp>
      <p:sp>
        <p:nvSpPr>
          <p:cNvPr id="202" name="ZoneTexte 201">
            <a:extLst>
              <a:ext uri="{FF2B5EF4-FFF2-40B4-BE49-F238E27FC236}">
                <a16:creationId xmlns:a16="http://schemas.microsoft.com/office/drawing/2014/main" id="{03CD3FC7-A849-C927-CD01-FF0368D6C892}"/>
              </a:ext>
            </a:extLst>
          </p:cNvPr>
          <p:cNvSpPr txBox="1"/>
          <p:nvPr/>
        </p:nvSpPr>
        <p:spPr>
          <a:xfrm>
            <a:off x="2564838" y="2904674"/>
            <a:ext cx="1656369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Recruter Chevalier</a:t>
            </a:r>
          </a:p>
        </p:txBody>
      </p:sp>
      <p:sp>
        <p:nvSpPr>
          <p:cNvPr id="203" name="ZoneTexte 202">
            <a:extLst>
              <a:ext uri="{FF2B5EF4-FFF2-40B4-BE49-F238E27FC236}">
                <a16:creationId xmlns:a16="http://schemas.microsoft.com/office/drawing/2014/main" id="{3F926420-6362-667F-1199-D8F019BA874F}"/>
              </a:ext>
            </a:extLst>
          </p:cNvPr>
          <p:cNvSpPr txBox="1"/>
          <p:nvPr/>
        </p:nvSpPr>
        <p:spPr>
          <a:xfrm>
            <a:off x="2573273" y="3285410"/>
            <a:ext cx="1682065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Exiler Chevalier</a:t>
            </a:r>
          </a:p>
        </p:txBody>
      </p:sp>
      <p:sp>
        <p:nvSpPr>
          <p:cNvPr id="204" name="ZoneTexte 203">
            <a:extLst>
              <a:ext uri="{FF2B5EF4-FFF2-40B4-BE49-F238E27FC236}">
                <a16:creationId xmlns:a16="http://schemas.microsoft.com/office/drawing/2014/main" id="{D6E55733-EC83-E678-E68C-B58BB4D51FF2}"/>
              </a:ext>
            </a:extLst>
          </p:cNvPr>
          <p:cNvSpPr txBox="1"/>
          <p:nvPr/>
        </p:nvSpPr>
        <p:spPr>
          <a:xfrm>
            <a:off x="2564838" y="3667919"/>
            <a:ext cx="1682065" cy="610061"/>
          </a:xfrm>
          <a:prstGeom prst="rect">
            <a:avLst/>
          </a:prstGeom>
          <a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artisticWatercolorSponge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Complot à la Cour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27B585F0-32F5-655D-584A-7CC60B5B37C5}"/>
              </a:ext>
            </a:extLst>
          </p:cNvPr>
          <p:cNvSpPr txBox="1"/>
          <p:nvPr/>
        </p:nvSpPr>
        <p:spPr>
          <a:xfrm>
            <a:off x="669446" y="2554517"/>
            <a:ext cx="1691666" cy="1918423"/>
          </a:xfrm>
          <a:prstGeom prst="rect">
            <a:avLst/>
          </a:prstGeom>
          <a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Depuis une Tuile de Commandement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2AD12B3B-572F-D94B-320D-9112846390CA}"/>
              </a:ext>
            </a:extLst>
          </p:cNvPr>
          <p:cNvSpPr txBox="1"/>
          <p:nvPr/>
        </p:nvSpPr>
        <p:spPr>
          <a:xfrm>
            <a:off x="776188" y="2954894"/>
            <a:ext cx="1463066" cy="285237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Recruter Troupes</a:t>
            </a:r>
          </a:p>
        </p:txBody>
      </p:sp>
      <p:cxnSp>
        <p:nvCxnSpPr>
          <p:cNvPr id="122" name="Connecteur : en angle 24">
            <a:extLst>
              <a:ext uri="{FF2B5EF4-FFF2-40B4-BE49-F238E27FC236}">
                <a16:creationId xmlns:a16="http://schemas.microsoft.com/office/drawing/2014/main" id="{F7DD50F1-E096-E83F-0F26-6F0AAF47889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5904514" y="2049781"/>
            <a:ext cx="3766" cy="164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438A5D98-5BF6-E314-37D8-A96866BE7DCD}"/>
              </a:ext>
            </a:extLst>
          </p:cNvPr>
          <p:cNvSpPr txBox="1"/>
          <p:nvPr/>
        </p:nvSpPr>
        <p:spPr>
          <a:xfrm>
            <a:off x="776188" y="3322009"/>
            <a:ext cx="1463066" cy="285237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Construire Donjon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9CCF28DF-2D4E-2CBC-AFE8-420614343504}"/>
              </a:ext>
            </a:extLst>
          </p:cNvPr>
          <p:cNvSpPr txBox="1"/>
          <p:nvPr/>
        </p:nvSpPr>
        <p:spPr>
          <a:xfrm>
            <a:off x="776188" y="3679759"/>
            <a:ext cx="1463066" cy="285237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Disperser Troupes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46F0894D-49B9-1E91-4BD5-7B0FA75CE661}"/>
              </a:ext>
            </a:extLst>
          </p:cNvPr>
          <p:cNvSpPr txBox="1"/>
          <p:nvPr/>
        </p:nvSpPr>
        <p:spPr>
          <a:xfrm>
            <a:off x="776188" y="4045238"/>
            <a:ext cx="1463066" cy="285237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Concentrer Troupes</a:t>
            </a: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398B0C1F-5543-7C34-1D5A-A56699A8CB59}"/>
              </a:ext>
            </a:extLst>
          </p:cNvPr>
          <p:cNvSpPr txBox="1"/>
          <p:nvPr/>
        </p:nvSpPr>
        <p:spPr>
          <a:xfrm>
            <a:off x="2636869" y="3897188"/>
            <a:ext cx="1512306" cy="274944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75000" sy="75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Piocher chaque carte</a:t>
            </a:r>
          </a:p>
        </p:txBody>
      </p:sp>
      <p:cxnSp>
        <p:nvCxnSpPr>
          <p:cNvPr id="221" name="Connecteur : en angle 97">
            <a:extLst>
              <a:ext uri="{FF2B5EF4-FFF2-40B4-BE49-F238E27FC236}">
                <a16:creationId xmlns:a16="http://schemas.microsoft.com/office/drawing/2014/main" id="{C89A0D04-3493-3F94-5CEF-CA5DE975084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4200282" y="3018667"/>
            <a:ext cx="12700" cy="341599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 : en angle 97">
            <a:extLst>
              <a:ext uri="{FF2B5EF4-FFF2-40B4-BE49-F238E27FC236}">
                <a16:creationId xmlns:a16="http://schemas.microsoft.com/office/drawing/2014/main" id="{82C5AF85-B39C-D73F-5A8C-868CFA93D44A}"/>
              </a:ext>
            </a:extLst>
          </p:cNvPr>
          <p:cNvCxnSpPr>
            <a:cxnSpLocks/>
            <a:stCxn id="117" idx="2"/>
            <a:endCxn id="11" idx="0"/>
          </p:cNvCxnSpPr>
          <p:nvPr/>
        </p:nvCxnSpPr>
        <p:spPr>
          <a:xfrm>
            <a:off x="3704724" y="5189220"/>
            <a:ext cx="2" cy="278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9" name="Groupe 278">
            <a:extLst>
              <a:ext uri="{FF2B5EF4-FFF2-40B4-BE49-F238E27FC236}">
                <a16:creationId xmlns:a16="http://schemas.microsoft.com/office/drawing/2014/main" id="{2D726873-21FC-B8ED-50C0-F16C858613D3}"/>
              </a:ext>
            </a:extLst>
          </p:cNvPr>
          <p:cNvGrpSpPr/>
          <p:nvPr/>
        </p:nvGrpSpPr>
        <p:grpSpPr>
          <a:xfrm>
            <a:off x="1724793" y="6635529"/>
            <a:ext cx="3959860" cy="3121025"/>
            <a:chOff x="0" y="0"/>
            <a:chExt cx="3960390" cy="3121564"/>
          </a:xfrm>
        </p:grpSpPr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1D0E01E4-56A6-5023-701C-DF6E876F4406}"/>
                </a:ext>
              </a:extLst>
            </p:cNvPr>
            <p:cNvSpPr/>
            <p:nvPr/>
          </p:nvSpPr>
          <p:spPr>
            <a:xfrm>
              <a:off x="0" y="0"/>
              <a:ext cx="3960390" cy="312156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pic>
          <p:nvPicPr>
            <p:cNvPr id="281" name="Image 280">
              <a:extLst>
                <a:ext uri="{FF2B5EF4-FFF2-40B4-BE49-F238E27FC236}">
                  <a16:creationId xmlns:a16="http://schemas.microsoft.com/office/drawing/2014/main" id="{40D53DC9-6925-AB04-72B3-7DEE8F62EC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07" r="32393" b="13652"/>
            <a:stretch>
              <a:fillRect/>
            </a:stretch>
          </p:blipFill>
          <p:spPr bwMode="auto">
            <a:xfrm>
              <a:off x="169205" y="136790"/>
              <a:ext cx="3645535" cy="183959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82" name="Image 281">
              <a:extLst>
                <a:ext uri="{FF2B5EF4-FFF2-40B4-BE49-F238E27FC236}">
                  <a16:creationId xmlns:a16="http://schemas.microsoft.com/office/drawing/2014/main" id="{D2B5E59A-955D-6E37-70A8-EF428207DD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64" r="35779" b="24600"/>
            <a:stretch>
              <a:fillRect/>
            </a:stretch>
          </p:blipFill>
          <p:spPr bwMode="auto">
            <a:xfrm>
              <a:off x="168923" y="2084344"/>
              <a:ext cx="2938145" cy="87185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83" name="Image 282">
              <a:extLst>
                <a:ext uri="{FF2B5EF4-FFF2-40B4-BE49-F238E27FC236}">
                  <a16:creationId xmlns:a16="http://schemas.microsoft.com/office/drawing/2014/main" id="{08814F9E-50BE-0635-BF03-7D7E6B225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5028" y="2179346"/>
              <a:ext cx="719992" cy="7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Image 283">
              <a:extLst>
                <a:ext uri="{FF2B5EF4-FFF2-40B4-BE49-F238E27FC236}">
                  <a16:creationId xmlns:a16="http://schemas.microsoft.com/office/drawing/2014/main" id="{5B5F9645-D9FA-651C-390F-15C1E32D7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91863" y="87418"/>
              <a:ext cx="719991" cy="7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007152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</TotalTime>
  <Words>103</Words>
  <Application>Microsoft Office PowerPoint</Application>
  <PresentationFormat>Personnalisé</PresentationFormat>
  <Paragraphs>27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5</cp:revision>
  <dcterms:created xsi:type="dcterms:W3CDTF">2026-04-25T15:42:38Z</dcterms:created>
  <dcterms:modified xsi:type="dcterms:W3CDTF">2026-04-26T10:25:43Z</dcterms:modified>
</cp:coreProperties>
</file>