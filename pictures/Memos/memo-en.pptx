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79D"/>
    <a:srgbClr val="E3C19C"/>
    <a:srgbClr val="D2D3D2"/>
    <a:srgbClr val="E8A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20" autoAdjust="0"/>
    <p:restoredTop sz="94660"/>
  </p:normalViewPr>
  <p:slideViewPr>
    <p:cSldViewPr snapToGrid="0">
      <p:cViewPr>
        <p:scale>
          <a:sx n="33" d="100"/>
          <a:sy n="33" d="100"/>
        </p:scale>
        <p:origin x="4680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49D895D-661B-479D-A688-27E503324CF6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1252538"/>
            <a:ext cx="239077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BAF959F4-80F3-402A-9D25-879686CF8B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08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959F4-80F3-402A-9D25-879686CF8B5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68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8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5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29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73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38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65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17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B969D-5DBB-4D98-A8ED-E39D79CDECF7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12A64-99EE-492D-8F0B-9449CDF29F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84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emf"/><Relationship Id="rId5" Type="http://schemas.microsoft.com/office/2007/relationships/hdphoto" Target="../media/hdphoto1.wdp"/><Relationship Id="rId10" Type="http://schemas.openxmlformats.org/officeDocument/2006/relationships/image" Target="../media/image6.emf"/><Relationship Id="rId4" Type="http://schemas.openxmlformats.org/officeDocument/2006/relationships/image" Target="../media/image2.pn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C0162E-72FA-4D0C-3FCD-9AE847B95E39}"/>
              </a:ext>
            </a:extLst>
          </p:cNvPr>
          <p:cNvSpPr/>
          <p:nvPr/>
        </p:nvSpPr>
        <p:spPr>
          <a:xfrm>
            <a:off x="0" y="-562708"/>
            <a:ext cx="7559675" cy="11254521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D5373BA0-F92B-E8F1-6337-DA519B871547}"/>
              </a:ext>
            </a:extLst>
          </p:cNvPr>
          <p:cNvSpPr txBox="1"/>
          <p:nvPr/>
        </p:nvSpPr>
        <p:spPr>
          <a:xfrm>
            <a:off x="203228" y="722729"/>
            <a:ext cx="7115535" cy="4199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Choose "Act" or "Replan"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FC0063-431D-8B36-BDCB-788AD19FD63D}"/>
              </a:ext>
            </a:extLst>
          </p:cNvPr>
          <p:cNvSpPr txBox="1"/>
          <p:nvPr/>
        </p:nvSpPr>
        <p:spPr>
          <a:xfrm>
            <a:off x="4810180" y="4047077"/>
            <a:ext cx="2308744" cy="49670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200" dirty="0"/>
              <a:t>Refill hand to 6 cards </a:t>
            </a:r>
            <a:br>
              <a:rPr lang="en-US" sz="1200" dirty="0"/>
            </a:br>
            <a:r>
              <a:rPr lang="en-US" sz="1117" noProof="0" dirty="0"/>
              <a:t>(except after "Court Intrigue")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4ACA21-4852-0B64-9123-3525666B8E16}"/>
              </a:ext>
            </a:extLst>
          </p:cNvPr>
          <p:cNvSpPr txBox="1"/>
          <p:nvPr/>
        </p:nvSpPr>
        <p:spPr>
          <a:xfrm>
            <a:off x="4802648" y="1150187"/>
            <a:ext cx="2316275" cy="784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dirty="0"/>
              <a:t>Replan</a:t>
            </a:r>
            <a:endParaRPr lang="en-US" sz="1117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DCD537-E7EE-76E4-18A9-54550E4B20BD}"/>
              </a:ext>
            </a:extLst>
          </p:cNvPr>
          <p:cNvSpPr txBox="1"/>
          <p:nvPr/>
        </p:nvSpPr>
        <p:spPr>
          <a:xfrm>
            <a:off x="203230" y="5652471"/>
            <a:ext cx="7115536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End of turn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A5C500-E43E-C23A-D3DE-4A342521CDDC}"/>
              </a:ext>
            </a:extLst>
          </p:cNvPr>
          <p:cNvSpPr txBox="1"/>
          <p:nvPr/>
        </p:nvSpPr>
        <p:spPr>
          <a:xfrm>
            <a:off x="203229" y="260010"/>
            <a:ext cx="7115538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Start of turn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0BD238-C221-ED3A-2871-3ED667F757DE}"/>
              </a:ext>
            </a:extLst>
          </p:cNvPr>
          <p:cNvSpPr txBox="1"/>
          <p:nvPr/>
        </p:nvSpPr>
        <p:spPr>
          <a:xfrm>
            <a:off x="430742" y="1153895"/>
            <a:ext cx="4235629" cy="338988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dirty="0"/>
              <a:t>Act</a:t>
            </a:r>
            <a:endParaRPr lang="en-US" sz="1117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800718-EE48-68B1-C18D-62732A4D6A7D}"/>
              </a:ext>
            </a:extLst>
          </p:cNvPr>
          <p:cNvSpPr txBox="1"/>
          <p:nvPr/>
        </p:nvSpPr>
        <p:spPr>
          <a:xfrm>
            <a:off x="5103064" y="1440321"/>
            <a:ext cx="1647500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Discard 1 to 6 cards</a:t>
            </a:r>
            <a:endParaRPr lang="en-US" sz="1117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F6F2B23-ADF2-EE55-C768-7902C9750C8C}"/>
              </a:ext>
            </a:extLst>
          </p:cNvPr>
          <p:cNvSpPr txBox="1"/>
          <p:nvPr/>
        </p:nvSpPr>
        <p:spPr>
          <a:xfrm>
            <a:off x="203229" y="5172033"/>
            <a:ext cx="7115537" cy="26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Update the score track</a:t>
            </a:r>
          </a:p>
        </p:txBody>
      </p:sp>
      <p:cxnSp>
        <p:nvCxnSpPr>
          <p:cNvPr id="102" name="Connecteur : en angle 97">
            <a:extLst>
              <a:ext uri="{FF2B5EF4-FFF2-40B4-BE49-F238E27FC236}">
                <a16:creationId xmlns:a16="http://schemas.microsoft.com/office/drawing/2014/main" id="{4A273C23-2131-E0AF-6196-8088CD2DB22C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>
            <a:off x="3760998" y="5436273"/>
            <a:ext cx="0" cy="2161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 : en angle 119">
            <a:extLst>
              <a:ext uri="{FF2B5EF4-FFF2-40B4-BE49-F238E27FC236}">
                <a16:creationId xmlns:a16="http://schemas.microsoft.com/office/drawing/2014/main" id="{F46FD572-39E5-676C-0E50-57C4C4170703}"/>
              </a:ext>
            </a:extLst>
          </p:cNvPr>
          <p:cNvCxnSpPr>
            <a:cxnSpLocks/>
            <a:stCxn id="6" idx="2"/>
            <a:endCxn id="117" idx="0"/>
          </p:cNvCxnSpPr>
          <p:nvPr/>
        </p:nvCxnSpPr>
        <p:spPr>
          <a:xfrm flipH="1">
            <a:off x="3760996" y="524250"/>
            <a:ext cx="2" cy="1984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F197E6A8-B54B-0AEB-9598-AC371936E10D}"/>
              </a:ext>
            </a:extLst>
          </p:cNvPr>
          <p:cNvSpPr txBox="1"/>
          <p:nvPr/>
        </p:nvSpPr>
        <p:spPr>
          <a:xfrm>
            <a:off x="566764" y="1438137"/>
            <a:ext cx="3935305" cy="37317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Choose cards for a maximum amount of credits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88CC0CB3-83D1-6006-A001-70DA7FB93AC5}"/>
              </a:ext>
            </a:extLst>
          </p:cNvPr>
          <p:cNvSpPr txBox="1"/>
          <p:nvPr/>
        </p:nvSpPr>
        <p:spPr>
          <a:xfrm>
            <a:off x="552563" y="2094831"/>
            <a:ext cx="3963708" cy="230952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Play each card, then discard it</a:t>
            </a:r>
          </a:p>
        </p:txBody>
      </p:sp>
      <p:cxnSp>
        <p:nvCxnSpPr>
          <p:cNvPr id="198" name="Connecteur : en angle 97">
            <a:extLst>
              <a:ext uri="{FF2B5EF4-FFF2-40B4-BE49-F238E27FC236}">
                <a16:creationId xmlns:a16="http://schemas.microsoft.com/office/drawing/2014/main" id="{FB3D6D6B-69B5-9D52-E20C-80AD36EB2A3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>
            <a:off x="2534417" y="1811307"/>
            <a:ext cx="0" cy="28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B98995D-1246-0C1A-4627-BBEF965B1486}"/>
              </a:ext>
            </a:extLst>
          </p:cNvPr>
          <p:cNvSpPr txBox="1"/>
          <p:nvPr/>
        </p:nvSpPr>
        <p:spPr>
          <a:xfrm>
            <a:off x="2625795" y="2366738"/>
            <a:ext cx="1717182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Move Lord</a:t>
            </a:r>
          </a:p>
        </p:txBody>
      </p:sp>
      <p:sp>
        <p:nvSpPr>
          <p:cNvPr id="202" name="ZoneTexte 201">
            <a:extLst>
              <a:ext uri="{FF2B5EF4-FFF2-40B4-BE49-F238E27FC236}">
                <a16:creationId xmlns:a16="http://schemas.microsoft.com/office/drawing/2014/main" id="{03CD3FC7-A849-C927-CD01-FF0368D6C892}"/>
              </a:ext>
            </a:extLst>
          </p:cNvPr>
          <p:cNvSpPr txBox="1"/>
          <p:nvPr/>
        </p:nvSpPr>
        <p:spPr>
          <a:xfrm>
            <a:off x="2638553" y="2678836"/>
            <a:ext cx="1704424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Recruit Knight</a:t>
            </a:r>
          </a:p>
        </p:txBody>
      </p:sp>
      <p:sp>
        <p:nvSpPr>
          <p:cNvPr id="203" name="ZoneTexte 202">
            <a:extLst>
              <a:ext uri="{FF2B5EF4-FFF2-40B4-BE49-F238E27FC236}">
                <a16:creationId xmlns:a16="http://schemas.microsoft.com/office/drawing/2014/main" id="{3F926420-6362-667F-1199-D8F019BA874F}"/>
              </a:ext>
            </a:extLst>
          </p:cNvPr>
          <p:cNvSpPr txBox="1"/>
          <p:nvPr/>
        </p:nvSpPr>
        <p:spPr>
          <a:xfrm>
            <a:off x="2651311" y="2993259"/>
            <a:ext cx="1691666" cy="264240"/>
          </a:xfrm>
          <a:prstGeom prst="rect">
            <a:avLst/>
          </a:prstGeom>
          <a:solidFill>
            <a:srgbClr val="E8A0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17" noProof="0" dirty="0"/>
              <a:t>Exile Knight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D6E55733-EC83-E678-E68C-B58BB4D51FF2}"/>
              </a:ext>
            </a:extLst>
          </p:cNvPr>
          <p:cNvSpPr txBox="1"/>
          <p:nvPr/>
        </p:nvSpPr>
        <p:spPr>
          <a:xfrm>
            <a:off x="2651311" y="3752491"/>
            <a:ext cx="1691666" cy="291259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WatercolorSponge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63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Court Intrigue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27B585F0-32F5-655D-584A-7CC60B5B37C5}"/>
              </a:ext>
            </a:extLst>
          </p:cNvPr>
          <p:cNvSpPr txBox="1"/>
          <p:nvPr/>
        </p:nvSpPr>
        <p:spPr>
          <a:xfrm>
            <a:off x="700318" y="2371636"/>
            <a:ext cx="1691666" cy="1918423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From a Command Tile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AD12B3B-572F-D94B-320D-9112846390CA}"/>
              </a:ext>
            </a:extLst>
          </p:cNvPr>
          <p:cNvSpPr txBox="1"/>
          <p:nvPr/>
        </p:nvSpPr>
        <p:spPr>
          <a:xfrm>
            <a:off x="807060" y="2664682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>
                <a:solidFill>
                  <a:schemeClr val="bg1"/>
                </a:solidFill>
              </a:rPr>
              <a:t>Recruit Troops</a:t>
            </a:r>
          </a:p>
        </p:txBody>
      </p:sp>
      <p:cxnSp>
        <p:nvCxnSpPr>
          <p:cNvPr id="122" name="Connecteur : en angle 24">
            <a:extLst>
              <a:ext uri="{FF2B5EF4-FFF2-40B4-BE49-F238E27FC236}">
                <a16:creationId xmlns:a16="http://schemas.microsoft.com/office/drawing/2014/main" id="{F7DD50F1-E096-E83F-0F26-6F0AAF47889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960786" y="1935002"/>
            <a:ext cx="3766" cy="2112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438A5D98-5BF6-E314-37D8-A96866BE7DCD}"/>
              </a:ext>
            </a:extLst>
          </p:cNvPr>
          <p:cNvSpPr txBox="1"/>
          <p:nvPr/>
        </p:nvSpPr>
        <p:spPr>
          <a:xfrm>
            <a:off x="807060" y="3056814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>
                <a:solidFill>
                  <a:schemeClr val="bg1"/>
                </a:solidFill>
              </a:rPr>
              <a:t>Build Keep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9CCF28DF-2D4E-2CBC-AFE8-420614343504}"/>
              </a:ext>
            </a:extLst>
          </p:cNvPr>
          <p:cNvSpPr txBox="1"/>
          <p:nvPr/>
        </p:nvSpPr>
        <p:spPr>
          <a:xfrm>
            <a:off x="807060" y="3474620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>
                <a:solidFill>
                  <a:schemeClr val="bg1"/>
                </a:solidFill>
              </a:rPr>
              <a:t>Disperse Troops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6F0894D-49B9-1E91-4BD5-7B0FA75CE661}"/>
              </a:ext>
            </a:extLst>
          </p:cNvPr>
          <p:cNvSpPr txBox="1"/>
          <p:nvPr/>
        </p:nvSpPr>
        <p:spPr>
          <a:xfrm>
            <a:off x="807060" y="3862357"/>
            <a:ext cx="1463066" cy="2852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>
                <a:solidFill>
                  <a:schemeClr val="bg1"/>
                </a:solidFill>
              </a:rPr>
              <a:t>Concentrate Troops</a:t>
            </a:r>
          </a:p>
        </p:txBody>
      </p:sp>
      <p:cxnSp>
        <p:nvCxnSpPr>
          <p:cNvPr id="221" name="Connecteur : en angle 97">
            <a:extLst>
              <a:ext uri="{FF2B5EF4-FFF2-40B4-BE49-F238E27FC236}">
                <a16:creationId xmlns:a16="http://schemas.microsoft.com/office/drawing/2014/main" id="{C89A0D04-3493-3F94-5CEF-CA5DE975084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4256554" y="2835786"/>
            <a:ext cx="12700" cy="341599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 : en angle 97">
            <a:extLst>
              <a:ext uri="{FF2B5EF4-FFF2-40B4-BE49-F238E27FC236}">
                <a16:creationId xmlns:a16="http://schemas.microsoft.com/office/drawing/2014/main" id="{82C5AF85-B39C-D73F-5A8C-868CFA93D44A}"/>
              </a:ext>
            </a:extLst>
          </p:cNvPr>
          <p:cNvCxnSpPr>
            <a:cxnSpLocks/>
            <a:stCxn id="117" idx="2"/>
            <a:endCxn id="11" idx="0"/>
          </p:cNvCxnSpPr>
          <p:nvPr/>
        </p:nvCxnSpPr>
        <p:spPr>
          <a:xfrm>
            <a:off x="3760996" y="4922519"/>
            <a:ext cx="2" cy="24951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3" name="Image 282">
            <a:extLst>
              <a:ext uri="{FF2B5EF4-FFF2-40B4-BE49-F238E27FC236}">
                <a16:creationId xmlns:a16="http://schemas.microsoft.com/office/drawing/2014/main" id="{08814F9E-50BE-0635-BF03-7D7E6B225C9D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083" y="6438967"/>
            <a:ext cx="2130628" cy="2130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Image 283">
            <a:extLst>
              <a:ext uri="{FF2B5EF4-FFF2-40B4-BE49-F238E27FC236}">
                <a16:creationId xmlns:a16="http://schemas.microsoft.com/office/drawing/2014/main" id="{5B5F9645-D9FA-651C-390F-15C1E32D752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0735" y="8906661"/>
            <a:ext cx="1558607" cy="15585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6" name="Groupe 1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0" y="0"/>
            <a:chExt cx="7229" cy="7654"/>
          </a:xfrm>
        </p:grpSpPr>
      </p:grp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18297" y="0"/>
            <a:chExt cx="7229" cy="7654"/>
          </a:xfrm>
        </p:grpSpPr>
      </p:grpSp>
      <p:grpSp>
        <p:nvGrpSpPr>
          <p:cNvPr id="2049" name="Group 1"/>
          <p:cNvGrpSpPr>
            <a:grpSpLocks noChangeAspect="1"/>
          </p:cNvGrpSpPr>
          <p:nvPr/>
        </p:nvGrpSpPr>
        <p:grpSpPr bwMode="auto">
          <a:xfrm>
            <a:off x="0" y="0"/>
            <a:ext cx="479425" cy="504825"/>
            <a:chOff x="9153" y="0"/>
            <a:chExt cx="7229" cy="7654"/>
          </a:xfrm>
        </p:grpSpPr>
      </p:grpSp>
      <p:pic>
        <p:nvPicPr>
          <p:cNvPr id="38" name="Graphique 37" descr="Couronne avec un remplissage uni">
            <a:extLst>
              <a:ext uri="{FF2B5EF4-FFF2-40B4-BE49-F238E27FC236}">
                <a16:creationId xmlns:a16="http://schemas.microsoft.com/office/drawing/2014/main" id="{ADF59C5C-A511-D993-4575-6B0F9AE66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260" y="6121536"/>
            <a:ext cx="914400" cy="9144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CDBABFD-CE18-5EE2-E3A8-88238F36A8D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4" r="32145" b="13393"/>
          <a:stretch>
            <a:fillRect/>
          </a:stretch>
        </p:blipFill>
        <p:spPr bwMode="auto">
          <a:xfrm>
            <a:off x="203228" y="6093130"/>
            <a:ext cx="5173891" cy="25869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E59A6C-C1F3-2506-2BEF-F4AEACDD1743}"/>
              </a:ext>
            </a:extLst>
          </p:cNvPr>
          <p:cNvSpPr txBox="1"/>
          <p:nvPr/>
        </p:nvSpPr>
        <p:spPr>
          <a:xfrm>
            <a:off x="2651311" y="3340042"/>
            <a:ext cx="1691666" cy="291259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WatercolorSponge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63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17" noProof="0" dirty="0"/>
              <a:t>Spy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AFED1F8-63E7-7016-0CCD-B1068546F37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7" r="36347" b="24920"/>
          <a:stretch>
            <a:fillRect/>
          </a:stretch>
        </p:blipFill>
        <p:spPr bwMode="auto">
          <a:xfrm>
            <a:off x="2319008" y="8962638"/>
            <a:ext cx="4366122" cy="13400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07152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75</Words>
  <Application>Microsoft Office PowerPoint</Application>
  <PresentationFormat>Personnalisé</PresentationFormat>
  <Paragraphs>21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20</cp:revision>
  <cp:lastPrinted>2026-04-26T14:16:53Z</cp:lastPrinted>
  <dcterms:created xsi:type="dcterms:W3CDTF">2026-04-25T15:42:38Z</dcterms:created>
  <dcterms:modified xsi:type="dcterms:W3CDTF">2026-10-03T15:21:56Z</dcterms:modified>
</cp:coreProperties>
</file>